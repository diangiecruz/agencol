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4" r:id="rId3"/>
  </p:sldMasterIdLst>
  <p:notesMasterIdLst>
    <p:notesMasterId r:id="rId19"/>
  </p:notesMasterIdLst>
  <p:sldIdLst>
    <p:sldId id="256" r:id="rId4"/>
    <p:sldId id="257" r:id="rId5"/>
    <p:sldId id="258" r:id="rId6"/>
    <p:sldId id="259" r:id="rId7"/>
    <p:sldId id="266" r:id="rId8"/>
    <p:sldId id="1599" r:id="rId9"/>
    <p:sldId id="260" r:id="rId10"/>
    <p:sldId id="261" r:id="rId11"/>
    <p:sldId id="262" r:id="rId12"/>
    <p:sldId id="263" r:id="rId13"/>
    <p:sldId id="1545" r:id="rId14"/>
    <p:sldId id="264" r:id="rId15"/>
    <p:sldId id="1600" r:id="rId16"/>
    <p:sldId id="1601" r:id="rId17"/>
    <p:sldId id="265"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F57A99-6073-40FD-8EB4-1E310CD2AFC6}" v="4" dt="2026-04-30T17:02:06.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Angélica Cruz Ortega" userId="b65eefa029f56b0b" providerId="LiveId" clId="{770039B8-D00B-4691-AC64-6975C7009C28}"/>
    <pc:docChg chg="custSel addSld delSld modSld">
      <pc:chgData name="Diana Angélica Cruz Ortega" userId="b65eefa029f56b0b" providerId="LiveId" clId="{770039B8-D00B-4691-AC64-6975C7009C28}" dt="2026-04-30T17:02:06.155" v="39"/>
      <pc:docMkLst>
        <pc:docMk/>
      </pc:docMkLst>
      <pc:sldChg chg="addSp delSp modSp mod">
        <pc:chgData name="Diana Angélica Cruz Ortega" userId="b65eefa029f56b0b" providerId="LiveId" clId="{770039B8-D00B-4691-AC64-6975C7009C28}" dt="2026-04-30T17:02:06.155" v="39"/>
        <pc:sldMkLst>
          <pc:docMk/>
          <pc:sldMk cId="545869533" sldId="1545"/>
        </pc:sldMkLst>
        <pc:picChg chg="add mod">
          <ac:chgData name="Diana Angélica Cruz Ortega" userId="b65eefa029f56b0b" providerId="LiveId" clId="{770039B8-D00B-4691-AC64-6975C7009C28}" dt="2026-04-30T17:02:06.155" v="39"/>
          <ac:picMkLst>
            <pc:docMk/>
            <pc:sldMk cId="545869533" sldId="1545"/>
            <ac:picMk id="4" creationId="{DDE29AF9-D74B-A74A-EF0A-7F9A73243614}"/>
          </ac:picMkLst>
        </pc:picChg>
        <pc:picChg chg="del">
          <ac:chgData name="Diana Angélica Cruz Ortega" userId="b65eefa029f56b0b" providerId="LiveId" clId="{770039B8-D00B-4691-AC64-6975C7009C28}" dt="2026-04-30T17:02:02.205" v="38" actId="478"/>
          <ac:picMkLst>
            <pc:docMk/>
            <pc:sldMk cId="545869533" sldId="1545"/>
            <ac:picMk id="8" creationId="{68B4925D-7CA2-31B7-B7F8-29FDDDD45126}"/>
          </ac:picMkLst>
        </pc:picChg>
      </pc:sldChg>
      <pc:sldChg chg="add del setBg">
        <pc:chgData name="Diana Angélica Cruz Ortega" userId="b65eefa029f56b0b" providerId="LiveId" clId="{770039B8-D00B-4691-AC64-6975C7009C28}" dt="2026-04-30T16:59:29.679" v="1"/>
        <pc:sldMkLst>
          <pc:docMk/>
          <pc:sldMk cId="1658745349" sldId="1601"/>
        </pc:sldMkLst>
      </pc:sldChg>
      <pc:sldChg chg="addSp delSp modSp add mod">
        <pc:chgData name="Diana Angélica Cruz Ortega" userId="b65eefa029f56b0b" providerId="LiveId" clId="{770039B8-D00B-4691-AC64-6975C7009C28}" dt="2026-04-30T17:00:17.801" v="37" actId="1076"/>
        <pc:sldMkLst>
          <pc:docMk/>
          <pc:sldMk cId="2898381308" sldId="1601"/>
        </pc:sldMkLst>
        <pc:spChg chg="mod">
          <ac:chgData name="Diana Angélica Cruz Ortega" userId="b65eefa029f56b0b" providerId="LiveId" clId="{770039B8-D00B-4691-AC64-6975C7009C28}" dt="2026-04-30T16:59:41.391" v="4" actId="6549"/>
          <ac:spMkLst>
            <pc:docMk/>
            <pc:sldMk cId="2898381308" sldId="1601"/>
            <ac:spMk id="2" creationId="{8292FEDF-37C7-21E5-D7ED-3DE074463C58}"/>
          </ac:spMkLst>
        </pc:spChg>
        <pc:spChg chg="mod">
          <ac:chgData name="Diana Angélica Cruz Ortega" userId="b65eefa029f56b0b" providerId="LiveId" clId="{770039B8-D00B-4691-AC64-6975C7009C28}" dt="2026-04-30T16:59:38.216" v="3" actId="1076"/>
          <ac:spMkLst>
            <pc:docMk/>
            <pc:sldMk cId="2898381308" sldId="1601"/>
            <ac:spMk id="3" creationId="{D87438D2-97C0-590E-9E2C-E007C6A17A4F}"/>
          </ac:spMkLst>
        </pc:spChg>
        <pc:spChg chg="mod">
          <ac:chgData name="Diana Angélica Cruz Ortega" userId="b65eefa029f56b0b" providerId="LiveId" clId="{770039B8-D00B-4691-AC64-6975C7009C28}" dt="2026-04-30T16:59:51.646" v="31" actId="20577"/>
          <ac:spMkLst>
            <pc:docMk/>
            <pc:sldMk cId="2898381308" sldId="1601"/>
            <ac:spMk id="5" creationId="{DDE2F2CE-C0FD-3B5F-05B2-40A910AEC402}"/>
          </ac:spMkLst>
        </pc:spChg>
        <pc:picChg chg="add mod">
          <ac:chgData name="Diana Angélica Cruz Ortega" userId="b65eefa029f56b0b" providerId="LiveId" clId="{770039B8-D00B-4691-AC64-6975C7009C28}" dt="2026-04-30T17:00:17.801" v="37" actId="1076"/>
          <ac:picMkLst>
            <pc:docMk/>
            <pc:sldMk cId="2898381308" sldId="1601"/>
            <ac:picMk id="7" creationId="{F208A7D4-0379-B447-E97E-3F0653C815A5}"/>
          </ac:picMkLst>
        </pc:picChg>
        <pc:picChg chg="del">
          <ac:chgData name="Diana Angélica Cruz Ortega" userId="b65eefa029f56b0b" providerId="LiveId" clId="{770039B8-D00B-4691-AC64-6975C7009C28}" dt="2026-04-30T16:59:54.865" v="32" actId="478"/>
          <ac:picMkLst>
            <pc:docMk/>
            <pc:sldMk cId="2898381308" sldId="1601"/>
            <ac:picMk id="8" creationId="{233954B2-7B56-B205-3741-8FED52849B4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31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PORTADA (2 min)
"Llegamos a la sesión final. En las sesiones anteriores usaron la IA para hacer cosas, para analizar datos y tomar mejores decisiones. Hoy el foco es el más estratégico de los tres: ¿cómo apoya la IA las decisiones que definen el rumbo de la organización?"
"Y al final de esta sesión, cada uno se lleva algo concreto — no para DIMAR en abstracto, sino para lo que cada quien puede hacer desde su área en los próximos 90 días."
"Dos bloques como siempre. Arrancamos."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MAPA (2 min)
Recuento rápido del hilo del taller:
"S2: hicieron cosas con Copilot. La distinción fue: quien actúa sobre el resultado es responsable."
"S3: analizaron datos. La distinción: los datos que le das a la IA son responsabilidad de quien los entrega."
"Hoy: decisiones estratégicas. La distinción que vamos a descubrir juntos."
Aranquemos.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DISTINCIÓN + BLOQUES (4 min)
Leer la distinción. Luego:
"Copilot puede generar escenarios, comparar opciones, anticipar riesgos, construir argumentos. Eso es muy valioso. Pero cuando se toma una decisión estratégica — aprobar un proyecto, asignar recursos, adoptar una tecnología — alguien con nombre y cargo asume la responsabilidad de que esa decisión sea buena."
"La IA no asume responsabilidad. Por eso el gobierno existe."
Explicar estructura del día. Arrancar.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INSTRUCCIONES (2 min)
Asignar grupos. Recordar tres cosas:
1. "Si no tienen caso real, el material les da un prompt para generarlo."
2. "Después del primer resultado, iteren con las técnicas del instructivo — el segundo resultado siempre es mejor."
3. "Prepárense para presentar en 3 minutos exactos. La estructura está en el material. El tiempo es estricto."
CRONÓMETRO. CIRCULAR.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PLENARIA (15 min)
TIEMPO ESTRICTO. Cronómetro visible.
Foco especial en la tercera pregunta: la condición de uso. No dejar que el grupo la esquive con "sí, lo usaríamos". Preguntar siempre: "¿Con qué validación adicional? ¿Quién validaría?"
Si alguien dice "Copilot lo hizo mejor que nosotros": "¿Mejor en qué sentido? ¿Más rápido? ¿Más completo? ¿O tomando mejores decisiones? ¿Son lo mismo?"
TRANSICIÓN AL RECESO:
"Hoy usaron la IA para apoyar decisiones que en sus organizaciones realmente importan. Después del receso: ¿qué estructura necesita su organización para que ese uso sea responsable? Y luego el giro personal."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la pausa sembrar las dos preguntas:
1. "¿Su organización tiene hoy la estructura para aprobar, supervisar y suspender un sistema de IA? Piénsenlo durante el receso."
2. "Y la segunda pregunta es personal: ¿qué de lo que aprendieron en estas cuatro sesiones van a implementar en su área en los próximos 90 días?"
Circular informalmente.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GOBIERNO ESTRATÉGICO (12 min)
"Volvemos. Una sola pregunta: ¿su organización está lista para gobernar la IA — no para usarla, para gobernarla?"
Leer la pregunta del título. Pausa.
"Acaban de usar la IA para apoyar decisiones estratégicas. Esas son decisiones reales en organizaciones reales. ¿Quién las aprueba? ¿Quién las supervisa? ¿Quién puede pararlas?"
8 minutos de trabajo en grupo. Luego plenaria breve de 4 minutos.
Pandita frecuente:
"El área de TI se encarga de eso."
→ "¿El área de TI tiene el mandato de decidir qué decisiones institucionales pueden apoyarse en IA? ¿O eso requiere una decisión de la dirección?"
Conectar con COBIT en la siguiente diapositiva.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COBIT EDM03 (5 min)
No como tema nuevo — como nombre de lo que acaban de discutir:
"Lo que acaban de describir tiene un nombre en gobierno de TI: EDM03 — Optimización del Riesgo."
"La idea es simple: si van a usar IA en decisiones institucionales, alguien tiene que aprobar, alguien tiene que supervisar y alguien tiene que poder parar. Si alguno de esos tres roles no existe formalmente, no hay gobierno — hay esperanza de que funcione."
Señalar el esquema de los tres roles:
"¿En su organización, estos tres roles existen? ¿Con nombre y cargo — o como buena intención?"
"La Referencia Didáctica COBIT tiene EDM03 con ejemplos reales."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GIRO + PLAN 90 DÍAS (25 min)
"Ahora viene el momento más importante del taller. No para DIMAR — para ustedes."
"Quiero que olviden por un momento a la organización completa y piensen en su área. ¿Qué de lo que aprendieron en estas cuatro sesiones pueden implementar en los próximos 90 días — desde su posición, con la autoridad que tienen?"
"Tienen 20 minutos. Usen a IAna con el prompt de la pantalla. Ella les ayuda a estructurar acciones realistas — no ideales, realizables."
ACTIVIDAD INDIVIDUAL — circular sin interrumpir.
Al cierre (5 min): invitar a 3-4 personas a compartir voluntariamente una sola acción. No presionar.
"Guarden el enlace de IAna — se la llevan. Pueden consultarle sobre sus planes, sobre COBIT, sobre cualquier decisión tecnológica en su área."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DISTINCIÓN FINAL Y CIERRE (8 min)
Leer con calma. Pausa entre las dos partes de la distinción.
"Durante cuatro sesiones usaron IA para hacer cosas, para ver mejor y para apoyar decisiones estratégicas. Y en cada sesión apareció la misma pregunta de fondo: ¿quién decide, quién responde, quién puede detenerlo si algo falla?"
"Esa pregunta no requiere un título en sistemas. Requiere exactamente lo que han estado practicando: hacer las preguntas correctas antes de aprobar, tener la estructura para supervisar mientras opera, y la voluntad de actuar cuando los indicadores lo piden."
Pausa larga.
"Eso es gobierno de TI. Y empieza — o no empieza — con decisiones que están al alcance de cada uno de ustedes."
Dejar la pregunta de la pantalla. No pedir respuesta. Dejar el silencio.
CIERRE:
"Guarden el enlace de IAna. Está entrenada en todo lo que trabajamos aquí. Úsenla. Y en 90 días, ojala puedan decir que algo cambió — aunque sea una pregunta que hicieron que antes no habrían hecho."
Aplauso si llega solo. No forzarlo.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21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7041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489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8FEF9C-3DBF-CCEC-F5A9-6485D2C7C840}"/>
              </a:ext>
            </a:extLst>
          </p:cNvPr>
          <p:cNvSpPr>
            <a:spLocks noGrp="1"/>
          </p:cNvSpPr>
          <p:nvPr>
            <p:ph type="ctrTitle"/>
          </p:nvPr>
        </p:nvSpPr>
        <p:spPr>
          <a:xfrm>
            <a:off x="1143000" y="842169"/>
            <a:ext cx="6858000" cy="1790700"/>
          </a:xfrm>
          <a:prstGeom prst="rect">
            <a:avLst/>
          </a:prstGeom>
        </p:spPr>
        <p:txBody>
          <a:bodyPr anchor="b"/>
          <a:lstStyle>
            <a:lvl1pPr algn="ctr">
              <a:defRPr sz="3000">
                <a:solidFill>
                  <a:schemeClr val="bg1"/>
                </a:solidFill>
                <a:latin typeface="Century Gothic" panose="020B0502020202020204" pitchFamily="34" charset="0"/>
              </a:defRPr>
            </a:lvl1pPr>
          </a:lstStyle>
          <a:p>
            <a:r>
              <a:rPr lang="es-ES" dirty="0"/>
              <a:t>Haga clic para modificar el estilo de título del patrón</a:t>
            </a:r>
            <a:endParaRPr lang="es-419" dirty="0"/>
          </a:p>
        </p:txBody>
      </p:sp>
      <p:sp>
        <p:nvSpPr>
          <p:cNvPr id="3" name="Subtítulo 2">
            <a:extLst>
              <a:ext uri="{FF2B5EF4-FFF2-40B4-BE49-F238E27FC236}">
                <a16:creationId xmlns:a16="http://schemas.microsoft.com/office/drawing/2014/main" id="{97270341-2E31-259F-21F0-5C6F3597925B}"/>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1200">
                <a:solidFill>
                  <a:schemeClr val="bg1"/>
                </a:solidFill>
                <a:latin typeface="Century Gothic" panose="020B0502020202020204" pitchFamily="34" charset="0"/>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s-ES"/>
              <a:t>Haga clic para modificar el estilo de subtítulo del patrón</a:t>
            </a:r>
            <a:endParaRPr lang="es-419"/>
          </a:p>
        </p:txBody>
      </p:sp>
    </p:spTree>
    <p:extLst>
      <p:ext uri="{BB962C8B-B14F-4D97-AF65-F5344CB8AC3E}">
        <p14:creationId xmlns:p14="http://schemas.microsoft.com/office/powerpoint/2010/main" val="3558233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813F7D-D4C3-5F97-AD8F-B03175CCCEAC}"/>
              </a:ext>
            </a:extLst>
          </p:cNvPr>
          <p:cNvSpPr>
            <a:spLocks noGrp="1"/>
          </p:cNvSpPr>
          <p:nvPr>
            <p:ph type="title"/>
          </p:nvPr>
        </p:nvSpPr>
        <p:spPr>
          <a:xfrm>
            <a:off x="628650" y="273844"/>
            <a:ext cx="7886700" cy="994569"/>
          </a:xfrm>
          <a:prstGeom prst="rect">
            <a:avLst/>
          </a:prstGeom>
        </p:spPr>
        <p:txBody>
          <a:bodyPr/>
          <a:lstStyle>
            <a:lvl1pPr>
              <a:defRPr>
                <a:solidFill>
                  <a:schemeClr val="bg1"/>
                </a:solidFill>
                <a:latin typeface="Century Gothic" panose="020B0502020202020204" pitchFamily="34" charset="0"/>
              </a:defRPr>
            </a:lvl1pPr>
          </a:lstStyle>
          <a:p>
            <a:r>
              <a:rPr lang="es-ES" dirty="0"/>
              <a:t>Haga clic para modificar el estilo de título del patrón</a:t>
            </a:r>
            <a:endParaRPr lang="es-419" dirty="0"/>
          </a:p>
        </p:txBody>
      </p:sp>
      <p:sp>
        <p:nvSpPr>
          <p:cNvPr id="3" name="Marcador de contenido 2">
            <a:extLst>
              <a:ext uri="{FF2B5EF4-FFF2-40B4-BE49-F238E27FC236}">
                <a16:creationId xmlns:a16="http://schemas.microsoft.com/office/drawing/2014/main" id="{115D00B4-C6E2-57C8-AFEC-199C1F2864B3}"/>
              </a:ext>
            </a:extLst>
          </p:cNvPr>
          <p:cNvSpPr>
            <a:spLocks noGrp="1"/>
          </p:cNvSpPr>
          <p:nvPr>
            <p:ph idx="1"/>
          </p:nvPr>
        </p:nvSpPr>
        <p:spPr>
          <a:xfrm>
            <a:off x="628650" y="1369219"/>
            <a:ext cx="7886700" cy="3263900"/>
          </a:xfrm>
          <a:prstGeom prst="rect">
            <a:avLst/>
          </a:prstGeom>
        </p:spPr>
        <p:txBody>
          <a:bodyPr/>
          <a:lstStyle>
            <a:lvl1pPr>
              <a:defRPr>
                <a:solidFill>
                  <a:schemeClr val="bg1"/>
                </a:solidFill>
                <a:latin typeface="Century Gothic" panose="020B0502020202020204" pitchFamily="34" charset="0"/>
              </a:defRPr>
            </a:lvl1pPr>
            <a:lvl2pPr>
              <a:defRPr>
                <a:solidFill>
                  <a:schemeClr val="bg1"/>
                </a:solidFill>
                <a:latin typeface="Century Gothic" panose="020B0502020202020204" pitchFamily="34" charset="0"/>
              </a:defRPr>
            </a:lvl2pPr>
            <a:lvl3pPr>
              <a:defRPr>
                <a:solidFill>
                  <a:schemeClr val="bg1"/>
                </a:solidFill>
                <a:latin typeface="Century Gothic" panose="020B0502020202020204" pitchFamily="34" charset="0"/>
              </a:defRPr>
            </a:lvl3pPr>
            <a:lvl4pPr>
              <a:defRPr>
                <a:solidFill>
                  <a:schemeClr val="bg1"/>
                </a:solidFill>
                <a:latin typeface="Century Gothic" panose="020B0502020202020204" pitchFamily="34" charset="0"/>
              </a:defRPr>
            </a:lvl4pPr>
            <a:lvl5pPr>
              <a:defRPr>
                <a:solidFill>
                  <a:schemeClr val="bg1"/>
                </a:solidFill>
                <a:latin typeface="Century Gothic" panose="020B050202020202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Tree>
    <p:extLst>
      <p:ext uri="{BB962C8B-B14F-4D97-AF65-F5344CB8AC3E}">
        <p14:creationId xmlns:p14="http://schemas.microsoft.com/office/powerpoint/2010/main" val="2803884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6882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46508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05B"/>
        </a:solidFill>
        <a:effectLst/>
      </p:bgPr>
    </p:bg>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48334AA4-B87E-E8E4-693F-549DEC58DD54}"/>
              </a:ext>
            </a:extLst>
          </p:cNvPr>
          <p:cNvPicPr>
            <a:picLocks noChangeAspect="1"/>
          </p:cNvPicPr>
          <p:nvPr userDrawn="1"/>
        </p:nvPicPr>
        <p:blipFill>
          <a:blip r:embed="rId5"/>
          <a:srcRect/>
          <a:stretch>
            <a:fillRect/>
          </a:stretch>
        </p:blipFill>
        <p:spPr>
          <a:xfrm>
            <a:off x="514350" y="4264914"/>
            <a:ext cx="1986403" cy="762282"/>
          </a:xfrm>
          <a:prstGeom prst="rect">
            <a:avLst/>
          </a:prstGeom>
        </p:spPr>
      </p:pic>
      <p:pic>
        <p:nvPicPr>
          <p:cNvPr id="3" name="Imagen 2" descr="Logotipo&#10;&#10;Descripción generada automáticamente">
            <a:extLst>
              <a:ext uri="{FF2B5EF4-FFF2-40B4-BE49-F238E27FC236}">
                <a16:creationId xmlns:a16="http://schemas.microsoft.com/office/drawing/2014/main" id="{9EB47ED2-2307-8A7B-315F-9CB3119FAB4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86555" y="4237150"/>
            <a:ext cx="790046" cy="790046"/>
          </a:xfrm>
          <a:prstGeom prst="rect">
            <a:avLst/>
          </a:prstGeom>
        </p:spPr>
      </p:pic>
    </p:spTree>
    <p:extLst>
      <p:ext uri="{BB962C8B-B14F-4D97-AF65-F5344CB8AC3E}">
        <p14:creationId xmlns:p14="http://schemas.microsoft.com/office/powerpoint/2010/main" val="137101112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s-419"/>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0764"/>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7C3AED">
              <a:alpha val="22000"/>
            </a:srgbClr>
          </a:solidFill>
          <a:ln w="12700">
            <a:solidFill>
              <a:srgbClr val="7C3AED">
                <a:alpha val="0"/>
              </a:srgbClr>
            </a:solidFill>
            <a:prstDash val="solid"/>
          </a:ln>
        </p:spPr>
        <p:txBody>
          <a:bodyPr/>
          <a:lstStyle/>
          <a:p>
            <a:endParaRPr lang="es-CO"/>
          </a:p>
        </p:txBody>
      </p:sp>
      <p:sp>
        <p:nvSpPr>
          <p:cNvPr id="3" name="Text 1"/>
          <p:cNvSpPr/>
          <p:nvPr/>
        </p:nvSpPr>
        <p:spPr>
          <a:xfrm>
            <a:off x="548640" y="594360"/>
            <a:ext cx="8046720" cy="320040"/>
          </a:xfrm>
          <a:prstGeom prst="rect">
            <a:avLst/>
          </a:prstGeom>
          <a:noFill/>
          <a:ln/>
        </p:spPr>
        <p:txBody>
          <a:bodyPr wrap="square" rtlCol="0" anchor="ctr"/>
          <a:lstStyle/>
          <a:p>
            <a:pPr marL="0" indent="0">
              <a:buNone/>
            </a:pPr>
            <a:r>
              <a:rPr lang="en-US" sz="1000" b="1" kern="0" spc="200" dirty="0">
                <a:solidFill>
                  <a:srgbClr val="C4B5FD"/>
                </a:solidFill>
                <a:latin typeface="Calibri" pitchFamily="34" charset="0"/>
                <a:ea typeface="Calibri" pitchFamily="34" charset="-122"/>
                <a:cs typeface="Calibri" pitchFamily="34" charset="-120"/>
              </a:rPr>
              <a:t>SESIÓN 4 DE 4  ·  IA ESTRATÉGICA  ·  SESIÓN DE CIERRE</a:t>
            </a:r>
            <a:endParaRPr lang="en-US" sz="1000" dirty="0"/>
          </a:p>
        </p:txBody>
      </p:sp>
      <p:sp>
        <p:nvSpPr>
          <p:cNvPr id="4" name="Text 2"/>
          <p:cNvSpPr/>
          <p:nvPr/>
        </p:nvSpPr>
        <p:spPr>
          <a:xfrm>
            <a:off x="548640" y="1005840"/>
            <a:ext cx="68580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La IA que transforma</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cómo dirigimos</a:t>
            </a:r>
            <a:endParaRPr lang="en-US" sz="3800" dirty="0"/>
          </a:p>
        </p:txBody>
      </p:sp>
      <p:sp>
        <p:nvSpPr>
          <p:cNvPr id="5" name="Text 3"/>
          <p:cNvSpPr/>
          <p:nvPr/>
        </p:nvSpPr>
        <p:spPr>
          <a:xfrm>
            <a:off x="548640" y="2743200"/>
            <a:ext cx="6858000" cy="777240"/>
          </a:xfrm>
          <a:prstGeom prst="rect">
            <a:avLst/>
          </a:prstGeom>
          <a:noFill/>
          <a:ln/>
        </p:spPr>
        <p:txBody>
          <a:bodyPr wrap="square" rtlCol="0" anchor="ctr"/>
          <a:lstStyle/>
          <a:p>
            <a:pPr marL="0" indent="0">
              <a:lnSpc>
                <a:spcPct val="130000"/>
              </a:lnSpc>
              <a:buNone/>
            </a:pPr>
            <a:r>
              <a:rPr lang="en-US" sz="1500" dirty="0">
                <a:solidFill>
                  <a:srgbClr val="C4B5FD"/>
                </a:solidFill>
                <a:latin typeface="Calibri" pitchFamily="34" charset="0"/>
                <a:ea typeface="Calibri" pitchFamily="34" charset="-122"/>
                <a:cs typeface="Calibri" pitchFamily="34" charset="-120"/>
              </a:rPr>
              <a:t>Decisiones reales, análisis estratégico</a:t>
            </a:r>
            <a:endParaRPr lang="en-US" sz="1500" dirty="0"/>
          </a:p>
          <a:p>
            <a:pPr marL="0" indent="0">
              <a:lnSpc>
                <a:spcPct val="130000"/>
              </a:lnSpc>
              <a:buNone/>
            </a:pPr>
            <a:r>
              <a:rPr lang="en-US" sz="1500" dirty="0">
                <a:solidFill>
                  <a:srgbClr val="C4B5FD"/>
                </a:solidFill>
                <a:latin typeface="Calibri" pitchFamily="34" charset="0"/>
                <a:ea typeface="Calibri" pitchFamily="34" charset="-122"/>
                <a:cs typeface="Calibri" pitchFamily="34" charset="-120"/>
              </a:rPr>
              <a:t>y el gobierno detrás de todo</a:t>
            </a:r>
            <a:endParaRPr lang="en-US" sz="1500" dirty="0"/>
          </a:p>
        </p:txBody>
      </p:sp>
      <p:sp>
        <p:nvSpPr>
          <p:cNvPr id="6" name="Shape 4"/>
          <p:cNvSpPr/>
          <p:nvPr/>
        </p:nvSpPr>
        <p:spPr>
          <a:xfrm>
            <a:off x="54864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7" name="Text 5"/>
          <p:cNvSpPr/>
          <p:nvPr/>
        </p:nvSpPr>
        <p:spPr>
          <a:xfrm>
            <a:off x="54864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Trabajo en grupo · 4 fases</a:t>
            </a:r>
            <a:endParaRPr lang="en-US" sz="1000" dirty="0"/>
          </a:p>
        </p:txBody>
      </p:sp>
      <p:sp>
        <p:nvSpPr>
          <p:cNvPr id="8" name="Shape 6"/>
          <p:cNvSpPr/>
          <p:nvPr/>
        </p:nvSpPr>
        <p:spPr>
          <a:xfrm>
            <a:off x="338328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9" name="Text 7"/>
          <p:cNvSpPr/>
          <p:nvPr/>
        </p:nvSpPr>
        <p:spPr>
          <a:xfrm>
            <a:off x="338328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Escenario propio</a:t>
            </a:r>
            <a:endParaRPr lang="en-US" sz="1000" dirty="0"/>
          </a:p>
        </p:txBody>
      </p:sp>
      <p:sp>
        <p:nvSpPr>
          <p:cNvPr id="10" name="Shape 8"/>
          <p:cNvSpPr/>
          <p:nvPr/>
        </p:nvSpPr>
        <p:spPr>
          <a:xfrm>
            <a:off x="6217920" y="3931920"/>
            <a:ext cx="2560320" cy="347472"/>
          </a:xfrm>
          <a:prstGeom prst="roundRect">
            <a:avLst>
              <a:gd name="adj" fmla="val 52632"/>
            </a:avLst>
          </a:prstGeom>
          <a:solidFill>
            <a:srgbClr val="FFFFFF">
              <a:alpha val="12000"/>
            </a:srgbClr>
          </a:solidFill>
          <a:ln w="12700">
            <a:solidFill>
              <a:srgbClr val="FFFFFF">
                <a:alpha val="40000"/>
              </a:srgbClr>
            </a:solidFill>
            <a:prstDash val="solid"/>
          </a:ln>
        </p:spPr>
        <p:txBody>
          <a:bodyPr/>
          <a:lstStyle/>
          <a:p>
            <a:endParaRPr lang="es-CO"/>
          </a:p>
        </p:txBody>
      </p:sp>
      <p:sp>
        <p:nvSpPr>
          <p:cNvPr id="11" name="Text 9"/>
          <p:cNvSpPr/>
          <p:nvPr/>
        </p:nvSpPr>
        <p:spPr>
          <a:xfrm>
            <a:off x="6217920" y="393192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Sesión de cierre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EL RECORRIDO COMPLETO</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Tres tipos de IA. Hoy cerramos el ciclo.</a:t>
            </a:r>
            <a:endParaRPr lang="en-US" sz="2200" dirty="0"/>
          </a:p>
        </p:txBody>
      </p:sp>
      <p:sp>
        <p:nvSpPr>
          <p:cNvPr id="4" name="Shape 2"/>
          <p:cNvSpPr/>
          <p:nvPr/>
        </p:nvSpPr>
        <p:spPr>
          <a:xfrm>
            <a:off x="365760" y="1234440"/>
            <a:ext cx="2651760" cy="3017520"/>
          </a:xfrm>
          <a:prstGeom prst="rect">
            <a:avLst/>
          </a:prstGeom>
          <a:solidFill>
            <a:srgbClr val="F0FDF4"/>
          </a:solidFill>
          <a:ln w="12700">
            <a:solidFill>
              <a:srgbClr val="86EFAC"/>
            </a:solidFill>
            <a:prstDash val="solid"/>
          </a:ln>
          <a:effectLst>
            <a:outerShdw blurRad="101600" dist="38100" dir="8100000" algn="bl" rotWithShape="0">
              <a:srgbClr val="000000">
                <a:alpha val="10000"/>
              </a:srgbClr>
            </a:outerShdw>
          </a:effectLst>
        </p:spPr>
        <p:txBody>
          <a:bodyPr/>
          <a:lstStyle/>
          <a:p>
            <a:endParaRPr lang="es-CO"/>
          </a:p>
        </p:txBody>
      </p:sp>
      <p:sp>
        <p:nvSpPr>
          <p:cNvPr id="5" name="Text 3"/>
          <p:cNvSpPr/>
          <p:nvPr/>
        </p:nvSpPr>
        <p:spPr>
          <a:xfrm>
            <a:off x="365760" y="1353312"/>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6" name="Text 4"/>
          <p:cNvSpPr/>
          <p:nvPr/>
        </p:nvSpPr>
        <p:spPr>
          <a:xfrm>
            <a:off x="365760" y="1901952"/>
            <a:ext cx="2651760" cy="365760"/>
          </a:xfrm>
          <a:prstGeom prst="rect">
            <a:avLst/>
          </a:prstGeom>
          <a:noFill/>
          <a:ln/>
        </p:spPr>
        <p:txBody>
          <a:bodyPr wrap="square" rtlCol="0" anchor="ctr"/>
          <a:lstStyle/>
          <a:p>
            <a:pPr marL="0" indent="0" algn="ctr">
              <a:buNone/>
            </a:pPr>
            <a:r>
              <a:rPr lang="en-US" sz="1300" b="1" dirty="0">
                <a:solidFill>
                  <a:srgbClr val="14532D"/>
                </a:solidFill>
                <a:latin typeface="Georgia" pitchFamily="34" charset="0"/>
                <a:ea typeface="Georgia" pitchFamily="34" charset="-122"/>
                <a:cs typeface="Georgia" pitchFamily="34" charset="-120"/>
              </a:rPr>
              <a:t>IA Operativa</a:t>
            </a:r>
            <a:endParaRPr lang="en-US" sz="1300" dirty="0"/>
          </a:p>
        </p:txBody>
      </p:sp>
      <p:sp>
        <p:nvSpPr>
          <p:cNvPr id="7" name="Text 5"/>
          <p:cNvSpPr/>
          <p:nvPr/>
        </p:nvSpPr>
        <p:spPr>
          <a:xfrm>
            <a:off x="457200" y="2304288"/>
            <a:ext cx="2468880" cy="1005840"/>
          </a:xfrm>
          <a:prstGeom prst="rect">
            <a:avLst/>
          </a:prstGeom>
          <a:noFill/>
          <a:ln/>
        </p:spPr>
        <p:txBody>
          <a:bodyPr wrap="square" rtlCol="0" anchor="ctr"/>
          <a:lstStyle/>
          <a:p>
            <a:pPr marL="0" indent="0" algn="ctr">
              <a:lnSpc>
                <a:spcPct val="130000"/>
              </a:lnSpc>
              <a:buNone/>
            </a:pPr>
            <a:r>
              <a:rPr lang="en-US" sz="1000" dirty="0">
                <a:solidFill>
                  <a:srgbClr val="6B7280"/>
                </a:solidFill>
                <a:latin typeface="Calibri" pitchFamily="34" charset="0"/>
                <a:ea typeface="Calibri" pitchFamily="34" charset="-122"/>
                <a:cs typeface="Calibri" pitchFamily="34" charset="-120"/>
              </a:rPr>
              <a:t>IA para tareas cotidianas. Quien actúa sobre el resultado es responsable.</a:t>
            </a:r>
            <a:endParaRPr lang="en-US" sz="1000" dirty="0"/>
          </a:p>
        </p:txBody>
      </p:sp>
      <p:sp>
        <p:nvSpPr>
          <p:cNvPr id="8" name="Shape 6"/>
          <p:cNvSpPr/>
          <p:nvPr/>
        </p:nvSpPr>
        <p:spPr>
          <a:xfrm>
            <a:off x="777240" y="3383280"/>
            <a:ext cx="1828800" cy="274320"/>
          </a:xfrm>
          <a:prstGeom prst="roundRect">
            <a:avLst>
              <a:gd name="adj" fmla="val 46667"/>
            </a:avLst>
          </a:prstGeom>
          <a:solidFill>
            <a:srgbClr val="14532D">
              <a:alpha val="80000"/>
            </a:srgbClr>
          </a:solidFill>
          <a:ln w="12700">
            <a:solidFill>
              <a:srgbClr val="14532D">
                <a:alpha val="40000"/>
              </a:srgbClr>
            </a:solidFill>
            <a:prstDash val="solid"/>
          </a:ln>
        </p:spPr>
        <p:txBody>
          <a:bodyPr/>
          <a:lstStyle/>
          <a:p>
            <a:endParaRPr lang="es-CO"/>
          </a:p>
        </p:txBody>
      </p:sp>
      <p:sp>
        <p:nvSpPr>
          <p:cNvPr id="9" name="Text 7"/>
          <p:cNvSpPr/>
          <p:nvPr/>
        </p:nvSpPr>
        <p:spPr>
          <a:xfrm>
            <a:off x="777240" y="3383280"/>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S2</a:t>
            </a:r>
            <a:endParaRPr lang="en-US" sz="900" dirty="0"/>
          </a:p>
        </p:txBody>
      </p:sp>
      <p:sp>
        <p:nvSpPr>
          <p:cNvPr id="10" name="Shape 8"/>
          <p:cNvSpPr/>
          <p:nvPr/>
        </p:nvSpPr>
        <p:spPr>
          <a:xfrm>
            <a:off x="3246120" y="1234440"/>
            <a:ext cx="2651760" cy="3017520"/>
          </a:xfrm>
          <a:prstGeom prst="rect">
            <a:avLst/>
          </a:prstGeom>
          <a:solidFill>
            <a:srgbClr val="ECFEFF"/>
          </a:solidFill>
          <a:ln w="12700">
            <a:solidFill>
              <a:srgbClr val="0E7490"/>
            </a:solidFill>
            <a:prstDash val="solid"/>
          </a:ln>
          <a:effectLst>
            <a:outerShdw blurRad="101600" dist="38100" dir="8100000" algn="bl" rotWithShape="0">
              <a:srgbClr val="000000">
                <a:alpha val="10000"/>
              </a:srgbClr>
            </a:outerShdw>
          </a:effectLst>
        </p:spPr>
        <p:txBody>
          <a:bodyPr/>
          <a:lstStyle/>
          <a:p>
            <a:endParaRPr lang="es-CO"/>
          </a:p>
        </p:txBody>
      </p:sp>
      <p:sp>
        <p:nvSpPr>
          <p:cNvPr id="11" name="Text 9"/>
          <p:cNvSpPr/>
          <p:nvPr/>
        </p:nvSpPr>
        <p:spPr>
          <a:xfrm>
            <a:off x="3246120" y="1353312"/>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2" name="Text 10"/>
          <p:cNvSpPr/>
          <p:nvPr/>
        </p:nvSpPr>
        <p:spPr>
          <a:xfrm>
            <a:off x="3246120" y="1901952"/>
            <a:ext cx="2651760" cy="365760"/>
          </a:xfrm>
          <a:prstGeom prst="rect">
            <a:avLst/>
          </a:prstGeom>
          <a:noFill/>
          <a:ln/>
        </p:spPr>
        <p:txBody>
          <a:bodyPr wrap="square" rtlCol="0" anchor="ctr"/>
          <a:lstStyle/>
          <a:p>
            <a:pPr marL="0" indent="0" algn="ctr">
              <a:buNone/>
            </a:pPr>
            <a:r>
              <a:rPr lang="en-US" sz="1300" b="1" dirty="0">
                <a:solidFill>
                  <a:srgbClr val="0E7490"/>
                </a:solidFill>
                <a:latin typeface="Georgia" pitchFamily="34" charset="0"/>
                <a:ea typeface="Georgia" pitchFamily="34" charset="-122"/>
                <a:cs typeface="Georgia" pitchFamily="34" charset="-120"/>
              </a:rPr>
              <a:t>IA Analítica</a:t>
            </a:r>
            <a:endParaRPr lang="en-US" sz="1300" dirty="0"/>
          </a:p>
        </p:txBody>
      </p:sp>
      <p:sp>
        <p:nvSpPr>
          <p:cNvPr id="13" name="Text 11"/>
          <p:cNvSpPr/>
          <p:nvPr/>
        </p:nvSpPr>
        <p:spPr>
          <a:xfrm>
            <a:off x="3337560" y="2304288"/>
            <a:ext cx="2468880" cy="1005840"/>
          </a:xfrm>
          <a:prstGeom prst="rect">
            <a:avLst/>
          </a:prstGeom>
          <a:noFill/>
          <a:ln/>
        </p:spPr>
        <p:txBody>
          <a:bodyPr wrap="square" rtlCol="0" anchor="ctr"/>
          <a:lstStyle/>
          <a:p>
            <a:pPr marL="0" indent="0" algn="ctr">
              <a:lnSpc>
                <a:spcPct val="130000"/>
              </a:lnSpc>
              <a:buNone/>
            </a:pPr>
            <a:r>
              <a:rPr lang="en-US" sz="1000" dirty="0">
                <a:solidFill>
                  <a:srgbClr val="6B7280"/>
                </a:solidFill>
                <a:latin typeface="Calibri" pitchFamily="34" charset="0"/>
                <a:ea typeface="Calibri" pitchFamily="34" charset="-122"/>
                <a:cs typeface="Calibri" pitchFamily="34" charset="-120"/>
              </a:rPr>
              <a:t>IA para analizar datos. Los datos que entrega son responsabilidad de quien los selecciona.</a:t>
            </a:r>
            <a:endParaRPr lang="en-US" sz="1000" dirty="0"/>
          </a:p>
        </p:txBody>
      </p:sp>
      <p:sp>
        <p:nvSpPr>
          <p:cNvPr id="14" name="Shape 12"/>
          <p:cNvSpPr/>
          <p:nvPr/>
        </p:nvSpPr>
        <p:spPr>
          <a:xfrm>
            <a:off x="3657600" y="3383280"/>
            <a:ext cx="1828800" cy="274320"/>
          </a:xfrm>
          <a:prstGeom prst="roundRect">
            <a:avLst>
              <a:gd name="adj" fmla="val 46667"/>
            </a:avLst>
          </a:prstGeom>
          <a:solidFill>
            <a:srgbClr val="0E7490">
              <a:alpha val="80000"/>
            </a:srgbClr>
          </a:solidFill>
          <a:ln w="12700">
            <a:solidFill>
              <a:srgbClr val="0E7490">
                <a:alpha val="40000"/>
              </a:srgbClr>
            </a:solidFill>
            <a:prstDash val="solid"/>
          </a:ln>
        </p:spPr>
        <p:txBody>
          <a:bodyPr/>
          <a:lstStyle/>
          <a:p>
            <a:endParaRPr lang="es-CO"/>
          </a:p>
        </p:txBody>
      </p:sp>
      <p:sp>
        <p:nvSpPr>
          <p:cNvPr id="15" name="Text 13"/>
          <p:cNvSpPr/>
          <p:nvPr/>
        </p:nvSpPr>
        <p:spPr>
          <a:xfrm>
            <a:off x="3657600" y="3383280"/>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S3</a:t>
            </a:r>
            <a:endParaRPr lang="en-US" sz="900" dirty="0"/>
          </a:p>
        </p:txBody>
      </p:sp>
      <p:sp>
        <p:nvSpPr>
          <p:cNvPr id="16" name="Shape 14"/>
          <p:cNvSpPr/>
          <p:nvPr/>
        </p:nvSpPr>
        <p:spPr>
          <a:xfrm>
            <a:off x="6126480" y="1234440"/>
            <a:ext cx="2651760" cy="3017520"/>
          </a:xfrm>
          <a:prstGeom prst="rect">
            <a:avLst/>
          </a:prstGeom>
          <a:solidFill>
            <a:srgbClr val="F5F3FF"/>
          </a:solidFill>
          <a:ln w="12700">
            <a:solidFill>
              <a:srgbClr val="7C3AED"/>
            </a:solidFill>
            <a:prstDash val="solid"/>
          </a:ln>
          <a:effectLst>
            <a:outerShdw blurRad="101600" dist="38100" dir="8100000" algn="bl" rotWithShape="0">
              <a:srgbClr val="000000">
                <a:alpha val="10000"/>
              </a:srgbClr>
            </a:outerShdw>
          </a:effectLst>
        </p:spPr>
        <p:txBody>
          <a:bodyPr/>
          <a:lstStyle/>
          <a:p>
            <a:endParaRPr lang="es-CO"/>
          </a:p>
        </p:txBody>
      </p:sp>
      <p:sp>
        <p:nvSpPr>
          <p:cNvPr id="17" name="Text 15"/>
          <p:cNvSpPr/>
          <p:nvPr/>
        </p:nvSpPr>
        <p:spPr>
          <a:xfrm>
            <a:off x="6126480" y="1353312"/>
            <a:ext cx="2651760" cy="502920"/>
          </a:xfrm>
          <a:prstGeom prst="rect">
            <a:avLst/>
          </a:prstGeom>
          <a:noFill/>
          <a:ln/>
        </p:spPr>
        <p:txBody>
          <a:bodyPr wrap="square"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8" name="Text 16"/>
          <p:cNvSpPr/>
          <p:nvPr/>
        </p:nvSpPr>
        <p:spPr>
          <a:xfrm>
            <a:off x="6126480" y="1901952"/>
            <a:ext cx="2651760" cy="365760"/>
          </a:xfrm>
          <a:prstGeom prst="rect">
            <a:avLst/>
          </a:prstGeom>
          <a:noFill/>
          <a:ln/>
        </p:spPr>
        <p:txBody>
          <a:bodyPr wrap="square" rtlCol="0" anchor="ctr"/>
          <a:lstStyle/>
          <a:p>
            <a:pPr marL="0" indent="0" algn="ctr">
              <a:buNone/>
            </a:pPr>
            <a:r>
              <a:rPr lang="en-US" sz="1300" b="1" dirty="0">
                <a:solidFill>
                  <a:srgbClr val="7C3AED"/>
                </a:solidFill>
                <a:latin typeface="Georgia" pitchFamily="34" charset="0"/>
                <a:ea typeface="Georgia" pitchFamily="34" charset="-122"/>
                <a:cs typeface="Georgia" pitchFamily="34" charset="-120"/>
              </a:rPr>
              <a:t>IA Estratégica</a:t>
            </a:r>
            <a:endParaRPr lang="en-US" sz="1300" dirty="0"/>
          </a:p>
        </p:txBody>
      </p:sp>
      <p:sp>
        <p:nvSpPr>
          <p:cNvPr id="19" name="Text 17"/>
          <p:cNvSpPr/>
          <p:nvPr/>
        </p:nvSpPr>
        <p:spPr>
          <a:xfrm>
            <a:off x="6217920" y="2304288"/>
            <a:ext cx="2468880" cy="1005840"/>
          </a:xfrm>
          <a:prstGeom prst="rect">
            <a:avLst/>
          </a:prstGeom>
          <a:noFill/>
          <a:ln/>
        </p:spPr>
        <p:txBody>
          <a:bodyPr wrap="square" rtlCol="0" anchor="ctr"/>
          <a:lstStyle/>
          <a:p>
            <a:pPr marL="0" indent="0" algn="ctr">
              <a:lnSpc>
                <a:spcPct val="130000"/>
              </a:lnSpc>
              <a:buNone/>
            </a:pPr>
            <a:r>
              <a:rPr lang="en-US" sz="1000" dirty="0">
                <a:solidFill>
                  <a:srgbClr val="6B7280"/>
                </a:solidFill>
                <a:latin typeface="Calibri" pitchFamily="34" charset="0"/>
                <a:ea typeface="Calibri" pitchFamily="34" charset="-122"/>
                <a:cs typeface="Calibri" pitchFamily="34" charset="-120"/>
              </a:rPr>
              <a:t>IA para apoyar decisiones estratégicas. La responsabilidad institucional sigue siendo de quien decide.</a:t>
            </a:r>
            <a:endParaRPr lang="en-US" sz="1000" dirty="0"/>
          </a:p>
        </p:txBody>
      </p:sp>
      <p:sp>
        <p:nvSpPr>
          <p:cNvPr id="20" name="Shape 18"/>
          <p:cNvSpPr/>
          <p:nvPr/>
        </p:nvSpPr>
        <p:spPr>
          <a:xfrm>
            <a:off x="6537960" y="3383280"/>
            <a:ext cx="1828800" cy="274320"/>
          </a:xfrm>
          <a:prstGeom prst="roundRect">
            <a:avLst>
              <a:gd name="adj" fmla="val 46667"/>
            </a:avLst>
          </a:prstGeom>
          <a:solidFill>
            <a:srgbClr val="7C3AED">
              <a:alpha val="85000"/>
            </a:srgbClr>
          </a:solidFill>
          <a:ln w="12700">
            <a:solidFill>
              <a:srgbClr val="7C3AED">
                <a:alpha val="40000"/>
              </a:srgbClr>
            </a:solidFill>
            <a:prstDash val="solid"/>
          </a:ln>
        </p:spPr>
        <p:txBody>
          <a:bodyPr/>
          <a:lstStyle/>
          <a:p>
            <a:endParaRPr lang="es-CO"/>
          </a:p>
        </p:txBody>
      </p:sp>
      <p:sp>
        <p:nvSpPr>
          <p:cNvPr id="21" name="Text 19"/>
          <p:cNvSpPr/>
          <p:nvPr/>
        </p:nvSpPr>
        <p:spPr>
          <a:xfrm>
            <a:off x="6537960" y="3383280"/>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S4 — Hoy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557"/>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alpha val="0"/>
              </a:srgbClr>
            </a:solidFill>
            <a:prstDash val="solid"/>
          </a:ln>
        </p:spPr>
        <p:txBody>
          <a:bodyPr/>
          <a:lstStyle/>
          <a:p>
            <a:endParaRPr lang="es-CO"/>
          </a:p>
        </p:txBody>
      </p:sp>
      <p:sp>
        <p:nvSpPr>
          <p:cNvPr id="3" name="Text 1"/>
          <p:cNvSpPr/>
          <p:nvPr/>
        </p:nvSpPr>
        <p:spPr>
          <a:xfrm>
            <a:off x="365760" y="365760"/>
            <a:ext cx="8412480" cy="320040"/>
          </a:xfrm>
          <a:prstGeom prst="rect">
            <a:avLst/>
          </a:prstGeom>
          <a:noFill/>
          <a:ln/>
        </p:spPr>
        <p:txBody>
          <a:bodyPr wrap="square" rtlCol="0" anchor="ctr"/>
          <a:lstStyle/>
          <a:p>
            <a:pPr marL="0" indent="0">
              <a:buNone/>
            </a:pPr>
            <a:r>
              <a:rPr lang="en-US" sz="900" b="1" kern="0" spc="200" dirty="0">
                <a:solidFill>
                  <a:srgbClr val="C4B5FD"/>
                </a:solidFill>
                <a:latin typeface="Calibri" pitchFamily="34" charset="0"/>
                <a:ea typeface="Calibri" pitchFamily="34" charset="-122"/>
                <a:cs typeface="Calibri" pitchFamily="34" charset="-120"/>
              </a:rPr>
              <a:t>LA DISTINCIÓN CLAVE</a:t>
            </a:r>
            <a:endParaRPr lang="en-US" sz="900" dirty="0"/>
          </a:p>
        </p:txBody>
      </p:sp>
      <p:sp>
        <p:nvSpPr>
          <p:cNvPr id="4" name="Text 2"/>
          <p:cNvSpPr/>
          <p:nvPr/>
        </p:nvSpPr>
        <p:spPr>
          <a:xfrm>
            <a:off x="365760" y="731520"/>
            <a:ext cx="8412480" cy="1051560"/>
          </a:xfrm>
          <a:prstGeom prst="rect">
            <a:avLst/>
          </a:prstGeom>
          <a:noFill/>
          <a:ln/>
        </p:spPr>
        <p:txBody>
          <a:bodyPr wrap="square" rtlCol="0" anchor="ctr"/>
          <a:lstStyle/>
          <a:p>
            <a:pPr marL="0" indent="0">
              <a:lnSpc>
                <a:spcPct val="120000"/>
              </a:lnSpc>
              <a:buNone/>
            </a:pPr>
            <a:r>
              <a:rPr lang="en-US" sz="2800" b="1" dirty="0">
                <a:solidFill>
                  <a:srgbClr val="FFFFFF"/>
                </a:solidFill>
                <a:latin typeface="Georgia" pitchFamily="34" charset="0"/>
                <a:ea typeface="Georgia" pitchFamily="34" charset="-122"/>
                <a:cs typeface="Georgia" pitchFamily="34" charset="-120"/>
              </a:rPr>
              <a:t>La IA apoya el análisis estratégico.</a:t>
            </a:r>
            <a:endParaRPr lang="en-US" sz="2800" dirty="0"/>
          </a:p>
          <a:p>
            <a:pPr marL="0" indent="0">
              <a:lnSpc>
                <a:spcPct val="120000"/>
              </a:lnSpc>
              <a:buNone/>
            </a:pPr>
            <a:endParaRPr lang="en-US" sz="2800" dirty="0"/>
          </a:p>
        </p:txBody>
      </p:sp>
      <p:sp>
        <p:nvSpPr>
          <p:cNvPr id="5" name="Text 3"/>
          <p:cNvSpPr/>
          <p:nvPr/>
        </p:nvSpPr>
        <p:spPr>
          <a:xfrm>
            <a:off x="365760" y="1828800"/>
            <a:ext cx="8412480" cy="438912"/>
          </a:xfrm>
          <a:prstGeom prst="rect">
            <a:avLst/>
          </a:prstGeom>
          <a:noFill/>
          <a:ln/>
        </p:spPr>
        <p:txBody>
          <a:bodyPr wrap="square" rtlCol="0" anchor="ctr"/>
          <a:lstStyle/>
          <a:p>
            <a:pPr marL="0" indent="0">
              <a:buNone/>
            </a:pPr>
            <a:r>
              <a:rPr lang="en-US" sz="1500" i="1" dirty="0">
                <a:solidFill>
                  <a:srgbClr val="C4B5FD"/>
                </a:solidFill>
                <a:latin typeface="Calibri" pitchFamily="34" charset="0"/>
                <a:ea typeface="Calibri" pitchFamily="34" charset="-122"/>
                <a:cs typeface="Calibri" pitchFamily="34" charset="-120"/>
              </a:rPr>
              <a:t>La responsabilidad institucional sigue siendo de las personas.</a:t>
            </a:r>
            <a:endParaRPr lang="en-US" sz="1500" dirty="0"/>
          </a:p>
        </p:txBody>
      </p:sp>
      <p:sp>
        <p:nvSpPr>
          <p:cNvPr id="6" name="Shape 4"/>
          <p:cNvSpPr/>
          <p:nvPr/>
        </p:nvSpPr>
        <p:spPr>
          <a:xfrm>
            <a:off x="365760" y="2423160"/>
            <a:ext cx="4069080" cy="2331720"/>
          </a:xfrm>
          <a:prstGeom prst="rect">
            <a:avLst/>
          </a:prstGeom>
          <a:solidFill>
            <a:srgbClr val="7C3AED">
              <a:alpha val="12000"/>
            </a:srgbClr>
          </a:solidFill>
          <a:ln w="12700">
            <a:solidFill>
              <a:srgbClr val="7C3AED">
                <a:alpha val="40000"/>
              </a:srgbClr>
            </a:solidFill>
            <a:prstDash val="solid"/>
          </a:ln>
        </p:spPr>
        <p:txBody>
          <a:bodyPr/>
          <a:lstStyle/>
          <a:p>
            <a:endParaRPr lang="es-CO"/>
          </a:p>
        </p:txBody>
      </p:sp>
      <p:sp>
        <p:nvSpPr>
          <p:cNvPr id="7" name="Text 5"/>
          <p:cNvSpPr/>
          <p:nvPr/>
        </p:nvSpPr>
        <p:spPr>
          <a:xfrm>
            <a:off x="548640" y="2542032"/>
            <a:ext cx="3703320" cy="41148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EL EJERCICIO — Todos los grupos</a:t>
            </a:r>
            <a:endParaRPr lang="en-US" sz="1300" dirty="0"/>
          </a:p>
        </p:txBody>
      </p:sp>
      <p:sp>
        <p:nvSpPr>
          <p:cNvPr id="8" name="Text 6"/>
          <p:cNvSpPr/>
          <p:nvPr/>
        </p:nvSpPr>
        <p:spPr>
          <a:xfrm>
            <a:off x="548640" y="2999232"/>
            <a:ext cx="3703320" cy="1463040"/>
          </a:xfrm>
          <a:prstGeom prst="rect">
            <a:avLst/>
          </a:prstGeom>
          <a:noFill/>
          <a:ln/>
        </p:spPr>
        <p:txBody>
          <a:bodyPr wrap="square" rtlCol="0" anchor="ctr"/>
          <a:lstStyle/>
          <a:p>
            <a:pPr marL="0" indent="0">
              <a:lnSpc>
                <a:spcPct val="140000"/>
              </a:lnSpc>
              <a:buNone/>
            </a:pPr>
            <a:r>
              <a:rPr lang="en-US" sz="1100" dirty="0">
                <a:solidFill>
                  <a:srgbClr val="DDEEFF"/>
                </a:solidFill>
                <a:latin typeface="Calibri" pitchFamily="34" charset="0"/>
                <a:ea typeface="Calibri" pitchFamily="34" charset="-122"/>
                <a:cs typeface="Calibri" pitchFamily="34" charset="-120"/>
              </a:rPr>
              <a:t>Eligen un escenario propio y lo analizan en 4 fases con la IA de su preferencia y con IAna. El gobierno está integrado en el ejercicio, no al final.</a:t>
            </a:r>
            <a:endParaRPr lang="en-US" sz="1100" dirty="0"/>
          </a:p>
        </p:txBody>
      </p:sp>
      <p:sp>
        <p:nvSpPr>
          <p:cNvPr id="9" name="Shape 7"/>
          <p:cNvSpPr/>
          <p:nvPr/>
        </p:nvSpPr>
        <p:spPr>
          <a:xfrm>
            <a:off x="4709160" y="2423160"/>
            <a:ext cx="4069080" cy="2331720"/>
          </a:xfrm>
          <a:prstGeom prst="rect">
            <a:avLst/>
          </a:prstGeom>
          <a:solidFill>
            <a:srgbClr val="0B7A5F">
              <a:alpha val="12000"/>
            </a:srgbClr>
          </a:solidFill>
          <a:ln w="12700">
            <a:solidFill>
              <a:srgbClr val="0B7A5F">
                <a:alpha val="40000"/>
              </a:srgbClr>
            </a:solidFill>
            <a:prstDash val="solid"/>
          </a:ln>
        </p:spPr>
        <p:txBody>
          <a:bodyPr/>
          <a:lstStyle/>
          <a:p>
            <a:endParaRPr lang="es-CO"/>
          </a:p>
        </p:txBody>
      </p:sp>
      <p:sp>
        <p:nvSpPr>
          <p:cNvPr id="10" name="Text 8"/>
          <p:cNvSpPr/>
          <p:nvPr/>
        </p:nvSpPr>
        <p:spPr>
          <a:xfrm>
            <a:off x="4892040" y="2542032"/>
            <a:ext cx="3703320" cy="41148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SÍNTESIS — Después de la plenaria</a:t>
            </a:r>
            <a:endParaRPr lang="en-US" sz="1300" dirty="0"/>
          </a:p>
        </p:txBody>
      </p:sp>
      <p:sp>
        <p:nvSpPr>
          <p:cNvPr id="11" name="Text 9"/>
          <p:cNvSpPr/>
          <p:nvPr/>
        </p:nvSpPr>
        <p:spPr>
          <a:xfrm>
            <a:off x="4892040" y="2999232"/>
            <a:ext cx="3703320" cy="1463040"/>
          </a:xfrm>
          <a:prstGeom prst="rect">
            <a:avLst/>
          </a:prstGeom>
          <a:noFill/>
          <a:ln/>
        </p:spPr>
        <p:txBody>
          <a:bodyPr wrap="square" rtlCol="0" anchor="ctr"/>
          <a:lstStyle/>
          <a:p>
            <a:pPr marL="0" indent="0">
              <a:lnSpc>
                <a:spcPct val="140000"/>
              </a:lnSpc>
              <a:buNone/>
            </a:pPr>
            <a:r>
              <a:rPr lang="en-US" sz="1100" dirty="0">
                <a:solidFill>
                  <a:srgbClr val="DDEEFF"/>
                </a:solidFill>
                <a:latin typeface="Calibri" pitchFamily="34" charset="0"/>
                <a:ea typeface="Calibri" pitchFamily="34" charset="-122"/>
                <a:cs typeface="Calibri" pitchFamily="34" charset="-120"/>
              </a:rPr>
              <a:t>La facilitadora conecta lo que vivieron con el marco de gobierno. COBIT entra como nombre de lo que ya practicaron.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EL EJERCICIO — SU TRABAJO HOY</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Analicen </a:t>
            </a:r>
            <a:r>
              <a:rPr lang="en-US" sz="2200" b="1" dirty="0" err="1">
                <a:solidFill>
                  <a:srgbClr val="1C3557"/>
                </a:solidFill>
                <a:latin typeface="Georgia" pitchFamily="34" charset="0"/>
                <a:ea typeface="Georgia" pitchFamily="34" charset="-122"/>
                <a:cs typeface="Georgia" pitchFamily="34" charset="-120"/>
              </a:rPr>
              <a:t>una</a:t>
            </a:r>
            <a:r>
              <a:rPr lang="en-US" sz="2200" b="1" dirty="0">
                <a:solidFill>
                  <a:srgbClr val="1C3557"/>
                </a:solidFill>
                <a:latin typeface="Georgia" pitchFamily="34" charset="0"/>
                <a:ea typeface="Georgia" pitchFamily="34" charset="-122"/>
                <a:cs typeface="Georgia" pitchFamily="34" charset="-120"/>
              </a:rPr>
              <a:t> decision </a:t>
            </a:r>
            <a:r>
              <a:rPr lang="en-US" sz="2200" b="1" dirty="0" err="1">
                <a:solidFill>
                  <a:srgbClr val="1C3557"/>
                </a:solidFill>
                <a:latin typeface="Georgia" pitchFamily="34" charset="0"/>
                <a:ea typeface="Georgia" pitchFamily="34" charset="-122"/>
                <a:cs typeface="Georgia" pitchFamily="34" charset="-120"/>
              </a:rPr>
              <a:t>estratégica</a:t>
            </a:r>
            <a:r>
              <a:rPr lang="en-US" sz="2200" b="1" dirty="0">
                <a:solidFill>
                  <a:srgbClr val="1C3557"/>
                </a:solidFill>
                <a:latin typeface="Georgia" pitchFamily="34" charset="0"/>
                <a:ea typeface="Georgia" pitchFamily="34" charset="-122"/>
                <a:cs typeface="Georgia" pitchFamily="34" charset="-120"/>
              </a:rPr>
              <a:t>. Cuatro fases. </a:t>
            </a:r>
            <a:endParaRPr lang="en-US" sz="2200" dirty="0"/>
          </a:p>
        </p:txBody>
      </p:sp>
      <p:sp>
        <p:nvSpPr>
          <p:cNvPr id="4" name="Shape 2"/>
          <p:cNvSpPr/>
          <p:nvPr/>
        </p:nvSpPr>
        <p:spPr>
          <a:xfrm>
            <a:off x="365760" y="1280160"/>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80160"/>
            <a:ext cx="64008" cy="658368"/>
          </a:xfrm>
          <a:prstGeom prst="rect">
            <a:avLst/>
          </a:prstGeom>
          <a:solidFill>
            <a:srgbClr val="3B0764"/>
          </a:solidFill>
          <a:ln w="12700">
            <a:solidFill>
              <a:srgbClr val="3B0764">
                <a:alpha val="0"/>
              </a:srgbClr>
            </a:solidFill>
            <a:prstDash val="solid"/>
          </a:ln>
        </p:spPr>
        <p:txBody>
          <a:bodyPr/>
          <a:lstStyle/>
          <a:p>
            <a:endParaRPr lang="es-CO"/>
          </a:p>
        </p:txBody>
      </p:sp>
      <p:sp>
        <p:nvSpPr>
          <p:cNvPr id="6" name="Text 4"/>
          <p:cNvSpPr/>
          <p:nvPr/>
        </p:nvSpPr>
        <p:spPr>
          <a:xfrm>
            <a:off x="548640" y="1335024"/>
            <a:ext cx="3749040" cy="237744"/>
          </a:xfrm>
          <a:prstGeom prst="rect">
            <a:avLst/>
          </a:prstGeom>
          <a:noFill/>
          <a:ln/>
        </p:spPr>
        <p:txBody>
          <a:bodyPr wrap="square" rtlCol="0" anchor="ctr"/>
          <a:lstStyle/>
          <a:p>
            <a:pPr marL="0" indent="0">
              <a:buNone/>
            </a:pPr>
            <a:r>
              <a:rPr lang="en-US" sz="1000" b="1" dirty="0">
                <a:solidFill>
                  <a:srgbClr val="3B0764"/>
                </a:solidFill>
                <a:latin typeface="Calibri" pitchFamily="34" charset="0"/>
                <a:ea typeface="Calibri" pitchFamily="34" charset="-122"/>
                <a:cs typeface="Calibri" pitchFamily="34" charset="-120"/>
              </a:rPr>
              <a:t>Fase 0  ·  Elijan el escenario</a:t>
            </a:r>
            <a:endParaRPr lang="en-US" sz="1000" dirty="0"/>
          </a:p>
        </p:txBody>
      </p:sp>
      <p:sp>
        <p:nvSpPr>
          <p:cNvPr id="7" name="Text 5"/>
          <p:cNvSpPr/>
          <p:nvPr/>
        </p:nvSpPr>
        <p:spPr>
          <a:xfrm>
            <a:off x="548640" y="1591056"/>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Una decisión estratégica real de su organización. </a:t>
            </a:r>
            <a:r>
              <a:rPr lang="en-US" sz="1200" dirty="0" err="1">
                <a:solidFill>
                  <a:srgbClr val="1A1A1A"/>
                </a:solidFill>
                <a:latin typeface="Calibri" pitchFamily="34" charset="0"/>
                <a:ea typeface="Calibri" pitchFamily="34" charset="-122"/>
                <a:cs typeface="Calibri" pitchFamily="34" charset="-120"/>
              </a:rPr>
              <a:t>Apoyense</a:t>
            </a:r>
            <a:r>
              <a:rPr lang="en-US" sz="1200" dirty="0">
                <a:solidFill>
                  <a:srgbClr val="1A1A1A"/>
                </a:solidFill>
                <a:latin typeface="Calibri" pitchFamily="34" charset="0"/>
                <a:ea typeface="Calibri" pitchFamily="34" charset="-122"/>
                <a:cs typeface="Calibri" pitchFamily="34" charset="-120"/>
              </a:rPr>
              <a:t> </a:t>
            </a:r>
            <a:r>
              <a:rPr lang="en-US" sz="1200" dirty="0" err="1">
                <a:solidFill>
                  <a:srgbClr val="1A1A1A"/>
                </a:solidFill>
                <a:latin typeface="Calibri" pitchFamily="34" charset="0"/>
                <a:ea typeface="Calibri" pitchFamily="34" charset="-122"/>
                <a:cs typeface="Calibri" pitchFamily="34" charset="-120"/>
              </a:rPr>
              <a:t>en</a:t>
            </a:r>
            <a:r>
              <a:rPr lang="en-US" sz="1200" dirty="0">
                <a:solidFill>
                  <a:srgbClr val="1A1A1A"/>
                </a:solidFill>
                <a:latin typeface="Calibri" pitchFamily="34" charset="0"/>
                <a:ea typeface="Calibri" pitchFamily="34" charset="-122"/>
                <a:cs typeface="Calibri" pitchFamily="34" charset="-120"/>
              </a:rPr>
              <a:t> </a:t>
            </a:r>
            <a:r>
              <a:rPr lang="en-US" sz="1200" dirty="0" err="1">
                <a:solidFill>
                  <a:srgbClr val="1A1A1A"/>
                </a:solidFill>
                <a:latin typeface="Calibri" pitchFamily="34" charset="0"/>
                <a:ea typeface="Calibri" pitchFamily="34" charset="-122"/>
                <a:cs typeface="Calibri" pitchFamily="34" charset="-120"/>
              </a:rPr>
              <a:t>IAna</a:t>
            </a:r>
            <a:r>
              <a:rPr lang="en-US" sz="1200" dirty="0">
                <a:solidFill>
                  <a:srgbClr val="1A1A1A"/>
                </a:solidFill>
                <a:latin typeface="Calibri" pitchFamily="34" charset="0"/>
                <a:ea typeface="Calibri" pitchFamily="34" charset="-122"/>
                <a:cs typeface="Calibri" pitchFamily="34" charset="-120"/>
              </a:rPr>
              <a:t> para </a:t>
            </a:r>
            <a:r>
              <a:rPr lang="en-US" sz="1200" dirty="0" err="1">
                <a:solidFill>
                  <a:srgbClr val="1A1A1A"/>
                </a:solidFill>
                <a:latin typeface="Calibri" pitchFamily="34" charset="0"/>
                <a:ea typeface="Calibri" pitchFamily="34" charset="-122"/>
                <a:cs typeface="Calibri" pitchFamily="34" charset="-120"/>
              </a:rPr>
              <a:t>definirla</a:t>
            </a:r>
            <a:endParaRPr lang="en-US" sz="1200" dirty="0"/>
          </a:p>
        </p:txBody>
      </p:sp>
      <p:sp>
        <p:nvSpPr>
          <p:cNvPr id="8" name="Shape 6"/>
          <p:cNvSpPr/>
          <p:nvPr/>
        </p:nvSpPr>
        <p:spPr>
          <a:xfrm>
            <a:off x="365760" y="2084832"/>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084832"/>
            <a:ext cx="64008" cy="658368"/>
          </a:xfrm>
          <a:prstGeom prst="rect">
            <a:avLst/>
          </a:prstGeom>
          <a:solidFill>
            <a:srgbClr val="1E3A8A"/>
          </a:solidFill>
          <a:ln w="12700">
            <a:solidFill>
              <a:srgbClr val="1E3A8A">
                <a:alpha val="0"/>
              </a:srgbClr>
            </a:solidFill>
            <a:prstDash val="solid"/>
          </a:ln>
        </p:spPr>
        <p:txBody>
          <a:bodyPr/>
          <a:lstStyle/>
          <a:p>
            <a:endParaRPr lang="es-CO"/>
          </a:p>
        </p:txBody>
      </p:sp>
      <p:sp>
        <p:nvSpPr>
          <p:cNvPr id="10" name="Text 8"/>
          <p:cNvSpPr/>
          <p:nvPr/>
        </p:nvSpPr>
        <p:spPr>
          <a:xfrm>
            <a:off x="548640" y="2139696"/>
            <a:ext cx="3749040" cy="237744"/>
          </a:xfrm>
          <a:prstGeom prst="rect">
            <a:avLst/>
          </a:prstGeom>
          <a:noFill/>
          <a:ln/>
        </p:spPr>
        <p:txBody>
          <a:bodyPr wrap="square" rtlCol="0" anchor="ctr"/>
          <a:lstStyle/>
          <a:p>
            <a:pPr marL="0" indent="0">
              <a:buNone/>
            </a:pPr>
            <a:r>
              <a:rPr lang="en-US" sz="1000" b="1" dirty="0">
                <a:solidFill>
                  <a:srgbClr val="1E3A8A"/>
                </a:solidFill>
                <a:latin typeface="Calibri" pitchFamily="34" charset="0"/>
                <a:ea typeface="Calibri" pitchFamily="34" charset="-122"/>
                <a:cs typeface="Calibri" pitchFamily="34" charset="-120"/>
              </a:rPr>
              <a:t>Fase 1  ·  Evalúen la iniciativa</a:t>
            </a:r>
            <a:endParaRPr lang="en-US" sz="1000" dirty="0"/>
          </a:p>
        </p:txBody>
      </p:sp>
      <p:sp>
        <p:nvSpPr>
          <p:cNvPr id="11" name="Text 9"/>
          <p:cNvSpPr/>
          <p:nvPr/>
        </p:nvSpPr>
        <p:spPr>
          <a:xfrm>
            <a:off x="548640" y="2395728"/>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Alineación estratégica, valor generado, consecuencias de postergar. </a:t>
            </a:r>
            <a:endParaRPr lang="en-US" sz="1200" dirty="0"/>
          </a:p>
        </p:txBody>
      </p:sp>
      <p:sp>
        <p:nvSpPr>
          <p:cNvPr id="12" name="Shape 10"/>
          <p:cNvSpPr/>
          <p:nvPr/>
        </p:nvSpPr>
        <p:spPr>
          <a:xfrm>
            <a:off x="365760" y="2889504"/>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65760" y="2889504"/>
            <a:ext cx="64008" cy="658368"/>
          </a:xfrm>
          <a:prstGeom prst="rect">
            <a:avLst/>
          </a:prstGeom>
          <a:solidFill>
            <a:srgbClr val="134E4A"/>
          </a:solidFill>
          <a:ln w="12700">
            <a:solidFill>
              <a:srgbClr val="134E4A">
                <a:alpha val="0"/>
              </a:srgbClr>
            </a:solidFill>
            <a:prstDash val="solid"/>
          </a:ln>
        </p:spPr>
        <p:txBody>
          <a:bodyPr/>
          <a:lstStyle/>
          <a:p>
            <a:endParaRPr lang="es-CO"/>
          </a:p>
        </p:txBody>
      </p:sp>
      <p:sp>
        <p:nvSpPr>
          <p:cNvPr id="14" name="Text 12"/>
          <p:cNvSpPr/>
          <p:nvPr/>
        </p:nvSpPr>
        <p:spPr>
          <a:xfrm>
            <a:off x="548640" y="2944368"/>
            <a:ext cx="3749040" cy="237744"/>
          </a:xfrm>
          <a:prstGeom prst="rect">
            <a:avLst/>
          </a:prstGeom>
          <a:noFill/>
          <a:ln/>
        </p:spPr>
        <p:txBody>
          <a:bodyPr wrap="square" rtlCol="0" anchor="ctr"/>
          <a:lstStyle/>
          <a:p>
            <a:pPr marL="0" indent="0">
              <a:buNone/>
            </a:pPr>
            <a:r>
              <a:rPr lang="en-US" sz="1000" b="1" dirty="0">
                <a:solidFill>
                  <a:srgbClr val="134E4A"/>
                </a:solidFill>
                <a:latin typeface="Calibri" pitchFamily="34" charset="0"/>
                <a:ea typeface="Calibri" pitchFamily="34" charset="-122"/>
                <a:cs typeface="Calibri" pitchFamily="34" charset="-120"/>
              </a:rPr>
              <a:t>Fase 2  ·  Proyecten los escenarios</a:t>
            </a:r>
            <a:endParaRPr lang="en-US" sz="1000" dirty="0"/>
          </a:p>
        </p:txBody>
      </p:sp>
      <p:sp>
        <p:nvSpPr>
          <p:cNvPr id="15" name="Text 13"/>
          <p:cNvSpPr/>
          <p:nvPr/>
        </p:nvSpPr>
        <p:spPr>
          <a:xfrm>
            <a:off x="548640" y="3200400"/>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Tres desenlaces posibles en 18 meses con sus señales tempranas.</a:t>
            </a:r>
            <a:endParaRPr lang="en-US" sz="1200" dirty="0"/>
          </a:p>
        </p:txBody>
      </p:sp>
      <p:sp>
        <p:nvSpPr>
          <p:cNvPr id="16" name="Shape 14"/>
          <p:cNvSpPr/>
          <p:nvPr/>
        </p:nvSpPr>
        <p:spPr>
          <a:xfrm>
            <a:off x="4754880" y="1280160"/>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7" name="Shape 15"/>
          <p:cNvSpPr/>
          <p:nvPr/>
        </p:nvSpPr>
        <p:spPr>
          <a:xfrm>
            <a:off x="4754880" y="1280160"/>
            <a:ext cx="64008" cy="658368"/>
          </a:xfrm>
          <a:prstGeom prst="rect">
            <a:avLst/>
          </a:prstGeom>
          <a:solidFill>
            <a:srgbClr val="7C2D12"/>
          </a:solidFill>
          <a:ln w="12700">
            <a:solidFill>
              <a:srgbClr val="7C2D12">
                <a:alpha val="0"/>
              </a:srgbClr>
            </a:solidFill>
            <a:prstDash val="solid"/>
          </a:ln>
        </p:spPr>
        <p:txBody>
          <a:bodyPr/>
          <a:lstStyle/>
          <a:p>
            <a:endParaRPr lang="es-CO"/>
          </a:p>
        </p:txBody>
      </p:sp>
      <p:sp>
        <p:nvSpPr>
          <p:cNvPr id="18" name="Text 16"/>
          <p:cNvSpPr/>
          <p:nvPr/>
        </p:nvSpPr>
        <p:spPr>
          <a:xfrm>
            <a:off x="4937760" y="1335024"/>
            <a:ext cx="3749040" cy="237744"/>
          </a:xfrm>
          <a:prstGeom prst="rect">
            <a:avLst/>
          </a:prstGeom>
          <a:noFill/>
          <a:ln/>
        </p:spPr>
        <p:txBody>
          <a:bodyPr wrap="square" rtlCol="0" anchor="ctr"/>
          <a:lstStyle/>
          <a:p>
            <a:pPr marL="0" indent="0">
              <a:buNone/>
            </a:pPr>
            <a:r>
              <a:rPr lang="en-US" sz="1000" b="1" dirty="0">
                <a:solidFill>
                  <a:srgbClr val="7C2D12"/>
                </a:solidFill>
                <a:latin typeface="Calibri" pitchFamily="34" charset="0"/>
                <a:ea typeface="Calibri" pitchFamily="34" charset="-122"/>
                <a:cs typeface="Calibri" pitchFamily="34" charset="-120"/>
              </a:rPr>
              <a:t>Fase 3  ·  Gestionen los riesgos</a:t>
            </a:r>
            <a:endParaRPr lang="en-US" sz="1000" dirty="0"/>
          </a:p>
        </p:txBody>
      </p:sp>
      <p:sp>
        <p:nvSpPr>
          <p:cNvPr id="19" name="Text 17"/>
          <p:cNvSpPr/>
          <p:nvPr/>
        </p:nvSpPr>
        <p:spPr>
          <a:xfrm>
            <a:off x="4937760" y="1591056"/>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Los cinco riesgos institucionales más probables — con dueño y estructura de gestión.</a:t>
            </a:r>
            <a:endParaRPr lang="en-US" sz="1200" dirty="0"/>
          </a:p>
        </p:txBody>
      </p:sp>
      <p:sp>
        <p:nvSpPr>
          <p:cNvPr id="20" name="Shape 18"/>
          <p:cNvSpPr/>
          <p:nvPr/>
        </p:nvSpPr>
        <p:spPr>
          <a:xfrm>
            <a:off x="4754880" y="2084832"/>
            <a:ext cx="4114800" cy="658368"/>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21" name="Shape 19"/>
          <p:cNvSpPr/>
          <p:nvPr/>
        </p:nvSpPr>
        <p:spPr>
          <a:xfrm>
            <a:off x="4754880" y="2084832"/>
            <a:ext cx="64008" cy="658368"/>
          </a:xfrm>
          <a:prstGeom prst="rect">
            <a:avLst/>
          </a:prstGeom>
          <a:solidFill>
            <a:srgbClr val="1C3557"/>
          </a:solidFill>
          <a:ln w="12700">
            <a:solidFill>
              <a:srgbClr val="1C3557">
                <a:alpha val="0"/>
              </a:srgbClr>
            </a:solidFill>
            <a:prstDash val="solid"/>
          </a:ln>
        </p:spPr>
        <p:txBody>
          <a:bodyPr/>
          <a:lstStyle/>
          <a:p>
            <a:endParaRPr lang="es-CO"/>
          </a:p>
        </p:txBody>
      </p:sp>
      <p:sp>
        <p:nvSpPr>
          <p:cNvPr id="22" name="Text 20"/>
          <p:cNvSpPr/>
          <p:nvPr/>
        </p:nvSpPr>
        <p:spPr>
          <a:xfrm>
            <a:off x="4937760" y="2139696"/>
            <a:ext cx="3749040" cy="237744"/>
          </a:xfrm>
          <a:prstGeom prst="rect">
            <a:avLst/>
          </a:prstGeom>
          <a:noFill/>
          <a:ln/>
        </p:spPr>
        <p:txBody>
          <a:bodyPr wrap="square" rtlCol="0" anchor="ctr"/>
          <a:lstStyle/>
          <a:p>
            <a:pPr marL="0" indent="0">
              <a:buNone/>
            </a:pPr>
            <a:r>
              <a:rPr lang="en-US" sz="1000" b="1" dirty="0">
                <a:solidFill>
                  <a:srgbClr val="1C3557"/>
                </a:solidFill>
                <a:latin typeface="Calibri" pitchFamily="34" charset="0"/>
                <a:ea typeface="Calibri" pitchFamily="34" charset="-122"/>
                <a:cs typeface="Calibri" pitchFamily="34" charset="-120"/>
              </a:rPr>
              <a:t>Fase 4  ·  Construyan el argumento</a:t>
            </a:r>
            <a:endParaRPr lang="en-US" sz="1000" dirty="0"/>
          </a:p>
        </p:txBody>
      </p:sp>
      <p:sp>
        <p:nvSpPr>
          <p:cNvPr id="23" name="Text 21"/>
          <p:cNvSpPr/>
          <p:nvPr/>
        </p:nvSpPr>
        <p:spPr>
          <a:xfrm>
            <a:off x="4937760" y="2395728"/>
            <a:ext cx="3749040" cy="2743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El argumento ejecutivo de una página: decisión, urgencia, riesgos asumidos, primer paso, criterio de éxito.</a:t>
            </a:r>
            <a:endParaRPr lang="en-US" sz="1200" dirty="0"/>
          </a:p>
        </p:txBody>
      </p:sp>
      <p:sp>
        <p:nvSpPr>
          <p:cNvPr id="24" name="Shape 22"/>
          <p:cNvSpPr/>
          <p:nvPr/>
        </p:nvSpPr>
        <p:spPr>
          <a:xfrm>
            <a:off x="365760" y="4462272"/>
            <a:ext cx="8412480" cy="384048"/>
          </a:xfrm>
          <a:prstGeom prst="roundRect">
            <a:avLst>
              <a:gd name="adj" fmla="val 23810"/>
            </a:avLst>
          </a:prstGeom>
          <a:solidFill>
            <a:srgbClr val="7C3AED">
              <a:alpha val="12000"/>
            </a:srgbClr>
          </a:solidFill>
          <a:ln w="12700">
            <a:solidFill>
              <a:srgbClr val="7C3AED">
                <a:alpha val="40000"/>
              </a:srgbClr>
            </a:solidFill>
            <a:prstDash val="solid"/>
          </a:ln>
        </p:spPr>
        <p:txBody>
          <a:bodyPr/>
          <a:lstStyle/>
          <a:p>
            <a:endParaRPr lang="es-CO"/>
          </a:p>
        </p:txBody>
      </p:sp>
      <p:sp>
        <p:nvSpPr>
          <p:cNvPr id="25" name="Text 23"/>
          <p:cNvSpPr/>
          <p:nvPr/>
        </p:nvSpPr>
        <p:spPr>
          <a:xfrm>
            <a:off x="365760" y="4462272"/>
            <a:ext cx="8412480" cy="384048"/>
          </a:xfrm>
          <a:prstGeom prst="rect">
            <a:avLst/>
          </a:prstGeom>
          <a:noFill/>
          <a:ln/>
        </p:spPr>
        <p:txBody>
          <a:bodyPr wrap="square" lIns="0" tIns="0" rIns="0" bIns="0" rtlCol="0" anchor="ctr"/>
          <a:lstStyle/>
          <a:p>
            <a:pPr marL="0" indent="0" algn="ctr">
              <a:buNone/>
            </a:pPr>
            <a:r>
              <a:rPr lang="en-US" sz="1100" b="1" dirty="0" err="1">
                <a:solidFill>
                  <a:srgbClr val="7C3AED"/>
                </a:solidFill>
                <a:latin typeface="Calibri" pitchFamily="34" charset="0"/>
                <a:ea typeface="Calibri" pitchFamily="34" charset="-122"/>
                <a:cs typeface="Calibri" pitchFamily="34" charset="-120"/>
              </a:rPr>
              <a:t>IAna</a:t>
            </a:r>
            <a:r>
              <a:rPr lang="en-US" sz="1100" b="1" dirty="0">
                <a:solidFill>
                  <a:srgbClr val="7C3AED"/>
                </a:solidFill>
                <a:latin typeface="Calibri" pitchFamily="34" charset="0"/>
                <a:ea typeface="Calibri" pitchFamily="34" charset="-122"/>
                <a:cs typeface="Calibri" pitchFamily="34" charset="-120"/>
              </a:rPr>
              <a:t> disponible durante todo el ejercicio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3557"/>
        </a:solidFill>
        <a:effectLst/>
      </p:bgPr>
    </p:bg>
    <p:spTree>
      <p:nvGrpSpPr>
        <p:cNvPr id="1" name=""/>
        <p:cNvGrpSpPr/>
        <p:nvPr/>
      </p:nvGrpSpPr>
      <p:grpSpPr>
        <a:xfrm>
          <a:off x="0" y="0"/>
          <a:ext cx="0" cy="0"/>
          <a:chOff x="0" y="0"/>
          <a:chExt cx="0" cy="0"/>
        </a:xfrm>
      </p:grpSpPr>
      <p:sp>
        <p:nvSpPr>
          <p:cNvPr id="2" name="Kicker"/>
          <p:cNvSpPr/>
          <p:nvPr/>
        </p:nvSpPr>
        <p:spPr>
          <a:xfrm>
            <a:off x="457200" y="340000"/>
            <a:ext cx="4600000" cy="260000"/>
          </a:xfrm>
          <a:prstGeom prst="rect">
            <a:avLst/>
          </a:prstGeom>
          <a:noFill/>
          <a:ln>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300" normalizeH="0" baseline="0" noProof="0" dirty="0">
                <a:ln>
                  <a:noFill/>
                </a:ln>
                <a:solidFill>
                  <a:srgbClr val="9DD9E8"/>
                </a:solidFill>
                <a:effectLst/>
                <a:uLnTx/>
                <a:uFillTx/>
                <a:latin typeface="Calibri"/>
                <a:ea typeface="+mn-ea"/>
                <a:cs typeface="+mn-cs"/>
              </a:rPr>
              <a:t>MATERIAL DE TRABAJO</a:t>
            </a:r>
          </a:p>
        </p:txBody>
      </p:sp>
      <p:sp>
        <p:nvSpPr>
          <p:cNvPr id="3" name="Title"/>
          <p:cNvSpPr/>
          <p:nvPr/>
        </p:nvSpPr>
        <p:spPr>
          <a:xfrm>
            <a:off x="457200" y="640000"/>
            <a:ext cx="4700000" cy="1500000"/>
          </a:xfrm>
          <a:prstGeom prst="rect">
            <a:avLst/>
          </a:prstGeom>
          <a:noFill/>
          <a:ln>
            <a:noFill/>
          </a:ln>
        </p:spPr>
        <p:txBody>
          <a:bodyPr wrap="square"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FFFFFF"/>
                </a:solidFill>
                <a:effectLst/>
                <a:uLnTx/>
                <a:uFillTx/>
                <a:latin typeface="Georgia"/>
                <a:ea typeface="+mn-ea"/>
                <a:cs typeface="+mn-cs"/>
              </a:rPr>
              <a:t>Abran el material</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9DD9E8"/>
                </a:solidFill>
                <a:effectLst/>
                <a:uLnTx/>
                <a:uFillTx/>
                <a:latin typeface="Georgia"/>
                <a:ea typeface="+mn-ea"/>
                <a:cs typeface="+mn-cs"/>
              </a:rPr>
              <a:t>en su dispositivo</a:t>
            </a:r>
          </a:p>
        </p:txBody>
      </p:sp>
      <p:sp>
        <p:nvSpPr>
          <p:cNvPr id="4" name="Instruction"/>
          <p:cNvSpPr/>
          <p:nvPr/>
        </p:nvSpPr>
        <p:spPr>
          <a:xfrm>
            <a:off x="457200" y="2260000"/>
            <a:ext cx="4600000" cy="600000"/>
          </a:xfrm>
          <a:prstGeom prst="rect">
            <a:avLst/>
          </a:prstGeom>
          <a:noFill/>
          <a:ln>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a:ln>
                  <a:noFill/>
                </a:ln>
                <a:solidFill>
                  <a:srgbClr val="CBD5E1"/>
                </a:solidFill>
                <a:effectLst/>
                <a:uLnTx/>
                <a:uFillTx/>
                <a:latin typeface="Calibri"/>
                <a:ea typeface="+mn-ea"/>
                <a:cs typeface="+mn-cs"/>
              </a:rPr>
              <a:t>Escaneen el QR </a:t>
            </a:r>
          </a:p>
        </p:txBody>
      </p:sp>
      <p:sp>
        <p:nvSpPr>
          <p:cNvPr id="5" name="Badge"/>
          <p:cNvSpPr/>
          <p:nvPr/>
        </p:nvSpPr>
        <p:spPr>
          <a:xfrm>
            <a:off x="457200" y="2960000"/>
            <a:ext cx="3300000" cy="310000"/>
          </a:xfrm>
          <a:prstGeom prst="rect">
            <a:avLst/>
          </a:prstGeom>
          <a:solidFill>
            <a:srgbClr val="0E7490"/>
          </a:solidFill>
          <a:ln>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150" normalizeH="0" baseline="0" noProof="0" dirty="0">
                <a:ln>
                  <a:noFill/>
                </a:ln>
                <a:solidFill>
                  <a:srgbClr val="FFFFFF"/>
                </a:solidFill>
                <a:effectLst/>
                <a:uLnTx/>
                <a:uFillTx/>
                <a:latin typeface="Calibri"/>
                <a:ea typeface="+mn-ea"/>
                <a:cs typeface="+mn-cs"/>
              </a:rPr>
              <a:t>MATERIAL DE TRABAJO</a:t>
            </a:r>
          </a:p>
        </p:txBody>
      </p:sp>
      <p:pic>
        <p:nvPicPr>
          <p:cNvPr id="7" name="Imagen 6">
            <a:extLst>
              <a:ext uri="{FF2B5EF4-FFF2-40B4-BE49-F238E27FC236}">
                <a16:creationId xmlns:a16="http://schemas.microsoft.com/office/drawing/2014/main" id="{F16E7F4E-ACD7-4656-BE98-84390FDCA514}"/>
              </a:ext>
            </a:extLst>
          </p:cNvPr>
          <p:cNvPicPr>
            <a:picLocks noChangeAspect="1"/>
          </p:cNvPicPr>
          <p:nvPr/>
        </p:nvPicPr>
        <p:blipFill>
          <a:blip r:embed="rId2"/>
          <a:stretch>
            <a:fillRect/>
          </a:stretch>
        </p:blipFill>
        <p:spPr>
          <a:xfrm>
            <a:off x="5157200" y="1118246"/>
            <a:ext cx="3124471" cy="31320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60772-6918-48B7-BDA8-310B93CB83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3DBBEA-17F0-C3F4-FE99-D43FBACE87DB}"/>
              </a:ext>
            </a:extLst>
          </p:cNvPr>
          <p:cNvGrpSpPr/>
          <p:nvPr/>
        </p:nvGrpSpPr>
        <p:grpSpPr>
          <a:xfrm>
            <a:off x="4346154" y="0"/>
            <a:ext cx="4797847" cy="5283091"/>
            <a:chOff x="0" y="0"/>
            <a:chExt cx="3160185" cy="3479800"/>
          </a:xfrm>
          <a:solidFill>
            <a:srgbClr val="00205B"/>
          </a:solidFill>
        </p:grpSpPr>
        <p:sp>
          <p:nvSpPr>
            <p:cNvPr id="3" name="Freeform 3">
              <a:extLst>
                <a:ext uri="{FF2B5EF4-FFF2-40B4-BE49-F238E27FC236}">
                  <a16:creationId xmlns:a16="http://schemas.microsoft.com/office/drawing/2014/main" id="{C3DD889E-6F8A-B5C3-1DF6-2D0F1711B3D1}"/>
                </a:ext>
              </a:extLst>
            </p:cNvPr>
            <p:cNvSpPr/>
            <p:nvPr/>
          </p:nvSpPr>
          <p:spPr>
            <a:xfrm>
              <a:off x="0" y="0"/>
              <a:ext cx="3160185" cy="3479800"/>
            </a:xfrm>
            <a:custGeom>
              <a:avLst/>
              <a:gdLst/>
              <a:ahLst/>
              <a:cxnLst/>
              <a:rect l="l" t="t" r="r" b="b"/>
              <a:pathLst>
                <a:path w="3160185" h="3479800">
                  <a:moveTo>
                    <a:pt x="0" y="0"/>
                  </a:moveTo>
                  <a:lnTo>
                    <a:pt x="3160185" y="0"/>
                  </a:lnTo>
                  <a:lnTo>
                    <a:pt x="3160185" y="3479800"/>
                  </a:lnTo>
                  <a:lnTo>
                    <a:pt x="0" y="3479800"/>
                  </a:lnTo>
                  <a:close/>
                </a:path>
              </a:pathLst>
            </a:custGeom>
            <a:gr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O"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6" name="TextBox 6">
            <a:extLst>
              <a:ext uri="{FF2B5EF4-FFF2-40B4-BE49-F238E27FC236}">
                <a16:creationId xmlns:a16="http://schemas.microsoft.com/office/drawing/2014/main" id="{1D5CCCF0-6D96-E212-3853-559933AC575E}"/>
              </a:ext>
            </a:extLst>
          </p:cNvPr>
          <p:cNvSpPr txBox="1"/>
          <p:nvPr/>
        </p:nvSpPr>
        <p:spPr>
          <a:xfrm>
            <a:off x="533333" y="339502"/>
            <a:ext cx="3126494" cy="1918795"/>
          </a:xfrm>
          <a:prstGeom prst="rect">
            <a:avLst/>
          </a:prstGeom>
        </p:spPr>
        <p:txBody>
          <a:bodyPr lIns="0" tIns="0" rIns="0" bIns="0" rtlCol="0" anchor="t">
            <a:spAutoFit/>
          </a:bodyPr>
          <a:lstStyle/>
          <a:p>
            <a:pPr marL="0" marR="0" lvl="0" indent="0" algn="ctr" defTabSz="457200" rtl="0" eaLnBrk="1" fontAlgn="auto" latinLnBrk="0" hangingPunct="1">
              <a:lnSpc>
                <a:spcPts val="3795"/>
              </a:lnSpc>
              <a:spcBef>
                <a:spcPts val="0"/>
              </a:spcBef>
              <a:spcAft>
                <a:spcPts val="0"/>
              </a:spcAft>
              <a:buClrTx/>
              <a:buSzTx/>
              <a:buFontTx/>
              <a:buNone/>
              <a:tabLst/>
              <a:defRPr/>
            </a:pPr>
            <a:r>
              <a:rPr kumimoji="0" lang="es-MX" sz="3449" b="0" i="0" u="none" strike="noStrike" kern="1200" cap="none" spc="0" normalizeH="0" baseline="0" noProof="0" dirty="0">
                <a:ln>
                  <a:noFill/>
                </a:ln>
                <a:solidFill>
                  <a:srgbClr val="00205B"/>
                </a:solidFill>
                <a:effectLst/>
                <a:uLnTx/>
                <a:uFillTx/>
                <a:latin typeface="Calibri Light" panose="020F0302020204030204"/>
                <a:ea typeface="+mn-ea"/>
                <a:cs typeface="+mn-cs"/>
              </a:rPr>
              <a:t>Les presento a </a:t>
            </a:r>
          </a:p>
          <a:p>
            <a:pPr marL="0" marR="0" lvl="0" indent="0" algn="ctr" defTabSz="457200" rtl="0" eaLnBrk="1" fontAlgn="auto" latinLnBrk="0" hangingPunct="1">
              <a:lnSpc>
                <a:spcPts val="3795"/>
              </a:lnSpc>
              <a:spcBef>
                <a:spcPts val="0"/>
              </a:spcBef>
              <a:spcAft>
                <a:spcPts val="0"/>
              </a:spcAft>
              <a:buClrTx/>
              <a:buSzTx/>
              <a:buFontTx/>
              <a:buNone/>
              <a:tabLst/>
              <a:defRPr/>
            </a:pPr>
            <a:r>
              <a:rPr kumimoji="0" lang="es-MX" sz="3449" b="0" i="0" u="none" strike="noStrike" kern="1200" cap="none" spc="0" normalizeH="0" baseline="0" noProof="0" dirty="0">
                <a:ln>
                  <a:noFill/>
                </a:ln>
                <a:solidFill>
                  <a:srgbClr val="00205B"/>
                </a:solidFill>
                <a:effectLst/>
                <a:uLnTx/>
                <a:uFillTx/>
                <a:latin typeface="Calibri Light" panose="020F0302020204030204"/>
                <a:ea typeface="+mn-ea"/>
                <a:cs typeface="+mn-cs"/>
              </a:rPr>
              <a:t>Iana</a:t>
            </a:r>
          </a:p>
          <a:p>
            <a:pPr marL="0" marR="0" lvl="0" indent="0" algn="ctr" defTabSz="457200" rtl="0" eaLnBrk="1" fontAlgn="auto" latinLnBrk="0" hangingPunct="1">
              <a:lnSpc>
                <a:spcPts val="3795"/>
              </a:lnSpc>
              <a:spcBef>
                <a:spcPts val="0"/>
              </a:spcBef>
              <a:spcAft>
                <a:spcPts val="0"/>
              </a:spcAft>
              <a:buClrTx/>
              <a:buSzTx/>
              <a:buFontTx/>
              <a:buNone/>
              <a:tabLst/>
              <a:defRPr/>
            </a:pPr>
            <a:r>
              <a:rPr kumimoji="0" lang="es-MX" sz="2700" b="0" i="0" u="none" strike="noStrike" kern="1200" cap="none" spc="0" normalizeH="0" baseline="0" noProof="0" dirty="0">
                <a:ln>
                  <a:noFill/>
                </a:ln>
                <a:solidFill>
                  <a:srgbClr val="00205B"/>
                </a:solidFill>
                <a:effectLst/>
                <a:uLnTx/>
                <a:uFillTx/>
                <a:latin typeface="Calibri Light" panose="020F0302020204030204"/>
                <a:ea typeface="+mn-ea"/>
                <a:cs typeface="+mn-cs"/>
              </a:rPr>
              <a:t>Su monitora para este taller</a:t>
            </a:r>
            <a:endParaRPr kumimoji="0" lang="es-MX" sz="1000" b="0" i="0" u="none" strike="noStrike" kern="1200" cap="none" spc="0" normalizeH="0" baseline="0" noProof="0" dirty="0">
              <a:ln>
                <a:noFill/>
              </a:ln>
              <a:solidFill>
                <a:srgbClr val="00205B"/>
              </a:solidFill>
              <a:effectLst/>
              <a:uLnTx/>
              <a:uFillTx/>
              <a:latin typeface="Calibri Light" panose="020F0302020204030204"/>
              <a:ea typeface="+mn-ea"/>
              <a:cs typeface="+mn-cs"/>
            </a:endParaRPr>
          </a:p>
        </p:txBody>
      </p:sp>
      <p:pic>
        <p:nvPicPr>
          <p:cNvPr id="9" name="Imagen 8">
            <a:extLst>
              <a:ext uri="{FF2B5EF4-FFF2-40B4-BE49-F238E27FC236}">
                <a16:creationId xmlns:a16="http://schemas.microsoft.com/office/drawing/2014/main" id="{18CFFF09-7C64-C479-499C-7308376886B8}"/>
              </a:ext>
            </a:extLst>
          </p:cNvPr>
          <p:cNvPicPr>
            <a:picLocks noChangeAspect="1"/>
          </p:cNvPicPr>
          <p:nvPr/>
        </p:nvPicPr>
        <p:blipFill>
          <a:blip r:embed="rId2"/>
          <a:stretch>
            <a:fillRect/>
          </a:stretch>
        </p:blipFill>
        <p:spPr>
          <a:xfrm>
            <a:off x="4482788" y="735546"/>
            <a:ext cx="4896275" cy="3425487"/>
          </a:xfrm>
          <a:prstGeom prst="rect">
            <a:avLst/>
          </a:prstGeom>
        </p:spPr>
      </p:pic>
      <p:pic>
        <p:nvPicPr>
          <p:cNvPr id="5" name="Imagen 4">
            <a:extLst>
              <a:ext uri="{FF2B5EF4-FFF2-40B4-BE49-F238E27FC236}">
                <a16:creationId xmlns:a16="http://schemas.microsoft.com/office/drawing/2014/main" id="{4BEB462C-4ED7-EE00-1ABC-E18635883594}"/>
              </a:ext>
            </a:extLst>
          </p:cNvPr>
          <p:cNvPicPr>
            <a:picLocks noChangeAspect="1"/>
          </p:cNvPicPr>
          <p:nvPr/>
        </p:nvPicPr>
        <p:blipFill>
          <a:blip r:embed="rId3"/>
          <a:stretch>
            <a:fillRect/>
          </a:stretch>
        </p:blipFill>
        <p:spPr>
          <a:xfrm>
            <a:off x="1033687" y="2226267"/>
            <a:ext cx="2626140" cy="2577731"/>
          </a:xfrm>
          <a:prstGeom prst="rect">
            <a:avLst/>
          </a:prstGeom>
        </p:spPr>
      </p:pic>
    </p:spTree>
    <p:extLst>
      <p:ext uri="{BB962C8B-B14F-4D97-AF65-F5344CB8AC3E}">
        <p14:creationId xmlns:p14="http://schemas.microsoft.com/office/powerpoint/2010/main" val="4242831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PLENARIA — 3 MINUTOS POR GRUPO · TIEMPO ESTRICTO</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¿La IA apoya la decisión estratégica — o la reemplaza?</a:t>
            </a:r>
            <a:endParaRPr lang="en-US" sz="2200" dirty="0"/>
          </a:p>
        </p:txBody>
      </p:sp>
      <p:sp>
        <p:nvSpPr>
          <p:cNvPr id="4" name="Shape 2"/>
          <p:cNvSpPr/>
          <p:nvPr/>
        </p:nvSpPr>
        <p:spPr>
          <a:xfrm>
            <a:off x="365760" y="128016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80160"/>
            <a:ext cx="64008" cy="804672"/>
          </a:xfrm>
          <a:prstGeom prst="rect">
            <a:avLst/>
          </a:prstGeom>
          <a:solidFill>
            <a:srgbClr val="7C3AED"/>
          </a:solidFill>
          <a:ln w="12700">
            <a:solidFill>
              <a:srgbClr val="7C3AED">
                <a:alpha val="0"/>
              </a:srgbClr>
            </a:solidFill>
            <a:prstDash val="solid"/>
          </a:ln>
        </p:spPr>
        <p:txBody>
          <a:bodyPr/>
          <a:lstStyle/>
          <a:p>
            <a:endParaRPr lang="es-CO"/>
          </a:p>
        </p:txBody>
      </p:sp>
      <p:sp>
        <p:nvSpPr>
          <p:cNvPr id="6" name="Text 4"/>
          <p:cNvSpPr/>
          <p:nvPr/>
        </p:nvSpPr>
        <p:spPr>
          <a:xfrm>
            <a:off x="548640" y="1371600"/>
            <a:ext cx="457200" cy="640080"/>
          </a:xfrm>
          <a:prstGeom prst="rect">
            <a:avLst/>
          </a:prstGeom>
          <a:noFill/>
          <a:ln/>
        </p:spPr>
        <p:txBody>
          <a:bodyPr wrap="square" rtlCol="0" anchor="ctr"/>
          <a:lstStyle/>
          <a:p>
            <a:pPr marL="0" indent="0">
              <a:buNone/>
            </a:pPr>
            <a:r>
              <a:rPr lang="en-US" sz="2200" b="1" dirty="0">
                <a:solidFill>
                  <a:srgbClr val="7C3AED"/>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097280" y="148132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¿Qué escenario eligieron — y cuál fue el hallazgo que no habrían construido sin la IA?</a:t>
            </a:r>
            <a:endParaRPr lang="en-US" sz="1300" dirty="0"/>
          </a:p>
        </p:txBody>
      </p:sp>
      <p:sp>
        <p:nvSpPr>
          <p:cNvPr id="8" name="Shape 6"/>
          <p:cNvSpPr/>
          <p:nvPr/>
        </p:nvSpPr>
        <p:spPr>
          <a:xfrm>
            <a:off x="365760" y="224028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240280"/>
            <a:ext cx="64008" cy="804672"/>
          </a:xfrm>
          <a:prstGeom prst="rect">
            <a:avLst/>
          </a:prstGeom>
          <a:solidFill>
            <a:srgbClr val="B8860B"/>
          </a:solidFill>
          <a:ln w="12700">
            <a:solidFill>
              <a:srgbClr val="B8860B">
                <a:alpha val="0"/>
              </a:srgbClr>
            </a:solidFill>
            <a:prstDash val="solid"/>
          </a:ln>
        </p:spPr>
        <p:txBody>
          <a:bodyPr/>
          <a:lstStyle/>
          <a:p>
            <a:endParaRPr lang="es-CO"/>
          </a:p>
        </p:txBody>
      </p:sp>
      <p:sp>
        <p:nvSpPr>
          <p:cNvPr id="10" name="Text 8"/>
          <p:cNvSpPr/>
          <p:nvPr/>
        </p:nvSpPr>
        <p:spPr>
          <a:xfrm>
            <a:off x="548640" y="2331720"/>
            <a:ext cx="457200" cy="640080"/>
          </a:xfrm>
          <a:prstGeom prst="rect">
            <a:avLst/>
          </a:prstGeom>
          <a:noFill/>
          <a:ln/>
        </p:spPr>
        <p:txBody>
          <a:bodyPr wrap="square" rtlCol="0" anchor="ctr"/>
          <a:lstStyle/>
          <a:p>
            <a:pPr marL="0" indent="0">
              <a:buNone/>
            </a:pPr>
            <a:r>
              <a:rPr lang="en-US" sz="2200" b="1" dirty="0">
                <a:solidFill>
                  <a:srgbClr val="B8860B"/>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1097280" y="244144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¿Qué riesgo de gobierno apareció en el análisis que no estaba en el radar inicial del grupo?</a:t>
            </a:r>
            <a:endParaRPr lang="en-US" sz="1300" dirty="0"/>
          </a:p>
        </p:txBody>
      </p:sp>
      <p:sp>
        <p:nvSpPr>
          <p:cNvPr id="12" name="Shape 10"/>
          <p:cNvSpPr/>
          <p:nvPr/>
        </p:nvSpPr>
        <p:spPr>
          <a:xfrm>
            <a:off x="365760" y="3200400"/>
            <a:ext cx="8412480" cy="804672"/>
          </a:xfrm>
          <a:prstGeom prst="rect">
            <a:avLst/>
          </a:prstGeom>
          <a:solidFill>
            <a:srgbClr val="FFFFFF"/>
          </a:solidFill>
          <a:ln w="12700">
            <a:solidFill>
              <a:srgbClr val="E2E0D8"/>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65760" y="3200400"/>
            <a:ext cx="64008" cy="804672"/>
          </a:xfrm>
          <a:prstGeom prst="rect">
            <a:avLst/>
          </a:prstGeom>
          <a:solidFill>
            <a:srgbClr val="0B7A5F"/>
          </a:solidFill>
          <a:ln w="12700">
            <a:solidFill>
              <a:srgbClr val="0B7A5F">
                <a:alpha val="0"/>
              </a:srgbClr>
            </a:solidFill>
            <a:prstDash val="solid"/>
          </a:ln>
        </p:spPr>
        <p:txBody>
          <a:bodyPr/>
          <a:lstStyle/>
          <a:p>
            <a:endParaRPr lang="es-CO"/>
          </a:p>
        </p:txBody>
      </p:sp>
      <p:sp>
        <p:nvSpPr>
          <p:cNvPr id="14" name="Text 12"/>
          <p:cNvSpPr/>
          <p:nvPr/>
        </p:nvSpPr>
        <p:spPr>
          <a:xfrm>
            <a:off x="548640" y="3291840"/>
            <a:ext cx="457200" cy="640080"/>
          </a:xfrm>
          <a:prstGeom prst="rect">
            <a:avLst/>
          </a:prstGeom>
          <a:noFill/>
          <a:ln/>
        </p:spPr>
        <p:txBody>
          <a:bodyPr wrap="square" rtlCol="0" anchor="ctr"/>
          <a:lstStyle/>
          <a:p>
            <a:pPr marL="0" indent="0">
              <a:buNone/>
            </a:pPr>
            <a:r>
              <a:rPr lang="en-US" sz="2200" b="1" dirty="0">
                <a:solidFill>
                  <a:srgbClr val="0B7A5F"/>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1097280" y="3401568"/>
            <a:ext cx="7498080" cy="40233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¿El argumento ejecutivo que construyeron resistiría una junta directiva exigente — y qué le ajustarían?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C3557"/>
        </a:solidFill>
        <a:effectLst/>
      </p:bgPr>
    </p:bg>
    <p:spTree>
      <p:nvGrpSpPr>
        <p:cNvPr id="1" name=""/>
        <p:cNvGrpSpPr/>
        <p:nvPr/>
      </p:nvGrpSpPr>
      <p:grpSpPr>
        <a:xfrm>
          <a:off x="0" y="0"/>
          <a:ext cx="0" cy="0"/>
          <a:chOff x="0" y="0"/>
          <a:chExt cx="0" cy="0"/>
        </a:xfrm>
      </p:grpSpPr>
      <p:sp>
        <p:nvSpPr>
          <p:cNvPr id="2" name="Text 0"/>
          <p:cNvSpPr/>
          <p:nvPr/>
        </p:nvSpPr>
        <p:spPr>
          <a:xfrm>
            <a:off x="457200" y="1554480"/>
            <a:ext cx="8229600" cy="54864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RECESO — 15 MINUTOS</a:t>
            </a:r>
            <a:endParaRPr lang="en-US" sz="3200" dirty="0"/>
          </a:p>
        </p:txBody>
      </p:sp>
      <p:sp>
        <p:nvSpPr>
          <p:cNvPr id="3" name="Text 1"/>
          <p:cNvSpPr/>
          <p:nvPr/>
        </p:nvSpPr>
        <p:spPr>
          <a:xfrm>
            <a:off x="457200" y="2331720"/>
            <a:ext cx="8229600" cy="502920"/>
          </a:xfrm>
          <a:prstGeom prst="rect">
            <a:avLst/>
          </a:prstGeom>
          <a:noFill/>
          <a:ln/>
        </p:spPr>
        <p:txBody>
          <a:bodyPr wrap="square" rtlCol="0" anchor="ctr"/>
          <a:lstStyle/>
          <a:p>
            <a:pPr marL="0" indent="0" algn="ctr">
              <a:lnSpc>
                <a:spcPct val="130000"/>
              </a:lnSpc>
              <a:buNone/>
            </a:pPr>
            <a:r>
              <a:rPr lang="en-US" sz="1500" i="1" dirty="0">
                <a:solidFill>
                  <a:srgbClr val="C4B5FD"/>
                </a:solidFill>
                <a:latin typeface="Calibri" pitchFamily="34" charset="0"/>
                <a:ea typeface="Calibri" pitchFamily="34" charset="-122"/>
                <a:cs typeface="Calibri" pitchFamily="34" charset="-120"/>
              </a:rPr>
              <a:t>Para la síntesis: lo que acaban de hacer tiene un nombre en gobierno de TI.</a:t>
            </a:r>
            <a:endParaRPr lang="en-US" sz="1500" dirty="0"/>
          </a:p>
        </p:txBody>
      </p:sp>
      <p:sp>
        <p:nvSpPr>
          <p:cNvPr id="4" name="Text 2"/>
          <p:cNvSpPr/>
          <p:nvPr/>
        </p:nvSpPr>
        <p:spPr>
          <a:xfrm>
            <a:off x="457200" y="2971800"/>
            <a:ext cx="8229600" cy="365760"/>
          </a:xfrm>
          <a:prstGeom prst="rect">
            <a:avLst/>
          </a:prstGeom>
          <a:noFill/>
          <a:ln/>
        </p:spPr>
        <p:txBody>
          <a:bodyPr wrap="square" rtlCol="0" anchor="ctr"/>
          <a:lstStyle/>
          <a:p>
            <a:pPr marL="0" indent="0" algn="ctr">
              <a:buNone/>
            </a:pPr>
            <a:r>
              <a:rPr lang="en-US" sz="1300" i="1" dirty="0">
                <a:solidFill>
                  <a:srgbClr val="9CA3AF"/>
                </a:solidFill>
                <a:latin typeface="Calibri" pitchFamily="34" charset="0"/>
                <a:ea typeface="Calibri" pitchFamily="34" charset="-122"/>
                <a:cs typeface="Calibri" pitchFamily="34" charset="-120"/>
              </a:rPr>
              <a:t>¿Quién en su organización tiene hoy el mandato de aprobar, supervisar y suspender el uso de IA?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C3557"/>
        </a:solidFill>
        <a:effectLst/>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7C3AED">
              <a:alpha val="20000"/>
            </a:srgbClr>
          </a:solidFill>
          <a:ln w="12700">
            <a:solidFill>
              <a:srgbClr val="7C3AED">
                <a:alpha val="0"/>
              </a:srgbClr>
            </a:solidFill>
            <a:prstDash val="solid"/>
          </a:ln>
        </p:spPr>
        <p:txBody>
          <a:bodyPr/>
          <a:lstStyle/>
          <a:p>
            <a:endParaRPr lang="es-CO"/>
          </a:p>
        </p:txBody>
      </p:sp>
      <p:sp>
        <p:nvSpPr>
          <p:cNvPr id="3" name="Text 1"/>
          <p:cNvSpPr/>
          <p:nvPr/>
        </p:nvSpPr>
        <p:spPr>
          <a:xfrm>
            <a:off x="457200" y="201168"/>
            <a:ext cx="8229600" cy="320040"/>
          </a:xfrm>
          <a:prstGeom prst="rect">
            <a:avLst/>
          </a:prstGeom>
          <a:noFill/>
          <a:ln/>
        </p:spPr>
        <p:txBody>
          <a:bodyPr wrap="square" rtlCol="0" anchor="ctr"/>
          <a:lstStyle/>
          <a:p>
            <a:pPr marL="0" indent="0">
              <a:buNone/>
            </a:pPr>
            <a:r>
              <a:rPr lang="en-US" sz="900" b="1" kern="0" spc="200" dirty="0">
                <a:solidFill>
                  <a:srgbClr val="C4B5FD"/>
                </a:solidFill>
                <a:latin typeface="Calibri" pitchFamily="34" charset="0"/>
                <a:ea typeface="Calibri" pitchFamily="34" charset="-122"/>
                <a:cs typeface="Calibri" pitchFamily="34" charset="-120"/>
              </a:rPr>
              <a:t>GOBIERNO DE TI — LA SÍNTESIS</a:t>
            </a:r>
            <a:endParaRPr lang="en-US" sz="900" dirty="0"/>
          </a:p>
        </p:txBody>
      </p:sp>
      <p:sp>
        <p:nvSpPr>
          <p:cNvPr id="4" name="Text 2"/>
          <p:cNvSpPr/>
          <p:nvPr/>
        </p:nvSpPr>
        <p:spPr>
          <a:xfrm>
            <a:off x="457200" y="530352"/>
            <a:ext cx="8229600" cy="841248"/>
          </a:xfrm>
          <a:prstGeom prst="rect">
            <a:avLst/>
          </a:prstGeom>
          <a:noFill/>
          <a:ln/>
        </p:spPr>
        <p:txBody>
          <a:bodyPr wrap="square" rtlCol="0" anchor="ctr"/>
          <a:lstStyle/>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Lo que acaban de hacer en el ejercicio tiene estructura en gobierno de TI.</a:t>
            </a:r>
            <a:endParaRPr lang="en-US" sz="2400" dirty="0"/>
          </a:p>
        </p:txBody>
      </p:sp>
      <p:sp>
        <p:nvSpPr>
          <p:cNvPr id="5" name="Shape 3"/>
          <p:cNvSpPr/>
          <p:nvPr/>
        </p:nvSpPr>
        <p:spPr>
          <a:xfrm>
            <a:off x="365760" y="157276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6" name="Text 4"/>
          <p:cNvSpPr/>
          <p:nvPr/>
        </p:nvSpPr>
        <p:spPr>
          <a:xfrm>
            <a:off x="502920" y="160020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Evaluar la iniciativa y proyectar escenarios es EDM03: la organización define qué nivel de riesgo tecnológico está dispuesta a asumir — y quién tiene autoridad para hacerlo.</a:t>
            </a:r>
            <a:endParaRPr lang="en-US" sz="1200" dirty="0"/>
          </a:p>
        </p:txBody>
      </p:sp>
      <p:sp>
        <p:nvSpPr>
          <p:cNvPr id="7" name="Shape 5"/>
          <p:cNvSpPr/>
          <p:nvPr/>
        </p:nvSpPr>
        <p:spPr>
          <a:xfrm>
            <a:off x="365760" y="235000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8" name="Text 6"/>
          <p:cNvSpPr/>
          <p:nvPr/>
        </p:nvSpPr>
        <p:spPr>
          <a:xfrm>
            <a:off x="502920" y="237744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Identificar riesgos con dueño es APO12: gestión de riesgos con mandato formal — no como lista sino como estructura de responsabilidad.</a:t>
            </a:r>
            <a:endParaRPr lang="en-US" sz="1200" dirty="0"/>
          </a:p>
        </p:txBody>
      </p:sp>
      <p:sp>
        <p:nvSpPr>
          <p:cNvPr id="9" name="Shape 7"/>
          <p:cNvSpPr/>
          <p:nvPr/>
        </p:nvSpPr>
        <p:spPr>
          <a:xfrm>
            <a:off x="365760" y="312724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10" name="Text 8"/>
          <p:cNvSpPr/>
          <p:nvPr/>
        </p:nvSpPr>
        <p:spPr>
          <a:xfrm>
            <a:off x="502920" y="315468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El argumento ejecutivo es EDM01: la dirección toma decisiones con información suficiente, con criterios claros y rindiendo cuentas.</a:t>
            </a:r>
            <a:endParaRPr lang="en-US" sz="1200" dirty="0"/>
          </a:p>
        </p:txBody>
      </p:sp>
      <p:sp>
        <p:nvSpPr>
          <p:cNvPr id="11" name="Shape 9"/>
          <p:cNvSpPr/>
          <p:nvPr/>
        </p:nvSpPr>
        <p:spPr>
          <a:xfrm>
            <a:off x="365760" y="3904488"/>
            <a:ext cx="8412480" cy="621792"/>
          </a:xfrm>
          <a:prstGeom prst="rect">
            <a:avLst/>
          </a:prstGeom>
          <a:solidFill>
            <a:srgbClr val="FFFFFF">
              <a:alpha val="8000"/>
            </a:srgbClr>
          </a:solidFill>
          <a:ln w="12700">
            <a:solidFill>
              <a:srgbClr val="FFFFFF">
                <a:alpha val="20000"/>
              </a:srgbClr>
            </a:solidFill>
            <a:prstDash val="solid"/>
          </a:ln>
        </p:spPr>
        <p:txBody>
          <a:bodyPr/>
          <a:lstStyle/>
          <a:p>
            <a:endParaRPr lang="es-CO"/>
          </a:p>
        </p:txBody>
      </p:sp>
      <p:sp>
        <p:nvSpPr>
          <p:cNvPr id="12" name="Text 10"/>
          <p:cNvSpPr/>
          <p:nvPr/>
        </p:nvSpPr>
        <p:spPr>
          <a:xfrm>
            <a:off x="502920" y="3931920"/>
            <a:ext cx="8229600" cy="566928"/>
          </a:xfrm>
          <a:prstGeom prst="rect">
            <a:avLst/>
          </a:prstGeom>
          <a:noFill/>
          <a:ln/>
        </p:spPr>
        <p:txBody>
          <a:bodyPr wrap="square" rtlCol="0" anchor="ctr"/>
          <a:lstStyle/>
          <a:p>
            <a:pPr marL="0" indent="0">
              <a:lnSpc>
                <a:spcPct val="130000"/>
              </a:lnSpc>
              <a:buNone/>
            </a:pPr>
            <a:r>
              <a:rPr lang="en-US" sz="1200" dirty="0">
                <a:solidFill>
                  <a:srgbClr val="DDEEFF"/>
                </a:solidFill>
                <a:latin typeface="Calibri" pitchFamily="34" charset="0"/>
                <a:ea typeface="Calibri" pitchFamily="34" charset="-122"/>
                <a:cs typeface="Calibri" pitchFamily="34" charset="-120"/>
              </a:rPr>
              <a:t>→  La pregunta que cierra todo: ¿quién en su organización tiene hoy el mandato de APROBAR, SUPERVISAR y SUSPENDER el uso de IA — y ese mandato está formalizado?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GOBIERNO DE TI — COBIT</a:t>
            </a:r>
            <a:endParaRPr lang="en-US" sz="900" dirty="0"/>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1C3557"/>
                </a:solidFill>
                <a:latin typeface="Georgia" pitchFamily="34" charset="0"/>
                <a:ea typeface="Georgia" pitchFamily="34" charset="-122"/>
                <a:cs typeface="Georgia" pitchFamily="34" charset="-120"/>
              </a:rPr>
              <a:t>El gobierno de la IA requiere estructura antes de que algo falle.</a:t>
            </a:r>
            <a:endParaRPr lang="en-US" sz="2200" dirty="0"/>
          </a:p>
        </p:txBody>
      </p:sp>
      <p:sp>
        <p:nvSpPr>
          <p:cNvPr id="4" name="Shape 2"/>
          <p:cNvSpPr/>
          <p:nvPr/>
        </p:nvSpPr>
        <p:spPr>
          <a:xfrm>
            <a:off x="365760" y="1234440"/>
            <a:ext cx="8412480" cy="1234440"/>
          </a:xfrm>
          <a:prstGeom prst="rect">
            <a:avLst/>
          </a:prstGeom>
          <a:solidFill>
            <a:srgbClr val="7C3AED">
              <a:alpha val="12000"/>
            </a:srgbClr>
          </a:solidFill>
          <a:ln w="12700">
            <a:solidFill>
              <a:srgbClr val="7C3AED"/>
            </a:solidFill>
            <a:prstDash val="solid"/>
          </a:ln>
          <a:effectLst>
            <a:outerShdw blurRad="101600" dist="38100" dir="8100000" algn="bl" rotWithShape="0">
              <a:srgbClr val="000000">
                <a:alpha val="10000"/>
              </a:srgbClr>
            </a:outerShdw>
          </a:effectLst>
        </p:spPr>
        <p:txBody>
          <a:bodyPr/>
          <a:lstStyle/>
          <a:p>
            <a:endParaRPr lang="es-CO"/>
          </a:p>
        </p:txBody>
      </p:sp>
      <p:sp>
        <p:nvSpPr>
          <p:cNvPr id="5" name="Shape 3"/>
          <p:cNvSpPr/>
          <p:nvPr/>
        </p:nvSpPr>
        <p:spPr>
          <a:xfrm>
            <a:off x="365760" y="1234440"/>
            <a:ext cx="64008" cy="1234440"/>
          </a:xfrm>
          <a:prstGeom prst="rect">
            <a:avLst/>
          </a:prstGeom>
          <a:solidFill>
            <a:srgbClr val="7C3AED"/>
          </a:solidFill>
          <a:ln w="12700">
            <a:solidFill>
              <a:srgbClr val="7C3AED">
                <a:alpha val="0"/>
              </a:srgbClr>
            </a:solidFill>
            <a:prstDash val="solid"/>
          </a:ln>
        </p:spPr>
        <p:txBody>
          <a:bodyPr/>
          <a:lstStyle/>
          <a:p>
            <a:endParaRPr lang="es-CO"/>
          </a:p>
        </p:txBody>
      </p:sp>
      <p:sp>
        <p:nvSpPr>
          <p:cNvPr id="6" name="Text 4"/>
          <p:cNvSpPr/>
          <p:nvPr/>
        </p:nvSpPr>
        <p:spPr>
          <a:xfrm>
            <a:off x="548640" y="1298448"/>
            <a:ext cx="8229600" cy="347472"/>
          </a:xfrm>
          <a:prstGeom prst="rect">
            <a:avLst/>
          </a:prstGeom>
          <a:noFill/>
          <a:ln/>
        </p:spPr>
        <p:txBody>
          <a:bodyPr wrap="square" rtlCol="0" anchor="ctr"/>
          <a:lstStyle/>
          <a:p>
            <a:pPr marL="0" indent="0">
              <a:buNone/>
            </a:pPr>
            <a:r>
              <a:rPr lang="en-US" sz="1400" b="1" dirty="0">
                <a:solidFill>
                  <a:srgbClr val="7C3AED"/>
                </a:solidFill>
                <a:latin typeface="Georgia" pitchFamily="34" charset="0"/>
                <a:ea typeface="Georgia" pitchFamily="34" charset="-122"/>
                <a:cs typeface="Georgia" pitchFamily="34" charset="-120"/>
              </a:rPr>
              <a:t>EDM03  —  Optimización del Riesgo</a:t>
            </a:r>
            <a:endParaRPr lang="en-US" sz="1400" dirty="0"/>
          </a:p>
        </p:txBody>
      </p:sp>
      <p:sp>
        <p:nvSpPr>
          <p:cNvPr id="7" name="Text 5"/>
          <p:cNvSpPr/>
          <p:nvPr/>
        </p:nvSpPr>
        <p:spPr>
          <a:xfrm>
            <a:off x="548640" y="1691640"/>
            <a:ext cx="8138160" cy="658368"/>
          </a:xfrm>
          <a:prstGeom prst="rect">
            <a:avLst/>
          </a:prstGeom>
          <a:noFill/>
          <a:ln/>
        </p:spPr>
        <p:txBody>
          <a:bodyPr wrap="square" rtlCol="0" anchor="ctr"/>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La organización define qué nivel de riesgo tecnológico está dispuesta a asumir — y tiene la estructura para que ese criterio se cumpla. Aprobar, supervisar y suspender son responsabilidades con nombre y cargo asignado.</a:t>
            </a:r>
            <a:endParaRPr lang="en-US" sz="1100" dirty="0"/>
          </a:p>
        </p:txBody>
      </p:sp>
      <p:sp>
        <p:nvSpPr>
          <p:cNvPr id="8" name="Shape 6"/>
          <p:cNvSpPr/>
          <p:nvPr/>
        </p:nvSpPr>
        <p:spPr>
          <a:xfrm>
            <a:off x="365760" y="2697480"/>
            <a:ext cx="2651760" cy="2103120"/>
          </a:xfrm>
          <a:prstGeom prst="rect">
            <a:avLst/>
          </a:prstGeom>
          <a:solidFill>
            <a:srgbClr val="FFFFFF"/>
          </a:solidFill>
          <a:ln w="12700">
            <a:solidFill>
              <a:srgbClr val="1C3557"/>
            </a:solidFill>
            <a:prstDash val="solid"/>
          </a:ln>
          <a:effectLst>
            <a:outerShdw blurRad="101600" dist="38100" dir="8100000" algn="bl" rotWithShape="0">
              <a:srgbClr val="000000">
                <a:alpha val="10000"/>
              </a:srgbClr>
            </a:outerShdw>
          </a:effectLst>
        </p:spPr>
        <p:txBody>
          <a:bodyPr/>
          <a:lstStyle/>
          <a:p>
            <a:endParaRPr lang="es-CO"/>
          </a:p>
        </p:txBody>
      </p:sp>
      <p:sp>
        <p:nvSpPr>
          <p:cNvPr id="9" name="Shape 7"/>
          <p:cNvSpPr/>
          <p:nvPr/>
        </p:nvSpPr>
        <p:spPr>
          <a:xfrm>
            <a:off x="365760" y="2697480"/>
            <a:ext cx="2651760" cy="502920"/>
          </a:xfrm>
          <a:prstGeom prst="rect">
            <a:avLst/>
          </a:prstGeom>
          <a:solidFill>
            <a:srgbClr val="1C3557"/>
          </a:solidFill>
          <a:ln w="12700">
            <a:solidFill>
              <a:srgbClr val="1C3557">
                <a:alpha val="0"/>
              </a:srgbClr>
            </a:solidFill>
            <a:prstDash val="solid"/>
          </a:ln>
        </p:spPr>
        <p:txBody>
          <a:bodyPr/>
          <a:lstStyle/>
          <a:p>
            <a:endParaRPr lang="es-CO"/>
          </a:p>
        </p:txBody>
      </p:sp>
      <p:sp>
        <p:nvSpPr>
          <p:cNvPr id="10" name="Text 8"/>
          <p:cNvSpPr/>
          <p:nvPr/>
        </p:nvSpPr>
        <p:spPr>
          <a:xfrm>
            <a:off x="502920" y="2715768"/>
            <a:ext cx="2377440" cy="46634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APRUEBA</a:t>
            </a:r>
            <a:endParaRPr lang="en-US" sz="1300" dirty="0"/>
          </a:p>
        </p:txBody>
      </p:sp>
      <p:sp>
        <p:nvSpPr>
          <p:cNvPr id="11" name="Text 9"/>
          <p:cNvSpPr/>
          <p:nvPr/>
        </p:nvSpPr>
        <p:spPr>
          <a:xfrm>
            <a:off x="502920" y="3246120"/>
            <a:ext cx="2377440" cy="1417320"/>
          </a:xfrm>
          <a:prstGeom prst="rect">
            <a:avLst/>
          </a:prstGeom>
          <a:noFill/>
          <a:ln/>
        </p:spPr>
        <p:txBody>
          <a:bodyPr wrap="square" rtlCol="0" anchor="t"/>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Define qué IA puede operar, para qué procesos y bajo qué condiciones.</a:t>
            </a:r>
            <a:endParaRPr lang="en-US" sz="1100" dirty="0"/>
          </a:p>
        </p:txBody>
      </p:sp>
      <p:sp>
        <p:nvSpPr>
          <p:cNvPr id="12" name="Shape 10"/>
          <p:cNvSpPr/>
          <p:nvPr/>
        </p:nvSpPr>
        <p:spPr>
          <a:xfrm>
            <a:off x="3246120" y="2697480"/>
            <a:ext cx="2651760" cy="2103120"/>
          </a:xfrm>
          <a:prstGeom prst="rect">
            <a:avLst/>
          </a:prstGeom>
          <a:solidFill>
            <a:srgbClr val="FFFFFF"/>
          </a:solidFill>
          <a:ln w="12700">
            <a:solidFill>
              <a:srgbClr val="0B7A5F"/>
            </a:solidFill>
            <a:prstDash val="solid"/>
          </a:ln>
          <a:effectLst>
            <a:outerShdw blurRad="101600" dist="38100" dir="8100000" algn="bl" rotWithShape="0">
              <a:srgbClr val="000000">
                <a:alpha val="10000"/>
              </a:srgbClr>
            </a:outerShdw>
          </a:effectLst>
        </p:spPr>
        <p:txBody>
          <a:bodyPr/>
          <a:lstStyle/>
          <a:p>
            <a:endParaRPr lang="es-CO"/>
          </a:p>
        </p:txBody>
      </p:sp>
      <p:sp>
        <p:nvSpPr>
          <p:cNvPr id="13" name="Shape 11"/>
          <p:cNvSpPr/>
          <p:nvPr/>
        </p:nvSpPr>
        <p:spPr>
          <a:xfrm>
            <a:off x="3246120" y="2697480"/>
            <a:ext cx="2651760" cy="502920"/>
          </a:xfrm>
          <a:prstGeom prst="rect">
            <a:avLst/>
          </a:prstGeom>
          <a:solidFill>
            <a:srgbClr val="0B7A5F"/>
          </a:solidFill>
          <a:ln w="12700">
            <a:solidFill>
              <a:srgbClr val="0B7A5F">
                <a:alpha val="0"/>
              </a:srgbClr>
            </a:solidFill>
            <a:prstDash val="solid"/>
          </a:ln>
        </p:spPr>
        <p:txBody>
          <a:bodyPr/>
          <a:lstStyle/>
          <a:p>
            <a:endParaRPr lang="es-CO"/>
          </a:p>
        </p:txBody>
      </p:sp>
      <p:sp>
        <p:nvSpPr>
          <p:cNvPr id="14" name="Text 12"/>
          <p:cNvSpPr/>
          <p:nvPr/>
        </p:nvSpPr>
        <p:spPr>
          <a:xfrm>
            <a:off x="3383280" y="2715768"/>
            <a:ext cx="2377440" cy="46634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SUPERVISA</a:t>
            </a:r>
            <a:endParaRPr lang="en-US" sz="1300" dirty="0"/>
          </a:p>
        </p:txBody>
      </p:sp>
      <p:sp>
        <p:nvSpPr>
          <p:cNvPr id="15" name="Text 13"/>
          <p:cNvSpPr/>
          <p:nvPr/>
        </p:nvSpPr>
        <p:spPr>
          <a:xfrm>
            <a:off x="3383280" y="3246120"/>
            <a:ext cx="2377440" cy="1417320"/>
          </a:xfrm>
          <a:prstGeom prst="rect">
            <a:avLst/>
          </a:prstGeom>
          <a:noFill/>
          <a:ln/>
        </p:spPr>
        <p:txBody>
          <a:bodyPr wrap="square" rtlCol="0" anchor="t"/>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Verifica periódicamente que la IA opera dentro de los límites definidos.</a:t>
            </a:r>
            <a:endParaRPr lang="en-US" sz="1100" dirty="0"/>
          </a:p>
        </p:txBody>
      </p:sp>
      <p:sp>
        <p:nvSpPr>
          <p:cNvPr id="16" name="Shape 14"/>
          <p:cNvSpPr/>
          <p:nvPr/>
        </p:nvSpPr>
        <p:spPr>
          <a:xfrm>
            <a:off x="6126480" y="2697480"/>
            <a:ext cx="2651760" cy="2103120"/>
          </a:xfrm>
          <a:prstGeom prst="rect">
            <a:avLst/>
          </a:prstGeom>
          <a:solidFill>
            <a:srgbClr val="FFFFFF"/>
          </a:solidFill>
          <a:ln w="12700">
            <a:solidFill>
              <a:srgbClr val="7C3AED"/>
            </a:solidFill>
            <a:prstDash val="solid"/>
          </a:ln>
          <a:effectLst>
            <a:outerShdw blurRad="101600" dist="38100" dir="8100000" algn="bl" rotWithShape="0">
              <a:srgbClr val="000000">
                <a:alpha val="10000"/>
              </a:srgbClr>
            </a:outerShdw>
          </a:effectLst>
        </p:spPr>
        <p:txBody>
          <a:bodyPr/>
          <a:lstStyle/>
          <a:p>
            <a:endParaRPr lang="es-CO"/>
          </a:p>
        </p:txBody>
      </p:sp>
      <p:sp>
        <p:nvSpPr>
          <p:cNvPr id="17" name="Shape 15"/>
          <p:cNvSpPr/>
          <p:nvPr/>
        </p:nvSpPr>
        <p:spPr>
          <a:xfrm>
            <a:off x="6126480" y="2697480"/>
            <a:ext cx="2651760" cy="502920"/>
          </a:xfrm>
          <a:prstGeom prst="rect">
            <a:avLst/>
          </a:prstGeom>
          <a:solidFill>
            <a:srgbClr val="7C3AED"/>
          </a:solidFill>
          <a:ln w="12700">
            <a:solidFill>
              <a:srgbClr val="7C3AED">
                <a:alpha val="0"/>
              </a:srgbClr>
            </a:solidFill>
            <a:prstDash val="solid"/>
          </a:ln>
        </p:spPr>
        <p:txBody>
          <a:bodyPr/>
          <a:lstStyle/>
          <a:p>
            <a:endParaRPr lang="es-CO"/>
          </a:p>
        </p:txBody>
      </p:sp>
      <p:sp>
        <p:nvSpPr>
          <p:cNvPr id="18" name="Text 16"/>
          <p:cNvSpPr/>
          <p:nvPr/>
        </p:nvSpPr>
        <p:spPr>
          <a:xfrm>
            <a:off x="6263640" y="2715768"/>
            <a:ext cx="2377440" cy="46634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SUSPENDE</a:t>
            </a:r>
            <a:endParaRPr lang="en-US" sz="1300" dirty="0"/>
          </a:p>
        </p:txBody>
      </p:sp>
      <p:sp>
        <p:nvSpPr>
          <p:cNvPr id="19" name="Text 17"/>
          <p:cNvSpPr/>
          <p:nvPr/>
        </p:nvSpPr>
        <p:spPr>
          <a:xfrm>
            <a:off x="6263640" y="3246120"/>
            <a:ext cx="2377440" cy="1417320"/>
          </a:xfrm>
          <a:prstGeom prst="rect">
            <a:avLst/>
          </a:prstGeom>
          <a:noFill/>
          <a:ln/>
        </p:spPr>
        <p:txBody>
          <a:bodyPr wrap="square" rtlCol="0" anchor="t"/>
          <a:lstStyle/>
          <a:p>
            <a:pPr marL="0" indent="0">
              <a:lnSpc>
                <a:spcPct val="140000"/>
              </a:lnSpc>
              <a:buNone/>
            </a:pPr>
            <a:r>
              <a:rPr lang="en-US" sz="1100" dirty="0">
                <a:solidFill>
                  <a:srgbClr val="6B7280"/>
                </a:solidFill>
                <a:latin typeface="Calibri" pitchFamily="34" charset="0"/>
                <a:ea typeface="Calibri" pitchFamily="34" charset="-122"/>
                <a:cs typeface="Calibri" pitchFamily="34" charset="-120"/>
              </a:rPr>
              <a:t>Tiene la autoridad y el mandato de detener la IA si algo </a:t>
            </a:r>
            <a:r>
              <a:rPr lang="en-US" sz="1100" dirty="0" err="1">
                <a:solidFill>
                  <a:srgbClr val="6B7280"/>
                </a:solidFill>
                <a:latin typeface="Calibri" pitchFamily="34" charset="0"/>
                <a:ea typeface="Calibri" pitchFamily="34" charset="-122"/>
                <a:cs typeface="Calibri" pitchFamily="34" charset="-120"/>
              </a:rPr>
              <a:t>falla</a:t>
            </a:r>
            <a:r>
              <a:rPr lang="en-US" sz="1100" dirty="0">
                <a:solidFill>
                  <a:srgbClr val="6B7280"/>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58D84-6E93-FF4D-3824-3FB0C0827CB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FE1FB84-93DD-B617-2BE0-15334D94EBCE}"/>
              </a:ext>
            </a:extLst>
          </p:cNvPr>
          <p:cNvGrpSpPr/>
          <p:nvPr/>
        </p:nvGrpSpPr>
        <p:grpSpPr>
          <a:xfrm>
            <a:off x="4346154" y="-4763"/>
            <a:ext cx="4797847" cy="5283091"/>
            <a:chOff x="0" y="0"/>
            <a:chExt cx="3160185" cy="3479800"/>
          </a:xfrm>
        </p:grpSpPr>
        <p:sp>
          <p:nvSpPr>
            <p:cNvPr id="3" name="Freeform 3">
              <a:extLst>
                <a:ext uri="{FF2B5EF4-FFF2-40B4-BE49-F238E27FC236}">
                  <a16:creationId xmlns:a16="http://schemas.microsoft.com/office/drawing/2014/main" id="{5A3DBC72-28A7-1217-56DB-04E9F62700A4}"/>
                </a:ext>
              </a:extLst>
            </p:cNvPr>
            <p:cNvSpPr/>
            <p:nvPr/>
          </p:nvSpPr>
          <p:spPr>
            <a:xfrm>
              <a:off x="0" y="0"/>
              <a:ext cx="3160185" cy="3479800"/>
            </a:xfrm>
            <a:custGeom>
              <a:avLst/>
              <a:gdLst/>
              <a:ahLst/>
              <a:cxnLst/>
              <a:rect l="l" t="t" r="r" b="b"/>
              <a:pathLst>
                <a:path w="3160185" h="3479800">
                  <a:moveTo>
                    <a:pt x="0" y="0"/>
                  </a:moveTo>
                  <a:lnTo>
                    <a:pt x="3160185" y="0"/>
                  </a:lnTo>
                  <a:lnTo>
                    <a:pt x="3160185" y="3479800"/>
                  </a:lnTo>
                  <a:lnTo>
                    <a:pt x="0" y="3479800"/>
                  </a:lnTo>
                  <a:close/>
                </a:path>
              </a:pathLst>
            </a:custGeom>
            <a:solidFill>
              <a:srgbClr val="EDEDED"/>
            </a:solidFill>
          </p:spPr>
          <p:txBody>
            <a:bodyPr/>
            <a:lstStyle/>
            <a:p>
              <a:pPr defTabSz="457200">
                <a:defRPr/>
              </a:pPr>
              <a:endParaRPr lang="es-CO" sz="900" dirty="0">
                <a:solidFill>
                  <a:prstClr val="black"/>
                </a:solidFill>
                <a:latin typeface="Aptos" panose="02110004020202020204"/>
              </a:endParaRPr>
            </a:p>
          </p:txBody>
        </p:sp>
      </p:grpSp>
      <p:sp>
        <p:nvSpPr>
          <p:cNvPr id="6" name="TextBox 6">
            <a:extLst>
              <a:ext uri="{FF2B5EF4-FFF2-40B4-BE49-F238E27FC236}">
                <a16:creationId xmlns:a16="http://schemas.microsoft.com/office/drawing/2014/main" id="{0DD91E28-033F-4DF0-D170-5B2EAE06D1C9}"/>
              </a:ext>
            </a:extLst>
          </p:cNvPr>
          <p:cNvSpPr txBox="1"/>
          <p:nvPr/>
        </p:nvSpPr>
        <p:spPr>
          <a:xfrm>
            <a:off x="223113" y="735546"/>
            <a:ext cx="3848100" cy="2861168"/>
          </a:xfrm>
          <a:prstGeom prst="rect">
            <a:avLst/>
          </a:prstGeom>
        </p:spPr>
        <p:txBody>
          <a:bodyPr wrap="square" lIns="0" tIns="0" rIns="0" bIns="0" rtlCol="0" anchor="t">
            <a:spAutoFit/>
          </a:bodyPr>
          <a:lstStyle/>
          <a:p>
            <a:pPr algn="ctr" defTabSz="457200">
              <a:lnSpc>
                <a:spcPts val="2490"/>
              </a:lnSpc>
              <a:defRPr/>
            </a:pPr>
            <a:r>
              <a:rPr lang="es-CO" sz="2000" dirty="0">
                <a:solidFill>
                  <a:srgbClr val="E8E8E8"/>
                </a:solidFill>
                <a:latin typeface="Century Gothic" panose="020B0502020202020204" pitchFamily="34" charset="0"/>
              </a:rPr>
              <a:t>Empecemos por identificar nuestro punto de partida. </a:t>
            </a:r>
          </a:p>
          <a:p>
            <a:pPr algn="ctr" defTabSz="457200">
              <a:lnSpc>
                <a:spcPts val="2490"/>
              </a:lnSpc>
              <a:defRPr/>
            </a:pPr>
            <a:endParaRPr lang="es-CO" sz="2000" dirty="0">
              <a:solidFill>
                <a:srgbClr val="E8E8E8"/>
              </a:solidFill>
              <a:latin typeface="Century Gothic" panose="020B0502020202020204" pitchFamily="34" charset="0"/>
            </a:endParaRPr>
          </a:p>
          <a:p>
            <a:pPr algn="ctr" defTabSz="457200">
              <a:lnSpc>
                <a:spcPts val="2490"/>
              </a:lnSpc>
              <a:defRPr/>
            </a:pPr>
            <a:r>
              <a:rPr lang="es-CO" sz="2000" dirty="0">
                <a:solidFill>
                  <a:srgbClr val="E8E8E8"/>
                </a:solidFill>
                <a:latin typeface="Century Gothic" panose="020B0502020202020204" pitchFamily="34" charset="0"/>
              </a:rPr>
              <a:t>Respondan el cuestionario que encuentran en el QR.</a:t>
            </a:r>
          </a:p>
          <a:p>
            <a:pPr algn="ctr" defTabSz="457200">
              <a:lnSpc>
                <a:spcPts val="2490"/>
              </a:lnSpc>
              <a:defRPr/>
            </a:pPr>
            <a:endParaRPr lang="es-CO" sz="2000" dirty="0">
              <a:solidFill>
                <a:srgbClr val="E8E8E8"/>
              </a:solidFill>
              <a:latin typeface="Century Gothic" panose="020B0502020202020204" pitchFamily="34" charset="0"/>
            </a:endParaRPr>
          </a:p>
          <a:p>
            <a:pPr algn="ctr" defTabSz="457200">
              <a:lnSpc>
                <a:spcPts val="2490"/>
              </a:lnSpc>
              <a:defRPr/>
            </a:pPr>
            <a:r>
              <a:rPr lang="es-CO" sz="2000" dirty="0">
                <a:solidFill>
                  <a:srgbClr val="E8E8E8"/>
                </a:solidFill>
                <a:latin typeface="Century Gothic" panose="020B0502020202020204" pitchFamily="34" charset="0"/>
              </a:rPr>
              <a:t>Respondan individualmente, </a:t>
            </a:r>
          </a:p>
          <a:p>
            <a:pPr algn="ctr" defTabSz="457200">
              <a:lnSpc>
                <a:spcPts val="2490"/>
              </a:lnSpc>
              <a:defRPr/>
            </a:pPr>
            <a:endParaRPr lang="es-CO" sz="2000" b="1" dirty="0">
              <a:solidFill>
                <a:srgbClr val="E8E8E8"/>
              </a:solidFill>
              <a:latin typeface="Century Gothic" panose="020B0502020202020204" pitchFamily="34" charset="0"/>
            </a:endParaRPr>
          </a:p>
          <a:p>
            <a:pPr algn="ctr" defTabSz="457200">
              <a:lnSpc>
                <a:spcPts val="2490"/>
              </a:lnSpc>
              <a:defRPr/>
            </a:pPr>
            <a:r>
              <a:rPr lang="es-CO" sz="2000" b="1" dirty="0">
                <a:solidFill>
                  <a:srgbClr val="E8E8E8"/>
                </a:solidFill>
                <a:latin typeface="Century Gothic" panose="020B0502020202020204" pitchFamily="34" charset="0"/>
              </a:rPr>
              <a:t>20 minutos</a:t>
            </a:r>
          </a:p>
        </p:txBody>
      </p:sp>
      <p:pic>
        <p:nvPicPr>
          <p:cNvPr id="4" name="Imagen 3">
            <a:extLst>
              <a:ext uri="{FF2B5EF4-FFF2-40B4-BE49-F238E27FC236}">
                <a16:creationId xmlns:a16="http://schemas.microsoft.com/office/drawing/2014/main" id="{DDE29AF9-D74B-A74A-EF0A-7F9A73243614}"/>
              </a:ext>
            </a:extLst>
          </p:cNvPr>
          <p:cNvPicPr>
            <a:picLocks noChangeAspect="1"/>
          </p:cNvPicPr>
          <p:nvPr/>
        </p:nvPicPr>
        <p:blipFill>
          <a:blip r:embed="rId2"/>
          <a:stretch>
            <a:fillRect/>
          </a:stretch>
        </p:blipFill>
        <p:spPr>
          <a:xfrm>
            <a:off x="4783015" y="731777"/>
            <a:ext cx="3697839" cy="3656445"/>
          </a:xfrm>
          <a:prstGeom prst="rect">
            <a:avLst/>
          </a:prstGeom>
        </p:spPr>
      </p:pic>
    </p:spTree>
    <p:extLst>
      <p:ext uri="{BB962C8B-B14F-4D97-AF65-F5344CB8AC3E}">
        <p14:creationId xmlns:p14="http://schemas.microsoft.com/office/powerpoint/2010/main" val="545869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5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B21B6"/>
          </a:solidFill>
          <a:ln w="12700">
            <a:solidFill>
              <a:srgbClr val="5B21B6">
                <a:alpha val="0"/>
              </a:srgbClr>
            </a:solidFill>
            <a:prstDash val="solid"/>
          </a:ln>
        </p:spPr>
        <p:txBody>
          <a:bodyPr/>
          <a:lstStyle/>
          <a:p>
            <a:endParaRPr lang="es-CO"/>
          </a:p>
        </p:txBody>
      </p:sp>
      <p:sp>
        <p:nvSpPr>
          <p:cNvPr id="3" name="Text 1"/>
          <p:cNvSpPr/>
          <p:nvPr/>
        </p:nvSpPr>
        <p:spPr>
          <a:xfrm>
            <a:off x="457200" y="274320"/>
            <a:ext cx="8229600" cy="320040"/>
          </a:xfrm>
          <a:prstGeom prst="rect">
            <a:avLst/>
          </a:prstGeom>
          <a:noFill/>
          <a:ln/>
        </p:spPr>
        <p:txBody>
          <a:bodyPr wrap="square" rtlCol="0" anchor="ctr"/>
          <a:lstStyle/>
          <a:p>
            <a:pPr marL="0" indent="0">
              <a:buNone/>
            </a:pPr>
            <a:r>
              <a:rPr lang="en-US" sz="900" b="1" kern="0" spc="200" dirty="0">
                <a:solidFill>
                  <a:srgbClr val="6D28D9"/>
                </a:solidFill>
                <a:latin typeface="Calibri" pitchFamily="34" charset="0"/>
                <a:ea typeface="Calibri" pitchFamily="34" charset="-122"/>
                <a:cs typeface="Calibri" pitchFamily="34" charset="-120"/>
              </a:rPr>
              <a:t>EL GIRO — DE LA ORGANIZACIÓN A SU ÁREA</a:t>
            </a:r>
            <a:endParaRPr lang="en-US" sz="900" dirty="0"/>
          </a:p>
        </p:txBody>
      </p:sp>
      <p:sp>
        <p:nvSpPr>
          <p:cNvPr id="4" name="Text 2"/>
          <p:cNvSpPr/>
          <p:nvPr/>
        </p:nvSpPr>
        <p:spPr>
          <a:xfrm>
            <a:off x="457200" y="594360"/>
            <a:ext cx="8229600" cy="457200"/>
          </a:xfrm>
          <a:prstGeom prst="rect">
            <a:avLst/>
          </a:prstGeom>
          <a:noFill/>
          <a:ln/>
        </p:spPr>
        <p:txBody>
          <a:bodyPr wrap="square" rtlCol="0" anchor="ctr"/>
          <a:lstStyle/>
          <a:p>
            <a:pPr marL="0" indent="0">
              <a:buNone/>
            </a:pPr>
            <a:r>
              <a:rPr lang="en-US" sz="2200" b="1" dirty="0">
                <a:solidFill>
                  <a:srgbClr val="3B1F6E"/>
                </a:solidFill>
                <a:latin typeface="Georgia" pitchFamily="34" charset="0"/>
                <a:ea typeface="Georgia" pitchFamily="34" charset="-122"/>
                <a:cs typeface="Georgia" pitchFamily="34" charset="-120"/>
              </a:rPr>
              <a:t>Mi plan de 90 días — con IAna</a:t>
            </a:r>
            <a:endParaRPr lang="en-US" sz="2200" dirty="0"/>
          </a:p>
        </p:txBody>
      </p:sp>
      <p:sp>
        <p:nvSpPr>
          <p:cNvPr id="5" name="Shape 3"/>
          <p:cNvSpPr/>
          <p:nvPr/>
        </p:nvSpPr>
        <p:spPr>
          <a:xfrm>
            <a:off x="365760" y="1188720"/>
            <a:ext cx="8412480" cy="2546252"/>
          </a:xfrm>
          <a:prstGeom prst="rect">
            <a:avLst/>
          </a:prstGeom>
          <a:solidFill>
            <a:srgbClr val="FFFFFF"/>
          </a:solidFill>
          <a:ln w="12700">
            <a:solidFill>
              <a:srgbClr val="DDD6FE"/>
            </a:solidFill>
            <a:prstDash val="solid"/>
          </a:ln>
          <a:effectLst>
            <a:outerShdw blurRad="101600" dist="38100" dir="8100000" algn="bl" rotWithShape="0">
              <a:srgbClr val="000000">
                <a:alpha val="10000"/>
              </a:srgbClr>
            </a:outerShdw>
          </a:effectLst>
        </p:spPr>
        <p:txBody>
          <a:bodyPr/>
          <a:lstStyle/>
          <a:p>
            <a:endParaRPr lang="es-CO"/>
          </a:p>
        </p:txBody>
      </p:sp>
      <p:sp>
        <p:nvSpPr>
          <p:cNvPr id="6" name="Text 4"/>
          <p:cNvSpPr/>
          <p:nvPr/>
        </p:nvSpPr>
        <p:spPr>
          <a:xfrm>
            <a:off x="548640" y="2027506"/>
            <a:ext cx="8046720" cy="868680"/>
          </a:xfrm>
          <a:prstGeom prst="rect">
            <a:avLst/>
          </a:prstGeom>
          <a:noFill/>
          <a:ln/>
        </p:spPr>
        <p:txBody>
          <a:bodyPr wrap="square" rtlCol="0" anchor="ctr"/>
          <a:lstStyle/>
          <a:p>
            <a:pPr>
              <a:lnSpc>
                <a:spcPct val="140000"/>
              </a:lnSpc>
            </a:pPr>
            <a:r>
              <a:rPr lang="en-US" sz="1100" i="1" dirty="0">
                <a:solidFill>
                  <a:srgbClr val="4C1D95"/>
                </a:solidFill>
                <a:latin typeface="Calibri" pitchFamily="34" charset="0"/>
                <a:ea typeface="Calibri" pitchFamily="34" charset="-122"/>
                <a:cs typeface="Calibri" pitchFamily="34" charset="-120"/>
              </a:rPr>
              <a:t>" Soy [</a:t>
            </a:r>
            <a:r>
              <a:rPr lang="en-US" sz="1100" i="1" dirty="0" err="1">
                <a:solidFill>
                  <a:srgbClr val="4C1D95"/>
                </a:solidFill>
                <a:latin typeface="Calibri" pitchFamily="34" charset="0"/>
                <a:ea typeface="Calibri" pitchFamily="34" charset="-122"/>
                <a:cs typeface="Calibri" pitchFamily="34" charset="-120"/>
              </a:rPr>
              <a:t>su</a:t>
            </a:r>
            <a:r>
              <a:rPr lang="en-US" sz="1100" i="1" dirty="0">
                <a:solidFill>
                  <a:srgbClr val="4C1D95"/>
                </a:solidFill>
                <a:latin typeface="Calibri" pitchFamily="34" charset="0"/>
                <a:ea typeface="Calibri" pitchFamily="34" charset="-122"/>
                <a:cs typeface="Calibri" pitchFamily="34" charset="-120"/>
              </a:rPr>
              <a:t> cargo]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tipo</a:t>
            </a:r>
            <a:r>
              <a:rPr lang="en-US" sz="1100" i="1" dirty="0">
                <a:solidFill>
                  <a:srgbClr val="4C1D95"/>
                </a:solidFill>
                <a:latin typeface="Calibri" pitchFamily="34" charset="0"/>
                <a:ea typeface="Calibri" pitchFamily="34" charset="-122"/>
                <a:cs typeface="Calibri" pitchFamily="34" charset="-120"/>
              </a:rPr>
              <a:t> de </a:t>
            </a:r>
            <a:r>
              <a:rPr lang="en-US" sz="1100" i="1" dirty="0" err="1">
                <a:solidFill>
                  <a:srgbClr val="4C1D95"/>
                </a:solidFill>
                <a:latin typeface="Calibri" pitchFamily="34" charset="0"/>
                <a:ea typeface="Calibri" pitchFamily="34" charset="-122"/>
                <a:cs typeface="Calibri" pitchFamily="34" charset="-120"/>
              </a:rPr>
              <a:t>organización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Después</a:t>
            </a:r>
            <a:r>
              <a:rPr lang="en-US" sz="1100" i="1" dirty="0">
                <a:solidFill>
                  <a:srgbClr val="4C1D95"/>
                </a:solidFill>
                <a:latin typeface="Calibri" pitchFamily="34" charset="0"/>
                <a:ea typeface="Calibri" pitchFamily="34" charset="-122"/>
                <a:cs typeface="Calibri" pitchFamily="34" charset="-120"/>
              </a:rPr>
              <a:t> de </a:t>
            </a:r>
            <a:r>
              <a:rPr lang="en-US" sz="1100" i="1" dirty="0" err="1">
                <a:solidFill>
                  <a:srgbClr val="4C1D95"/>
                </a:solidFill>
                <a:latin typeface="Calibri" pitchFamily="34" charset="0"/>
                <a:ea typeface="Calibri" pitchFamily="34" charset="-122"/>
                <a:cs typeface="Calibri" pitchFamily="34" charset="-120"/>
              </a:rPr>
              <a:t>este</a:t>
            </a:r>
            <a:r>
              <a:rPr lang="en-US" sz="1100" i="1" dirty="0">
                <a:solidFill>
                  <a:srgbClr val="4C1D95"/>
                </a:solidFill>
                <a:latin typeface="Calibri" pitchFamily="34" charset="0"/>
                <a:ea typeface="Calibri" pitchFamily="34" charset="-122"/>
                <a:cs typeface="Calibri" pitchFamily="34" charset="-120"/>
              </a:rPr>
              <a:t> taller </a:t>
            </a:r>
            <a:r>
              <a:rPr lang="en-US" sz="1100" i="1" dirty="0" err="1">
                <a:solidFill>
                  <a:srgbClr val="4C1D95"/>
                </a:solidFill>
                <a:latin typeface="Calibri" pitchFamily="34" charset="0"/>
                <a:ea typeface="Calibri" pitchFamily="34" charset="-122"/>
                <a:cs typeface="Calibri" pitchFamily="34" charset="-120"/>
              </a:rPr>
              <a:t>identifiqué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mi </a:t>
            </a:r>
            <a:r>
              <a:rPr lang="en-US" sz="1100" i="1" dirty="0" err="1">
                <a:solidFill>
                  <a:srgbClr val="4C1D95"/>
                </a:solidFill>
                <a:latin typeface="Calibri" pitchFamily="34" charset="0"/>
                <a:ea typeface="Calibri" pitchFamily="34" charset="-122"/>
                <a:cs typeface="Calibri" pitchFamily="34" charset="-120"/>
              </a:rPr>
              <a:t>área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describa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el</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problema</a:t>
            </a:r>
            <a:r>
              <a:rPr lang="en-US" sz="1100" i="1" dirty="0">
                <a:solidFill>
                  <a:srgbClr val="4C1D95"/>
                </a:solidFill>
                <a:latin typeface="Calibri" pitchFamily="34" charset="0"/>
                <a:ea typeface="Calibri" pitchFamily="34" charset="-122"/>
                <a:cs typeface="Calibri" pitchFamily="34" charset="-120"/>
              </a:rPr>
              <a:t> o la </a:t>
            </a:r>
            <a:r>
              <a:rPr lang="en-US" sz="1100" i="1" dirty="0" err="1">
                <a:solidFill>
                  <a:srgbClr val="4C1D95"/>
                </a:solidFill>
                <a:latin typeface="Calibri" pitchFamily="34" charset="0"/>
                <a:ea typeface="Calibri" pitchFamily="34" charset="-122"/>
                <a:cs typeface="Calibri" pitchFamily="34" charset="-120"/>
              </a:rPr>
              <a:t>oportunidad</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Quiero</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implementar</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una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acción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concreta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los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próximos</a:t>
            </a:r>
            <a:r>
              <a:rPr lang="en-US" sz="1100" i="1" dirty="0">
                <a:solidFill>
                  <a:srgbClr val="4C1D95"/>
                </a:solidFill>
                <a:latin typeface="Calibri" pitchFamily="34" charset="0"/>
                <a:ea typeface="Calibri" pitchFamily="34" charset="-122"/>
                <a:cs typeface="Calibri" pitchFamily="34" charset="-120"/>
              </a:rPr>
              <a:t> 90 días. ¿</a:t>
            </a:r>
            <a:r>
              <a:rPr lang="en-US" sz="1100" i="1" dirty="0" err="1">
                <a:solidFill>
                  <a:srgbClr val="4C1D95"/>
                </a:solidFill>
                <a:latin typeface="Calibri" pitchFamily="34" charset="0"/>
                <a:ea typeface="Calibri" pitchFamily="34" charset="-122"/>
                <a:cs typeface="Calibri" pitchFamily="34" charset="-120"/>
              </a:rPr>
              <a:t>Qué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acciones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serían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más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realistas</a:t>
            </a:r>
            <a:r>
              <a:rPr lang="en-US" sz="1100" i="1" dirty="0">
                <a:solidFill>
                  <a:srgbClr val="4C1D95"/>
                </a:solidFill>
                <a:latin typeface="Calibri" pitchFamily="34" charset="0"/>
                <a:ea typeface="Calibri" pitchFamily="34" charset="-122"/>
                <a:cs typeface="Calibri" pitchFamily="34" charset="-120"/>
              </a:rPr>
              <a:t> y de mayor </a:t>
            </a:r>
            <a:r>
              <a:rPr lang="en-US" sz="1100" i="1" dirty="0" err="1">
                <a:solidFill>
                  <a:srgbClr val="4C1D95"/>
                </a:solidFill>
                <a:latin typeface="Calibri" pitchFamily="34" charset="0"/>
                <a:ea typeface="Calibri" pitchFamily="34" charset="-122"/>
                <a:cs typeface="Calibri" pitchFamily="34" charset="-120"/>
              </a:rPr>
              <a:t>impacto</a:t>
            </a:r>
            <a:r>
              <a:rPr lang="en-US" sz="1100" i="1" dirty="0">
                <a:solidFill>
                  <a:srgbClr val="4C1D95"/>
                </a:solidFill>
                <a:latin typeface="Calibri" pitchFamily="34" charset="0"/>
                <a:ea typeface="Calibri" pitchFamily="34" charset="-122"/>
                <a:cs typeface="Calibri" pitchFamily="34" charset="-120"/>
              </a:rPr>
              <a:t> para </a:t>
            </a:r>
            <a:r>
              <a:rPr lang="en-US" sz="1100" i="1" dirty="0" err="1">
                <a:solidFill>
                  <a:srgbClr val="4C1D95"/>
                </a:solidFill>
                <a:latin typeface="Calibri" pitchFamily="34" charset="0"/>
                <a:ea typeface="Calibri" pitchFamily="34" charset="-122"/>
                <a:cs typeface="Calibri" pitchFamily="34" charset="-120"/>
              </a:rPr>
              <a:t>alguien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mi </a:t>
            </a:r>
            <a:r>
              <a:rPr lang="en-US" sz="1100" i="1" dirty="0" err="1">
                <a:solidFill>
                  <a:srgbClr val="4C1D95"/>
                </a:solidFill>
                <a:latin typeface="Calibri" pitchFamily="34" charset="0"/>
                <a:ea typeface="Calibri" pitchFamily="34" charset="-122"/>
                <a:cs typeface="Calibri" pitchFamily="34" charset="-120"/>
              </a:rPr>
              <a:t>posición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Entregame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el</a:t>
            </a:r>
            <a:r>
              <a:rPr lang="en-US" sz="1100" i="1" dirty="0">
                <a:solidFill>
                  <a:srgbClr val="4C1D95"/>
                </a:solidFill>
                <a:latin typeface="Calibri" pitchFamily="34" charset="0"/>
                <a:ea typeface="Calibri" pitchFamily="34" charset="-122"/>
                <a:cs typeface="Calibri" pitchFamily="34" charset="-120"/>
              </a:rPr>
              <a:t> plan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3 </a:t>
            </a:r>
            <a:r>
              <a:rPr lang="en-US" sz="1100" i="1" dirty="0" err="1">
                <a:solidFill>
                  <a:srgbClr val="4C1D95"/>
                </a:solidFill>
                <a:latin typeface="Calibri" pitchFamily="34" charset="0"/>
                <a:ea typeface="Calibri" pitchFamily="34" charset="-122"/>
                <a:cs typeface="Calibri" pitchFamily="34" charset="-120"/>
              </a:rPr>
              <a:t>fases</a:t>
            </a:r>
            <a:r>
              <a:rPr lang="en-US" sz="1100" i="1" dirty="0">
                <a:solidFill>
                  <a:srgbClr val="4C1D95"/>
                </a:solidFill>
                <a:latin typeface="Calibri" pitchFamily="34" charset="0"/>
                <a:ea typeface="Calibri" pitchFamily="34" charset="-122"/>
                <a:cs typeface="Calibri" pitchFamily="34" charset="-120"/>
              </a:rPr>
              <a:t>,  de 0 a 30 días, de 30 a 60 días y de 60 a 90 días.  En </a:t>
            </a:r>
            <a:r>
              <a:rPr lang="en-US" sz="1100" i="1" dirty="0" err="1">
                <a:solidFill>
                  <a:srgbClr val="4C1D95"/>
                </a:solidFill>
                <a:latin typeface="Calibri" pitchFamily="34" charset="0"/>
                <a:ea typeface="Calibri" pitchFamily="34" charset="-122"/>
                <a:cs typeface="Calibri" pitchFamily="34" charset="-120"/>
              </a:rPr>
              <a:t>cada</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fase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responde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estas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preguntas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haré</a:t>
            </a:r>
            <a:r>
              <a:rPr lang="en-US" sz="1100" i="1" dirty="0">
                <a:solidFill>
                  <a:srgbClr val="4C1D95"/>
                </a:solidFill>
                <a:latin typeface="Calibri" pitchFamily="34" charset="0"/>
                <a:ea typeface="Calibri" pitchFamily="34" charset="-122"/>
                <a:cs typeface="Calibri" pitchFamily="34" charset="-120"/>
              </a:rPr>
              <a:t>? ¿Con </a:t>
            </a:r>
            <a:r>
              <a:rPr lang="en-US" sz="1100" i="1" dirty="0" err="1">
                <a:solidFill>
                  <a:srgbClr val="4C1D95"/>
                </a:solidFill>
                <a:latin typeface="Calibri" pitchFamily="34" charset="0"/>
                <a:ea typeface="Calibri" pitchFamily="34" charset="-122"/>
                <a:cs typeface="Calibri" pitchFamily="34" charset="-120"/>
              </a:rPr>
              <a:t>quién</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Cómo</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sabré</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lo </a:t>
            </a:r>
            <a:r>
              <a:rPr lang="en-US" sz="1100" i="1" dirty="0" err="1">
                <a:solidFill>
                  <a:srgbClr val="4C1D95"/>
                </a:solidFill>
                <a:latin typeface="Calibri" pitchFamily="34" charset="0"/>
                <a:ea typeface="Calibri" pitchFamily="34" charset="-122"/>
                <a:cs typeface="Calibri" pitchFamily="34" charset="-120"/>
              </a:rPr>
              <a:t>logré</a:t>
            </a:r>
            <a:r>
              <a:rPr lang="en-US" sz="1100" i="1" dirty="0">
                <a:solidFill>
                  <a:srgbClr val="4C1D95"/>
                </a:solidFill>
                <a:latin typeface="Calibri" pitchFamily="34" charset="0"/>
                <a:ea typeface="Calibri" pitchFamily="34" charset="-122"/>
                <a:cs typeface="Calibri" pitchFamily="34" charset="-120"/>
              </a:rPr>
              <a:t>? Dime </a:t>
            </a:r>
            <a:r>
              <a:rPr lang="en-US" sz="1100" i="1" dirty="0" err="1">
                <a:solidFill>
                  <a:srgbClr val="4C1D95"/>
                </a:solidFill>
                <a:latin typeface="Calibri" pitchFamily="34" charset="0"/>
                <a:ea typeface="Calibri" pitchFamily="34" charset="-122"/>
                <a:cs typeface="Calibri" pitchFamily="34" charset="-120"/>
              </a:rPr>
              <a:t>cuáles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pueden</a:t>
            </a:r>
            <a:r>
              <a:rPr lang="en-US" sz="1100" i="1" dirty="0">
                <a:solidFill>
                  <a:srgbClr val="4C1D95"/>
                </a:solidFill>
                <a:latin typeface="Calibri" pitchFamily="34" charset="0"/>
                <a:ea typeface="Calibri" pitchFamily="34" charset="-122"/>
                <a:cs typeface="Calibri" pitchFamily="34" charset="-120"/>
              </a:rPr>
              <a:t> ser mis </a:t>
            </a:r>
            <a:r>
              <a:rPr lang="en-US" sz="1100" i="1" dirty="0" err="1">
                <a:solidFill>
                  <a:srgbClr val="4C1D95"/>
                </a:solidFill>
                <a:latin typeface="Calibri" pitchFamily="34" charset="0"/>
                <a:ea typeface="Calibri" pitchFamily="34" charset="-122"/>
                <a:cs typeface="Calibri" pitchFamily="34" charset="-120"/>
              </a:rPr>
              <a:t>mayores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obstáculos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a:t>
            </a:r>
            <a:r>
              <a:rPr lang="en-US" sz="1100" i="1" dirty="0">
                <a:solidFill>
                  <a:srgbClr val="4C1D95"/>
                </a:solidFill>
                <a:latin typeface="Calibri" pitchFamily="34" charset="0"/>
                <a:ea typeface="Calibri" pitchFamily="34" charset="-122"/>
                <a:cs typeface="Calibri" pitchFamily="34" charset="-120"/>
              </a:rPr>
              <a:t> la </a:t>
            </a:r>
            <a:r>
              <a:rPr lang="en-US" sz="1100" i="1" dirty="0" err="1">
                <a:solidFill>
                  <a:srgbClr val="4C1D95"/>
                </a:solidFill>
                <a:latin typeface="Calibri" pitchFamily="34" charset="0"/>
                <a:ea typeface="Calibri" pitchFamily="34" charset="-122"/>
                <a:cs typeface="Calibri" pitchFamily="34" charset="-120"/>
              </a:rPr>
              <a:t>implementación</a:t>
            </a:r>
            <a:r>
              <a:rPr lang="en-US" sz="1100" i="1" dirty="0">
                <a:solidFill>
                  <a:srgbClr val="4C1D95"/>
                </a:solidFill>
                <a:latin typeface="Calibri" pitchFamily="34" charset="0"/>
                <a:ea typeface="Calibri" pitchFamily="34" charset="-122"/>
                <a:cs typeface="Calibri" pitchFamily="34" charset="-120"/>
              </a:rPr>
              <a:t> de ese plan y dame ideas para </a:t>
            </a:r>
            <a:r>
              <a:rPr lang="en-US" sz="1100" i="1" dirty="0" err="1">
                <a:solidFill>
                  <a:srgbClr val="4C1D95"/>
                </a:solidFill>
                <a:latin typeface="Calibri" pitchFamily="34" charset="0"/>
                <a:ea typeface="Calibri" pitchFamily="34" charset="-122"/>
                <a:cs typeface="Calibri" pitchFamily="34" charset="-120"/>
              </a:rPr>
              <a:t>superarlo</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Hazme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todas</a:t>
            </a:r>
            <a:r>
              <a:rPr lang="en-US" sz="1100" i="1" dirty="0">
                <a:solidFill>
                  <a:srgbClr val="4C1D95"/>
                </a:solidFill>
                <a:latin typeface="Calibri" pitchFamily="34" charset="0"/>
                <a:ea typeface="Calibri" pitchFamily="34" charset="-122"/>
                <a:cs typeface="Calibri" pitchFamily="34" charset="-120"/>
              </a:rPr>
              <a:t> las </a:t>
            </a:r>
            <a:r>
              <a:rPr lang="en-US" sz="1100" i="1" dirty="0" err="1">
                <a:solidFill>
                  <a:srgbClr val="4C1D95"/>
                </a:solidFill>
                <a:latin typeface="Calibri" pitchFamily="34" charset="0"/>
                <a:ea typeface="Calibri" pitchFamily="34" charset="-122"/>
                <a:cs typeface="Calibri" pitchFamily="34" charset="-120"/>
              </a:rPr>
              <a:t>preguntas</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necesites</a:t>
            </a:r>
            <a:r>
              <a:rPr lang="en-US" sz="1100" i="1" dirty="0">
                <a:solidFill>
                  <a:srgbClr val="4C1D95"/>
                </a:solidFill>
                <a:latin typeface="Calibri" pitchFamily="34" charset="0"/>
                <a:ea typeface="Calibri" pitchFamily="34" charset="-122"/>
                <a:cs typeface="Calibri" pitchFamily="34" charset="-120"/>
              </a:rPr>
              <a:t> para </a:t>
            </a:r>
            <a:r>
              <a:rPr lang="en-US" sz="1100" i="1" dirty="0" err="1">
                <a:solidFill>
                  <a:srgbClr val="4C1D95"/>
                </a:solidFill>
                <a:latin typeface="Calibri" pitchFamily="34" charset="0"/>
                <a:ea typeface="Calibri" pitchFamily="34" charset="-122"/>
                <a:cs typeface="Calibri" pitchFamily="34" charset="-120"/>
              </a:rPr>
              <a:t>poder</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entregarme</a:t>
            </a:r>
            <a:r>
              <a:rPr lang="en-US" sz="1100" i="1" dirty="0">
                <a:solidFill>
                  <a:srgbClr val="4C1D95"/>
                </a:solidFill>
                <a:latin typeface="Calibri" pitchFamily="34" charset="0"/>
                <a:ea typeface="Calibri" pitchFamily="34" charset="-122"/>
                <a:cs typeface="Calibri" pitchFamily="34" charset="-120"/>
              </a:rPr>
              <a:t> un plan </a:t>
            </a:r>
            <a:r>
              <a:rPr lang="en-US" sz="1100" i="1" dirty="0" err="1">
                <a:solidFill>
                  <a:srgbClr val="4C1D95"/>
                </a:solidFill>
                <a:latin typeface="Calibri" pitchFamily="34" charset="0"/>
                <a:ea typeface="Calibri" pitchFamily="34" charset="-122"/>
                <a:cs typeface="Calibri" pitchFamily="34" charset="-120"/>
              </a:rPr>
              <a:t>que</a:t>
            </a:r>
            <a:r>
              <a:rPr lang="en-US" sz="1100" i="1" dirty="0">
                <a:solidFill>
                  <a:srgbClr val="4C1D95"/>
                </a:solidFill>
                <a:latin typeface="Calibri" pitchFamily="34" charset="0"/>
                <a:ea typeface="Calibri" pitchFamily="34" charset="-122"/>
                <a:cs typeface="Calibri" pitchFamily="34" charset="-120"/>
              </a:rPr>
              <a:t> me </a:t>
            </a:r>
            <a:r>
              <a:rPr lang="en-US" sz="1100" i="1" dirty="0" err="1">
                <a:solidFill>
                  <a:srgbClr val="4C1D95"/>
                </a:solidFill>
                <a:latin typeface="Calibri" pitchFamily="34" charset="0"/>
                <a:ea typeface="Calibri" pitchFamily="34" charset="-122"/>
                <a:cs typeface="Calibri" pitchFamily="34" charset="-120"/>
              </a:rPr>
              <a:t>ayude</a:t>
            </a:r>
            <a:r>
              <a:rPr lang="en-US" sz="1100" i="1" dirty="0">
                <a:solidFill>
                  <a:srgbClr val="4C1D95"/>
                </a:solidFill>
                <a:latin typeface="Calibri" pitchFamily="34" charset="0"/>
                <a:ea typeface="Calibri" pitchFamily="34" charset="-122"/>
                <a:cs typeface="Calibri" pitchFamily="34" charset="-120"/>
              </a:rPr>
              <a:t> a </a:t>
            </a:r>
            <a:r>
              <a:rPr lang="en-US" sz="1100" i="1" dirty="0" err="1">
                <a:solidFill>
                  <a:srgbClr val="4C1D95"/>
                </a:solidFill>
                <a:latin typeface="Calibri" pitchFamily="34" charset="0"/>
                <a:ea typeface="Calibri" pitchFamily="34" charset="-122"/>
                <a:cs typeface="Calibri" pitchFamily="34" charset="-120"/>
              </a:rPr>
              <a:t>superar</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el</a:t>
            </a:r>
            <a:r>
              <a:rPr lang="en-US" sz="1100" i="1" dirty="0">
                <a:solidFill>
                  <a:srgbClr val="4C1D95"/>
                </a:solidFill>
                <a:latin typeface="Calibri" pitchFamily="34" charset="0"/>
                <a:ea typeface="Calibri" pitchFamily="34" charset="-122"/>
                <a:cs typeface="Calibri" pitchFamily="34" charset="-120"/>
              </a:rPr>
              <a:t> </a:t>
            </a:r>
            <a:r>
              <a:rPr lang="en-US" sz="1100" i="1" dirty="0" err="1">
                <a:solidFill>
                  <a:srgbClr val="4C1D95"/>
                </a:solidFill>
                <a:latin typeface="Calibri" pitchFamily="34" charset="0"/>
                <a:ea typeface="Calibri" pitchFamily="34" charset="-122"/>
                <a:cs typeface="Calibri" pitchFamily="34" charset="-120"/>
              </a:rPr>
              <a:t>problema</a:t>
            </a:r>
            <a:r>
              <a:rPr lang="en-US" sz="1100" i="1" dirty="0">
                <a:solidFill>
                  <a:srgbClr val="4C1D95"/>
                </a:solidFill>
                <a:latin typeface="Calibri" pitchFamily="34" charset="0"/>
                <a:ea typeface="Calibri" pitchFamily="34" charset="-122"/>
                <a:cs typeface="Calibri" pitchFamily="34" charset="-120"/>
              </a:rPr>
              <a:t> o </a:t>
            </a:r>
            <a:r>
              <a:rPr lang="en-US" sz="1100" i="1" dirty="0" err="1">
                <a:solidFill>
                  <a:srgbClr val="4C1D95"/>
                </a:solidFill>
                <a:latin typeface="Calibri" pitchFamily="34" charset="0"/>
                <a:ea typeface="Calibri" pitchFamily="34" charset="-122"/>
                <a:cs typeface="Calibri" pitchFamily="34" charset="-120"/>
              </a:rPr>
              <a:t>aprovechar</a:t>
            </a:r>
            <a:r>
              <a:rPr lang="en-US" sz="1100" i="1" dirty="0">
                <a:solidFill>
                  <a:srgbClr val="4C1D95"/>
                </a:solidFill>
                <a:latin typeface="Calibri" pitchFamily="34" charset="0"/>
                <a:ea typeface="Calibri" pitchFamily="34" charset="-122"/>
                <a:cs typeface="Calibri" pitchFamily="34" charset="-120"/>
              </a:rPr>
              <a:t> la </a:t>
            </a:r>
            <a:r>
              <a:rPr lang="en-US" sz="1100" i="1" dirty="0" err="1">
                <a:solidFill>
                  <a:srgbClr val="4C1D95"/>
                </a:solidFill>
                <a:latin typeface="Calibri" pitchFamily="34" charset="0"/>
                <a:ea typeface="Calibri" pitchFamily="34" charset="-122"/>
                <a:cs typeface="Calibri" pitchFamily="34" charset="-120"/>
              </a:rPr>
              <a:t>oportunidad</a:t>
            </a:r>
            <a:r>
              <a:rPr lang="en-US" sz="1100" i="1" dirty="0">
                <a:solidFill>
                  <a:srgbClr val="4C1D95"/>
                </a:solidFill>
                <a:latin typeface="Calibri" pitchFamily="34" charset="0"/>
                <a:ea typeface="Calibri" pitchFamily="34" charset="-122"/>
                <a:cs typeface="Calibri" pitchFamily="34" charset="-120"/>
              </a:rPr>
              <a:t>.  </a:t>
            </a:r>
          </a:p>
          <a:p>
            <a:pPr marL="0" indent="0">
              <a:lnSpc>
                <a:spcPct val="140000"/>
              </a:lnSpc>
              <a:buNone/>
            </a:pPr>
            <a:r>
              <a:rPr lang="en-US" sz="1100" i="1" dirty="0">
                <a:solidFill>
                  <a:srgbClr val="4C1D95"/>
                </a:solidFill>
                <a:latin typeface="Calibri" pitchFamily="34" charset="0"/>
                <a:ea typeface="Calibri" pitchFamily="34" charset="-122"/>
                <a:cs typeface="Calibri" pitchFamily="34" charset="-120"/>
              </a:rPr>
              <a:t> </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3557"/>
        </a:solidFill>
        <a:effectLst/>
      </p:bgPr>
    </p:bg>
    <p:spTree>
      <p:nvGrpSpPr>
        <p:cNvPr id="1" name="">
          <a:extLst>
            <a:ext uri="{FF2B5EF4-FFF2-40B4-BE49-F238E27FC236}">
              <a16:creationId xmlns:a16="http://schemas.microsoft.com/office/drawing/2014/main" id="{6E6AA04B-3318-A7E8-DCCB-980347482C0B}"/>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837B2268-106A-EA8E-BA5A-7363F066E3EB}"/>
              </a:ext>
            </a:extLst>
          </p:cNvPr>
          <p:cNvSpPr/>
          <p:nvPr/>
        </p:nvSpPr>
        <p:spPr>
          <a:xfrm>
            <a:off x="457200" y="340000"/>
            <a:ext cx="4600000" cy="260000"/>
          </a:xfrm>
          <a:prstGeom prst="rect">
            <a:avLst/>
          </a:prstGeom>
          <a:noFill/>
          <a:ln>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000" b="1" spc="300" dirty="0">
                <a:solidFill>
                  <a:srgbClr val="9DD9E8"/>
                </a:solidFill>
                <a:latin typeface="Calibri"/>
              </a:rPr>
              <a:t>PLAN DE 90 DÍAS</a:t>
            </a:r>
            <a:endParaRPr kumimoji="0" lang="es-CO" sz="1000" b="1" i="0" u="none" strike="noStrike" kern="1200" cap="none" spc="300" normalizeH="0" baseline="0" noProof="0" dirty="0">
              <a:ln>
                <a:noFill/>
              </a:ln>
              <a:solidFill>
                <a:srgbClr val="9DD9E8"/>
              </a:solidFill>
              <a:effectLst/>
              <a:uLnTx/>
              <a:uFillTx/>
              <a:latin typeface="Calibri"/>
              <a:ea typeface="+mn-ea"/>
              <a:cs typeface="+mn-cs"/>
            </a:endParaRPr>
          </a:p>
        </p:txBody>
      </p:sp>
      <p:sp>
        <p:nvSpPr>
          <p:cNvPr id="3" name="Title">
            <a:extLst>
              <a:ext uri="{FF2B5EF4-FFF2-40B4-BE49-F238E27FC236}">
                <a16:creationId xmlns:a16="http://schemas.microsoft.com/office/drawing/2014/main" id="{382EFC2B-B790-58CB-793D-F527999424ED}"/>
              </a:ext>
            </a:extLst>
          </p:cNvPr>
          <p:cNvSpPr/>
          <p:nvPr/>
        </p:nvSpPr>
        <p:spPr>
          <a:xfrm>
            <a:off x="457200" y="640000"/>
            <a:ext cx="4700000" cy="1500000"/>
          </a:xfrm>
          <a:prstGeom prst="rect">
            <a:avLst/>
          </a:prstGeom>
          <a:noFill/>
          <a:ln>
            <a:noFill/>
          </a:ln>
        </p:spPr>
        <p:txBody>
          <a:bodyPr wrap="square"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FFFFFF"/>
                </a:solidFill>
                <a:effectLst/>
                <a:uLnTx/>
                <a:uFillTx/>
                <a:latin typeface="Georgia"/>
                <a:ea typeface="+mn-ea"/>
                <a:cs typeface="+mn-cs"/>
              </a:rPr>
              <a:t>Abran el material</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9DD9E8"/>
                </a:solidFill>
                <a:effectLst/>
                <a:uLnTx/>
                <a:uFillTx/>
                <a:latin typeface="Georgia"/>
                <a:ea typeface="+mn-ea"/>
                <a:cs typeface="+mn-cs"/>
              </a:rPr>
              <a:t>en su dispositivo</a:t>
            </a:r>
          </a:p>
        </p:txBody>
      </p:sp>
      <p:sp>
        <p:nvSpPr>
          <p:cNvPr id="4" name="Instruction">
            <a:extLst>
              <a:ext uri="{FF2B5EF4-FFF2-40B4-BE49-F238E27FC236}">
                <a16:creationId xmlns:a16="http://schemas.microsoft.com/office/drawing/2014/main" id="{80844E92-E95C-574D-F4EA-5AA168306369}"/>
              </a:ext>
            </a:extLst>
          </p:cNvPr>
          <p:cNvSpPr/>
          <p:nvPr/>
        </p:nvSpPr>
        <p:spPr>
          <a:xfrm>
            <a:off x="457200" y="2260000"/>
            <a:ext cx="4600000" cy="600000"/>
          </a:xfrm>
          <a:prstGeom prst="rect">
            <a:avLst/>
          </a:prstGeom>
          <a:noFill/>
          <a:ln>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a:ln>
                  <a:noFill/>
                </a:ln>
                <a:solidFill>
                  <a:srgbClr val="CBD5E1"/>
                </a:solidFill>
                <a:effectLst/>
                <a:uLnTx/>
                <a:uFillTx/>
                <a:latin typeface="Calibri"/>
                <a:ea typeface="+mn-ea"/>
                <a:cs typeface="+mn-cs"/>
              </a:rPr>
              <a:t>Escaneen el QR </a:t>
            </a:r>
          </a:p>
        </p:txBody>
      </p:sp>
      <p:sp>
        <p:nvSpPr>
          <p:cNvPr id="5" name="Badge">
            <a:extLst>
              <a:ext uri="{FF2B5EF4-FFF2-40B4-BE49-F238E27FC236}">
                <a16:creationId xmlns:a16="http://schemas.microsoft.com/office/drawing/2014/main" id="{9CE0F71B-736E-1312-52C1-D70ECC6C357F}"/>
              </a:ext>
            </a:extLst>
          </p:cNvPr>
          <p:cNvSpPr/>
          <p:nvPr/>
        </p:nvSpPr>
        <p:spPr>
          <a:xfrm>
            <a:off x="457200" y="2960000"/>
            <a:ext cx="3300000" cy="310000"/>
          </a:xfrm>
          <a:prstGeom prst="rect">
            <a:avLst/>
          </a:prstGeom>
          <a:solidFill>
            <a:srgbClr val="0E7490"/>
          </a:solidFill>
          <a:ln>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150" normalizeH="0" baseline="0" noProof="0" dirty="0">
                <a:ln>
                  <a:noFill/>
                </a:ln>
                <a:solidFill>
                  <a:srgbClr val="FFFFFF"/>
                </a:solidFill>
                <a:effectLst/>
                <a:uLnTx/>
                <a:uFillTx/>
                <a:latin typeface="Calibri"/>
                <a:ea typeface="+mn-ea"/>
                <a:cs typeface="+mn-cs"/>
              </a:rPr>
              <a:t>PLAN DE 90 DÍAS</a:t>
            </a:r>
          </a:p>
        </p:txBody>
      </p:sp>
      <p:pic>
        <p:nvPicPr>
          <p:cNvPr id="8" name="Imagen 7">
            <a:extLst>
              <a:ext uri="{FF2B5EF4-FFF2-40B4-BE49-F238E27FC236}">
                <a16:creationId xmlns:a16="http://schemas.microsoft.com/office/drawing/2014/main" id="{94F81E0D-42B0-EA58-1DAA-B45311961C68}"/>
              </a:ext>
            </a:extLst>
          </p:cNvPr>
          <p:cNvPicPr>
            <a:picLocks noChangeAspect="1"/>
          </p:cNvPicPr>
          <p:nvPr/>
        </p:nvPicPr>
        <p:blipFill>
          <a:blip r:embed="rId2"/>
          <a:stretch>
            <a:fillRect/>
          </a:stretch>
        </p:blipFill>
        <p:spPr>
          <a:xfrm>
            <a:off x="4932055" y="1024437"/>
            <a:ext cx="3162574" cy="3071126"/>
          </a:xfrm>
          <a:prstGeom prst="rect">
            <a:avLst/>
          </a:prstGeom>
        </p:spPr>
      </p:pic>
    </p:spTree>
    <p:extLst>
      <p:ext uri="{BB962C8B-B14F-4D97-AF65-F5344CB8AC3E}">
        <p14:creationId xmlns:p14="http://schemas.microsoft.com/office/powerpoint/2010/main" val="2293004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C3557"/>
        </a:solidFill>
        <a:effectLst/>
      </p:bgPr>
    </p:bg>
    <p:spTree>
      <p:nvGrpSpPr>
        <p:cNvPr id="1" name="">
          <a:extLst>
            <a:ext uri="{FF2B5EF4-FFF2-40B4-BE49-F238E27FC236}">
              <a16:creationId xmlns:a16="http://schemas.microsoft.com/office/drawing/2014/main" id="{9123EA14-C593-85CA-FBC4-ED93106644A6}"/>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8292FEDF-37C7-21E5-D7ED-3DE074463C58}"/>
              </a:ext>
            </a:extLst>
          </p:cNvPr>
          <p:cNvSpPr/>
          <p:nvPr/>
        </p:nvSpPr>
        <p:spPr>
          <a:xfrm>
            <a:off x="457200" y="340000"/>
            <a:ext cx="4600000" cy="260000"/>
          </a:xfrm>
          <a:prstGeom prst="rect">
            <a:avLst/>
          </a:prstGeom>
          <a:noFill/>
          <a:ln>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000" b="1" i="0" u="none" strike="noStrike" kern="1200" cap="none" spc="300" normalizeH="0" baseline="0" noProof="0" dirty="0">
              <a:ln>
                <a:noFill/>
              </a:ln>
              <a:solidFill>
                <a:srgbClr val="9DD9E8"/>
              </a:solidFill>
              <a:effectLst/>
              <a:uLnTx/>
              <a:uFillTx/>
              <a:latin typeface="Calibri"/>
              <a:ea typeface="+mn-ea"/>
              <a:cs typeface="+mn-cs"/>
            </a:endParaRPr>
          </a:p>
        </p:txBody>
      </p:sp>
      <p:sp>
        <p:nvSpPr>
          <p:cNvPr id="3" name="Title">
            <a:extLst>
              <a:ext uri="{FF2B5EF4-FFF2-40B4-BE49-F238E27FC236}">
                <a16:creationId xmlns:a16="http://schemas.microsoft.com/office/drawing/2014/main" id="{D87438D2-97C0-590E-9E2C-E007C6A17A4F}"/>
              </a:ext>
            </a:extLst>
          </p:cNvPr>
          <p:cNvSpPr/>
          <p:nvPr/>
        </p:nvSpPr>
        <p:spPr>
          <a:xfrm>
            <a:off x="457200" y="625852"/>
            <a:ext cx="4700000" cy="1500000"/>
          </a:xfrm>
          <a:prstGeom prst="rect">
            <a:avLst/>
          </a:prstGeom>
          <a:noFill/>
          <a:ln>
            <a:noFill/>
          </a:ln>
        </p:spPr>
        <p:txBody>
          <a:bodyPr wrap="square" rtlCol="0" anchor="t"/>
          <a:lstStyle/>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FFFFFF"/>
                </a:solidFill>
                <a:effectLst/>
                <a:uLnTx/>
                <a:uFillTx/>
                <a:latin typeface="Georgia"/>
                <a:ea typeface="+mn-ea"/>
                <a:cs typeface="+mn-cs"/>
              </a:rPr>
              <a:t>Abran el material</a:t>
            </a:r>
          </a:p>
          <a:p>
            <a:pPr marL="0" marR="0" lvl="0" indent="0" algn="l" defTabSz="914400" rtl="0" eaLnBrk="1" fontAlgn="auto" latinLnBrk="0" hangingPunct="1">
              <a:lnSpc>
                <a:spcPts val="34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9DD9E8"/>
                </a:solidFill>
                <a:effectLst/>
                <a:uLnTx/>
                <a:uFillTx/>
                <a:latin typeface="Georgia"/>
                <a:ea typeface="+mn-ea"/>
                <a:cs typeface="+mn-cs"/>
              </a:rPr>
              <a:t>en su dispositivo</a:t>
            </a:r>
          </a:p>
        </p:txBody>
      </p:sp>
      <p:sp>
        <p:nvSpPr>
          <p:cNvPr id="4" name="Instruction">
            <a:extLst>
              <a:ext uri="{FF2B5EF4-FFF2-40B4-BE49-F238E27FC236}">
                <a16:creationId xmlns:a16="http://schemas.microsoft.com/office/drawing/2014/main" id="{40956EE0-A4C6-689F-845E-E493661974DD}"/>
              </a:ext>
            </a:extLst>
          </p:cNvPr>
          <p:cNvSpPr/>
          <p:nvPr/>
        </p:nvSpPr>
        <p:spPr>
          <a:xfrm>
            <a:off x="457200" y="2260000"/>
            <a:ext cx="4600000" cy="600000"/>
          </a:xfrm>
          <a:prstGeom prst="rect">
            <a:avLst/>
          </a:prstGeom>
          <a:noFill/>
          <a:ln>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a:ln>
                  <a:noFill/>
                </a:ln>
                <a:solidFill>
                  <a:srgbClr val="CBD5E1"/>
                </a:solidFill>
                <a:effectLst/>
                <a:uLnTx/>
                <a:uFillTx/>
                <a:latin typeface="Calibri"/>
                <a:ea typeface="+mn-ea"/>
                <a:cs typeface="+mn-cs"/>
              </a:rPr>
              <a:t>Escaneen el QR </a:t>
            </a:r>
          </a:p>
        </p:txBody>
      </p:sp>
      <p:sp>
        <p:nvSpPr>
          <p:cNvPr id="5" name="Badge">
            <a:extLst>
              <a:ext uri="{FF2B5EF4-FFF2-40B4-BE49-F238E27FC236}">
                <a16:creationId xmlns:a16="http://schemas.microsoft.com/office/drawing/2014/main" id="{DDE2F2CE-C0FD-3B5F-05B2-40A910AEC402}"/>
              </a:ext>
            </a:extLst>
          </p:cNvPr>
          <p:cNvSpPr/>
          <p:nvPr/>
        </p:nvSpPr>
        <p:spPr>
          <a:xfrm>
            <a:off x="436098" y="2960000"/>
            <a:ext cx="3300000" cy="310000"/>
          </a:xfrm>
          <a:prstGeom prst="rect">
            <a:avLst/>
          </a:prstGeom>
          <a:solidFill>
            <a:srgbClr val="0E7490"/>
          </a:solidFill>
          <a:ln>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050" b="1" spc="150" dirty="0">
                <a:solidFill>
                  <a:srgbClr val="FFFFFF"/>
                </a:solidFill>
                <a:latin typeface="Calibri"/>
              </a:rPr>
              <a:t>CALIFICACIÓN DEL CURSO</a:t>
            </a:r>
            <a:endParaRPr kumimoji="0" lang="es-CO" sz="1050" b="1" i="0" u="none" strike="noStrike" kern="1200" cap="none" spc="150" normalizeH="0" baseline="0" noProof="0" dirty="0">
              <a:ln>
                <a:noFill/>
              </a:ln>
              <a:solidFill>
                <a:srgbClr val="FFFFFF"/>
              </a:solidFill>
              <a:effectLst/>
              <a:uLnTx/>
              <a:uFillTx/>
              <a:latin typeface="Calibri"/>
              <a:ea typeface="+mn-ea"/>
              <a:cs typeface="+mn-cs"/>
            </a:endParaRPr>
          </a:p>
        </p:txBody>
      </p:sp>
      <p:pic>
        <p:nvPicPr>
          <p:cNvPr id="7" name="Imagen 6">
            <a:extLst>
              <a:ext uri="{FF2B5EF4-FFF2-40B4-BE49-F238E27FC236}">
                <a16:creationId xmlns:a16="http://schemas.microsoft.com/office/drawing/2014/main" id="{F208A7D4-0379-B447-E97E-3F0653C815A5}"/>
              </a:ext>
            </a:extLst>
          </p:cNvPr>
          <p:cNvPicPr>
            <a:picLocks noChangeAspect="1"/>
          </p:cNvPicPr>
          <p:nvPr/>
        </p:nvPicPr>
        <p:blipFill>
          <a:blip r:embed="rId2"/>
          <a:stretch>
            <a:fillRect/>
          </a:stretch>
        </p:blipFill>
        <p:spPr>
          <a:xfrm>
            <a:off x="4783015" y="731777"/>
            <a:ext cx="3697839" cy="3656445"/>
          </a:xfrm>
          <a:prstGeom prst="rect">
            <a:avLst/>
          </a:prstGeom>
        </p:spPr>
      </p:pic>
    </p:spTree>
    <p:extLst>
      <p:ext uri="{BB962C8B-B14F-4D97-AF65-F5344CB8AC3E}">
        <p14:creationId xmlns:p14="http://schemas.microsoft.com/office/powerpoint/2010/main" val="2898381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B7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3557">
              <a:alpha val="50000"/>
            </a:srgbClr>
          </a:solidFill>
          <a:ln w="12700">
            <a:solidFill>
              <a:srgbClr val="1C3557">
                <a:alpha val="0"/>
              </a:srgbClr>
            </a:solidFill>
            <a:prstDash val="solid"/>
          </a:ln>
        </p:spPr>
        <p:txBody>
          <a:bodyPr/>
          <a:lstStyle/>
          <a:p>
            <a:endParaRPr lang="es-CO"/>
          </a:p>
        </p:txBody>
      </p:sp>
      <p:sp>
        <p:nvSpPr>
          <p:cNvPr id="3" name="Text 1"/>
          <p:cNvSpPr/>
          <p:nvPr/>
        </p:nvSpPr>
        <p:spPr>
          <a:xfrm>
            <a:off x="548640" y="411480"/>
            <a:ext cx="8046720" cy="320040"/>
          </a:xfrm>
          <a:prstGeom prst="rect">
            <a:avLst/>
          </a:prstGeom>
          <a:noFill/>
          <a:ln/>
        </p:spPr>
        <p:txBody>
          <a:bodyPr wrap="square" rtlCol="0" anchor="ctr"/>
          <a:lstStyle/>
          <a:p>
            <a:pPr marL="0" indent="0">
              <a:buNone/>
            </a:pPr>
            <a:r>
              <a:rPr lang="en-US" sz="900" b="1" kern="0" spc="200" dirty="0">
                <a:solidFill>
                  <a:srgbClr val="AAEEDD"/>
                </a:solidFill>
                <a:latin typeface="Calibri" pitchFamily="34" charset="0"/>
                <a:ea typeface="Calibri" pitchFamily="34" charset="-122"/>
                <a:cs typeface="Calibri" pitchFamily="34" charset="-120"/>
              </a:rPr>
              <a:t>CIERRE DEL TALLER</a:t>
            </a:r>
            <a:endParaRPr lang="en-US" sz="900" dirty="0"/>
          </a:p>
        </p:txBody>
      </p:sp>
      <p:sp>
        <p:nvSpPr>
          <p:cNvPr id="4" name="Text 2"/>
          <p:cNvSpPr/>
          <p:nvPr/>
        </p:nvSpPr>
        <p:spPr>
          <a:xfrm>
            <a:off x="548640" y="594360"/>
            <a:ext cx="8046720" cy="1828800"/>
          </a:xfrm>
          <a:prstGeom prst="rect">
            <a:avLst/>
          </a:prstGeom>
          <a:noFill/>
          <a:ln/>
        </p:spPr>
        <p:txBody>
          <a:bodyPr wrap="square" rtlCol="0" anchor="ctr"/>
          <a:lstStyle/>
          <a:p>
            <a:pPr marL="0" indent="0" algn="ctr">
              <a:lnSpc>
                <a:spcPct val="120000"/>
              </a:lnSpc>
              <a:buNone/>
            </a:pPr>
            <a:r>
              <a:rPr lang="en-US" sz="3000" b="1" dirty="0">
                <a:solidFill>
                  <a:srgbClr val="FFFFFF"/>
                </a:solidFill>
                <a:latin typeface="Georgia" pitchFamily="34" charset="0"/>
              </a:rPr>
              <a:t>Vine con un </a:t>
            </a:r>
            <a:r>
              <a:rPr lang="en-US" sz="3000" b="1" dirty="0" err="1">
                <a:solidFill>
                  <a:srgbClr val="FFFFFF"/>
                </a:solidFill>
                <a:latin typeface="Georgia" pitchFamily="34" charset="0"/>
              </a:rPr>
              <a:t>objetivo</a:t>
            </a:r>
            <a:r>
              <a:rPr lang="en-US" sz="3000" b="1" dirty="0">
                <a:solidFill>
                  <a:srgbClr val="FFFFFF"/>
                </a:solidFill>
                <a:latin typeface="Georgia" pitchFamily="34" charset="0"/>
              </a:rPr>
              <a:t> claro: </a:t>
            </a:r>
          </a:p>
          <a:p>
            <a:pPr marL="0" indent="0" algn="ctr">
              <a:lnSpc>
                <a:spcPct val="120000"/>
              </a:lnSpc>
              <a:buNone/>
            </a:pPr>
            <a:r>
              <a:rPr lang="en-US" sz="3000" b="1" dirty="0">
                <a:solidFill>
                  <a:srgbClr val="FFFFFF"/>
                </a:solidFill>
                <a:latin typeface="Georgia" pitchFamily="34" charset="0"/>
              </a:rPr>
              <a:t>¡</a:t>
            </a:r>
            <a:r>
              <a:rPr lang="en-US" sz="3000" b="1" dirty="0" err="1">
                <a:solidFill>
                  <a:srgbClr val="FFFFFF"/>
                </a:solidFill>
                <a:latin typeface="Georgia" pitchFamily="34" charset="0"/>
              </a:rPr>
              <a:t>Que</a:t>
            </a:r>
            <a:r>
              <a:rPr lang="en-US" sz="3000" b="1" dirty="0">
                <a:solidFill>
                  <a:srgbClr val="FFFFFF"/>
                </a:solidFill>
                <a:latin typeface="Georgia" pitchFamily="34" charset="0"/>
              </a:rPr>
              <a:t> </a:t>
            </a:r>
            <a:r>
              <a:rPr lang="en-US" sz="3000" b="1" dirty="0" err="1">
                <a:solidFill>
                  <a:srgbClr val="FFFFFF"/>
                </a:solidFill>
                <a:latin typeface="Georgia" pitchFamily="34" charset="0"/>
              </a:rPr>
              <a:t>el</a:t>
            </a:r>
            <a:r>
              <a:rPr lang="en-US" sz="3000" b="1" dirty="0">
                <a:solidFill>
                  <a:srgbClr val="FFFFFF"/>
                </a:solidFill>
                <a:latin typeface="Georgia" pitchFamily="34" charset="0"/>
              </a:rPr>
              <a:t> </a:t>
            </a:r>
            <a:r>
              <a:rPr lang="en-US" sz="3000" b="1" dirty="0" err="1">
                <a:solidFill>
                  <a:srgbClr val="FFFFFF"/>
                </a:solidFill>
                <a:latin typeface="Georgia" pitchFamily="34" charset="0"/>
              </a:rPr>
              <a:t>espacio</a:t>
            </a:r>
            <a:r>
              <a:rPr lang="en-US" sz="3000" b="1" dirty="0">
                <a:solidFill>
                  <a:srgbClr val="FFFFFF"/>
                </a:solidFill>
                <a:latin typeface="Georgia" pitchFamily="34" charset="0"/>
              </a:rPr>
              <a:t> les fuera ÚTIL” </a:t>
            </a:r>
            <a:endParaRPr lang="en-US" sz="3000" dirty="0"/>
          </a:p>
        </p:txBody>
      </p:sp>
      <p:sp>
        <p:nvSpPr>
          <p:cNvPr id="5" name="Text 3"/>
          <p:cNvSpPr/>
          <p:nvPr/>
        </p:nvSpPr>
        <p:spPr>
          <a:xfrm>
            <a:off x="548640" y="2514600"/>
            <a:ext cx="8046720" cy="686880"/>
          </a:xfrm>
          <a:prstGeom prst="rect">
            <a:avLst/>
          </a:prstGeom>
          <a:noFill/>
          <a:ln/>
        </p:spPr>
        <p:txBody>
          <a:bodyPr wrap="square" rtlCol="0" anchor="ctr"/>
          <a:lstStyle/>
          <a:p>
            <a:pPr marL="0" indent="0">
              <a:lnSpc>
                <a:spcPct val="125000"/>
              </a:lnSpc>
              <a:buNone/>
            </a:pPr>
            <a:endParaRPr lang="en-US" sz="1800" dirty="0"/>
          </a:p>
          <a:p>
            <a:pPr marL="0" indent="0">
              <a:lnSpc>
                <a:spcPct val="125000"/>
              </a:lnSpc>
              <a:buNone/>
            </a:pPr>
            <a:endParaRPr lang="en-US" sz="1800" dirty="0"/>
          </a:p>
        </p:txBody>
      </p:sp>
      <p:sp>
        <p:nvSpPr>
          <p:cNvPr id="6" name="Shape 4"/>
          <p:cNvSpPr/>
          <p:nvPr/>
        </p:nvSpPr>
        <p:spPr>
          <a:xfrm>
            <a:off x="548640" y="2971800"/>
            <a:ext cx="8046720" cy="1828800"/>
          </a:xfrm>
          <a:prstGeom prst="rect">
            <a:avLst/>
          </a:prstGeom>
          <a:solidFill>
            <a:srgbClr val="FFFFFF">
              <a:alpha val="12000"/>
            </a:srgbClr>
          </a:solidFill>
          <a:ln w="12700">
            <a:solidFill>
              <a:srgbClr val="FFFFFF">
                <a:alpha val="25000"/>
              </a:srgbClr>
            </a:solidFill>
            <a:prstDash val="solid"/>
          </a:ln>
        </p:spPr>
        <p:txBody>
          <a:bodyPr/>
          <a:lstStyle/>
          <a:p>
            <a:endParaRPr lang="es-CO"/>
          </a:p>
        </p:txBody>
      </p:sp>
      <p:sp>
        <p:nvSpPr>
          <p:cNvPr id="7" name="Text 5"/>
          <p:cNvSpPr/>
          <p:nvPr/>
        </p:nvSpPr>
        <p:spPr>
          <a:xfrm>
            <a:off x="731520" y="3090672"/>
            <a:ext cx="7680960" cy="731520"/>
          </a:xfrm>
          <a:prstGeom prst="rect">
            <a:avLst/>
          </a:prstGeom>
          <a:noFill/>
          <a:ln/>
        </p:spPr>
        <p:txBody>
          <a:bodyPr wrap="square" rtlCol="0" anchor="ctr"/>
          <a:lstStyle/>
          <a:p>
            <a:pPr marL="0" indent="0" algn="ctr">
              <a:lnSpc>
                <a:spcPct val="150000"/>
              </a:lnSpc>
              <a:buNone/>
            </a:pPr>
            <a:r>
              <a:rPr lang="en-US" sz="1400" i="1" dirty="0">
                <a:solidFill>
                  <a:srgbClr val="DDFFF5"/>
                </a:solidFill>
                <a:latin typeface="Calibri" pitchFamily="34" charset="0"/>
                <a:ea typeface="Calibri" pitchFamily="34" charset="-122"/>
                <a:cs typeface="Calibri" pitchFamily="34" charset="-120"/>
              </a:rPr>
              <a:t>¿Se </a:t>
            </a:r>
            <a:r>
              <a:rPr lang="en-US" sz="1400" i="1" dirty="0" err="1">
                <a:solidFill>
                  <a:srgbClr val="DDFFF5"/>
                </a:solidFill>
                <a:latin typeface="Calibri" pitchFamily="34" charset="0"/>
                <a:ea typeface="Calibri" pitchFamily="34" charset="-122"/>
                <a:cs typeface="Calibri" pitchFamily="34" charset="-120"/>
              </a:rPr>
              <a:t>logró</a:t>
            </a:r>
            <a:r>
              <a:rPr lang="en-US" sz="1400" i="1" dirty="0">
                <a:solidFill>
                  <a:srgbClr val="DDFFF5"/>
                </a:solidFill>
                <a:latin typeface="Calibri" pitchFamily="34" charset="0"/>
                <a:ea typeface="Calibri" pitchFamily="34" charset="-122"/>
                <a:cs typeface="Calibri" pitchFamily="34" charset="-120"/>
              </a:rPr>
              <a:t>? ¿</a:t>
            </a:r>
            <a:r>
              <a:rPr lang="en-US" sz="1400" i="1" dirty="0" err="1">
                <a:solidFill>
                  <a:srgbClr val="DDFFF5"/>
                </a:solidFill>
                <a:latin typeface="Calibri" pitchFamily="34" charset="0"/>
                <a:ea typeface="Calibri" pitchFamily="34" charset="-122"/>
                <a:cs typeface="Calibri" pitchFamily="34" charset="-120"/>
              </a:rPr>
              <a:t>Qué</a:t>
            </a:r>
            <a:r>
              <a:rPr lang="en-US" sz="1400" i="1" dirty="0">
                <a:solidFill>
                  <a:srgbClr val="DDFFF5"/>
                </a:solidFill>
                <a:latin typeface="Calibri" pitchFamily="34" charset="0"/>
                <a:ea typeface="Calibri" pitchFamily="34" charset="-122"/>
                <a:cs typeface="Calibri" pitchFamily="34" charset="-120"/>
              </a:rPr>
              <a:t> </a:t>
            </a:r>
            <a:r>
              <a:rPr lang="en-US" sz="1400" i="1" dirty="0" err="1">
                <a:solidFill>
                  <a:srgbClr val="DDFFF5"/>
                </a:solidFill>
                <a:latin typeface="Calibri" pitchFamily="34" charset="0"/>
                <a:ea typeface="Calibri" pitchFamily="34" charset="-122"/>
                <a:cs typeface="Calibri" pitchFamily="34" charset="-120"/>
              </a:rPr>
              <a:t>pude</a:t>
            </a:r>
            <a:r>
              <a:rPr lang="en-US" sz="1400" i="1" dirty="0">
                <a:solidFill>
                  <a:srgbClr val="DDFFF5"/>
                </a:solidFill>
                <a:latin typeface="Calibri" pitchFamily="34" charset="0"/>
                <a:ea typeface="Calibri" pitchFamily="34" charset="-122"/>
                <a:cs typeface="Calibri" pitchFamily="34" charset="-120"/>
              </a:rPr>
              <a:t> </a:t>
            </a:r>
            <a:r>
              <a:rPr lang="en-US" sz="1400" i="1" dirty="0" err="1">
                <a:solidFill>
                  <a:srgbClr val="DDFFF5"/>
                </a:solidFill>
                <a:latin typeface="Calibri" pitchFamily="34" charset="0"/>
                <a:ea typeface="Calibri" pitchFamily="34" charset="-122"/>
                <a:cs typeface="Calibri" pitchFamily="34" charset="-120"/>
              </a:rPr>
              <a:t>hacer</a:t>
            </a:r>
            <a:r>
              <a:rPr lang="en-US" sz="1400" i="1" dirty="0">
                <a:solidFill>
                  <a:srgbClr val="DDFFF5"/>
                </a:solidFill>
                <a:latin typeface="Calibri" pitchFamily="34" charset="0"/>
                <a:ea typeface="Calibri" pitchFamily="34" charset="-122"/>
                <a:cs typeface="Calibri" pitchFamily="34" charset="-120"/>
              </a:rPr>
              <a:t> major para </a:t>
            </a:r>
            <a:r>
              <a:rPr lang="en-US" sz="1400" i="1" dirty="0" err="1">
                <a:solidFill>
                  <a:srgbClr val="DDFFF5"/>
                </a:solidFill>
                <a:latin typeface="Calibri" pitchFamily="34" charset="0"/>
                <a:ea typeface="Calibri" pitchFamily="34" charset="-122"/>
                <a:cs typeface="Calibri" pitchFamily="34" charset="-120"/>
              </a:rPr>
              <a:t>lograrlo</a:t>
            </a:r>
            <a:r>
              <a:rPr lang="en-US" sz="1400" i="1" dirty="0">
                <a:solidFill>
                  <a:srgbClr val="DDFFF5"/>
                </a:solidFill>
                <a:latin typeface="Calibri" pitchFamily="34" charset="0"/>
                <a:ea typeface="Calibri" pitchFamily="34" charset="-122"/>
                <a:cs typeface="Calibri" pitchFamily="34" charset="-120"/>
              </a:rPr>
              <a:t>? </a:t>
            </a:r>
            <a:endParaRPr lang="en-US" sz="1400" dirty="0"/>
          </a:p>
        </p:txBody>
      </p:sp>
      <p:sp>
        <p:nvSpPr>
          <p:cNvPr id="8" name="Text 6"/>
          <p:cNvSpPr/>
          <p:nvPr/>
        </p:nvSpPr>
        <p:spPr>
          <a:xfrm>
            <a:off x="731520" y="3977640"/>
            <a:ext cx="7680960" cy="548640"/>
          </a:xfrm>
          <a:prstGeom prst="rect">
            <a:avLst/>
          </a:prstGeom>
          <a:noFill/>
          <a:ln/>
        </p:spPr>
        <p:txBody>
          <a:bodyPr wrap="square" rtlCol="0" anchor="ctr"/>
          <a:lstStyle/>
          <a:p>
            <a:pPr marL="0" indent="0" algn="ctr">
              <a:buNone/>
            </a:pPr>
            <a:r>
              <a:rPr lang="en-US" sz="1100" dirty="0">
                <a:solidFill>
                  <a:srgbClr val="88CCBB"/>
                </a:solidFill>
                <a:latin typeface="Calibri" pitchFamily="34" charset="0"/>
                <a:ea typeface="Calibri" pitchFamily="34" charset="-122"/>
                <a:cs typeface="Calibri" pitchFamily="34" charset="-120"/>
              </a:rPr>
              <a:t>Gracias por cuatro sesiones de trabajo genuino  ·  IAna los acompaña en los 90 días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7_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MAR .potx" id="{6B86A197-2EDD-4D7F-A441-A05B252AEC42}" vid="{9B0B0CB4-8193-41E7-B8AF-FFADEC3FE6F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2241</Words>
  <Application>Microsoft Office PowerPoint</Application>
  <PresentationFormat>Presentación en pantalla (16:9)</PresentationFormat>
  <Paragraphs>122</Paragraphs>
  <Slides>15</Slides>
  <Notes>10</Notes>
  <HiddenSlides>0</HiddenSlides>
  <MMClips>0</MMClips>
  <ScaleCrop>false</ScaleCrop>
  <HeadingPairs>
    <vt:vector size="6" baseType="variant">
      <vt:variant>
        <vt:lpstr>Fuentes usadas</vt:lpstr>
      </vt:variant>
      <vt:variant>
        <vt:i4>7</vt:i4>
      </vt:variant>
      <vt:variant>
        <vt:lpstr>Tema</vt:lpstr>
      </vt:variant>
      <vt:variant>
        <vt:i4>3</vt:i4>
      </vt:variant>
      <vt:variant>
        <vt:lpstr>Títulos de diapositiva</vt:lpstr>
      </vt:variant>
      <vt:variant>
        <vt:i4>15</vt:i4>
      </vt:variant>
    </vt:vector>
  </HeadingPairs>
  <TitlesOfParts>
    <vt:vector size="25" baseType="lpstr">
      <vt:lpstr>Aptos</vt:lpstr>
      <vt:lpstr>Arial</vt:lpstr>
      <vt:lpstr>Calibri</vt:lpstr>
      <vt:lpstr>Calibri Light</vt:lpstr>
      <vt:lpstr>Century Gothic</vt:lpstr>
      <vt:lpstr>Georgia</vt:lpstr>
      <vt:lpstr>Segoe UI Emoji</vt:lpstr>
      <vt:lpstr>Office Theme</vt:lpstr>
      <vt:lpstr>1_Office Theme</vt:lpstr>
      <vt:lpstr>7_Diseño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4 — IA Estratégica · Taller Gobierno de TI DIMAR</dc:title>
  <dc:subject>PptxGenJS Presentation</dc:subject>
  <dc:creator>PptxGenJS</dc:creator>
  <cp:lastModifiedBy>Diana Angélica Cruz Ortega</cp:lastModifiedBy>
  <cp:revision>16</cp:revision>
  <dcterms:created xsi:type="dcterms:W3CDTF">2026-04-26T15:59:13Z</dcterms:created>
  <dcterms:modified xsi:type="dcterms:W3CDTF">2026-04-30T17:02:07Z</dcterms:modified>
</cp:coreProperties>
</file>