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Lst>
  <p:notesMasterIdLst>
    <p:notesMasterId r:id="rId15"/>
  </p:notesMasterIdLst>
  <p:sldIdLst>
    <p:sldId id="256" r:id="rId3"/>
    <p:sldId id="257" r:id="rId4"/>
    <p:sldId id="268" r:id="rId5"/>
    <p:sldId id="258" r:id="rId6"/>
    <p:sldId id="266" r:id="rId7"/>
    <p:sldId id="259" r:id="rId8"/>
    <p:sldId id="260" r:id="rId9"/>
    <p:sldId id="261" r:id="rId10"/>
    <p:sldId id="262" r:id="rId11"/>
    <p:sldId id="263" r:id="rId12"/>
    <p:sldId id="267" r:id="rId13"/>
    <p:sldId id="265"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86B2B9-DB2B-4758-8C4F-AC5667730A0E}" v="8" dt="2026-04-28T16:38:13.034"/>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3029" autoAdjust="0"/>
  </p:normalViewPr>
  <p:slideViewPr>
    <p:cSldViewPr snapToGrid="0" snapToObjects="1">
      <p:cViewPr varScale="1">
        <p:scale>
          <a:sx n="90" d="100"/>
          <a:sy n="90" d="100"/>
        </p:scale>
        <p:origin x="123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21" Type="http://schemas.microsoft.com/office/2015/10/relationships/revisionInfo" Target="revisionInfo.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ana Angélica Cruz Ortega" userId="b65eefa029f56b0b" providerId="LiveId" clId="{770039B8-D00B-4691-AC64-6975C7009C28}"/>
    <pc:docChg chg="undo custSel addSld delSld modSld sldOrd">
      <pc:chgData name="Diana Angélica Cruz Ortega" userId="b65eefa029f56b0b" providerId="LiveId" clId="{770039B8-D00B-4691-AC64-6975C7009C28}" dt="2026-04-28T16:38:29.080" v="102" actId="1076"/>
      <pc:docMkLst>
        <pc:docMk/>
      </pc:docMkLst>
      <pc:sldChg chg="del">
        <pc:chgData name="Diana Angélica Cruz Ortega" userId="b65eefa029f56b0b" providerId="LiveId" clId="{770039B8-D00B-4691-AC64-6975C7009C28}" dt="2026-04-28T16:33:55.516" v="35" actId="47"/>
        <pc:sldMkLst>
          <pc:docMk/>
          <pc:sldMk cId="0" sldId="264"/>
        </pc:sldMkLst>
      </pc:sldChg>
      <pc:sldChg chg="addSp delSp modSp add del mod setBg">
        <pc:chgData name="Diana Angélica Cruz Ortega" userId="b65eefa029f56b0b" providerId="LiveId" clId="{770039B8-D00B-4691-AC64-6975C7009C28}" dt="2026-04-28T16:31:59.909" v="27" actId="6549"/>
        <pc:sldMkLst>
          <pc:docMk/>
          <pc:sldMk cId="0" sldId="266"/>
        </pc:sldMkLst>
        <pc:spChg chg="mod">
          <ac:chgData name="Diana Angélica Cruz Ortega" userId="b65eefa029f56b0b" providerId="LiveId" clId="{770039B8-D00B-4691-AC64-6975C7009C28}" dt="2026-04-28T16:31:59.909" v="27" actId="6549"/>
          <ac:spMkLst>
            <pc:docMk/>
            <pc:sldMk cId="0" sldId="266"/>
            <ac:spMk id="4" creationId="{00000000-0000-0000-0000-000000000000}"/>
          </ac:spMkLst>
        </pc:spChg>
        <pc:spChg chg="del">
          <ac:chgData name="Diana Angélica Cruz Ortega" userId="b65eefa029f56b0b" providerId="LiveId" clId="{770039B8-D00B-4691-AC64-6975C7009C28}" dt="2026-04-28T16:30:46.852" v="3" actId="478"/>
          <ac:spMkLst>
            <pc:docMk/>
            <pc:sldMk cId="0" sldId="266"/>
            <ac:spMk id="6" creationId="{00000000-0000-0000-0000-000000000000}"/>
          </ac:spMkLst>
        </pc:spChg>
        <pc:spChg chg="del">
          <ac:chgData name="Diana Angélica Cruz Ortega" userId="b65eefa029f56b0b" providerId="LiveId" clId="{770039B8-D00B-4691-AC64-6975C7009C28}" dt="2026-04-28T16:31:15.683" v="6" actId="478"/>
          <ac:spMkLst>
            <pc:docMk/>
            <pc:sldMk cId="0" sldId="266"/>
            <ac:spMk id="7" creationId="{00000000-0000-0000-0000-000000000000}"/>
          </ac:spMkLst>
        </pc:spChg>
        <pc:spChg chg="add del">
          <ac:chgData name="Diana Angélica Cruz Ortega" userId="b65eefa029f56b0b" providerId="LiveId" clId="{770039B8-D00B-4691-AC64-6975C7009C28}" dt="2026-04-28T16:31:12.822" v="5" actId="22"/>
          <ac:spMkLst>
            <pc:docMk/>
            <pc:sldMk cId="0" sldId="266"/>
            <ac:spMk id="9" creationId="{5683033B-8994-7119-DEB9-38EFF4255B4D}"/>
          </ac:spMkLst>
        </pc:spChg>
        <pc:picChg chg="add mod">
          <ac:chgData name="Diana Angélica Cruz Ortega" userId="b65eefa029f56b0b" providerId="LiveId" clId="{770039B8-D00B-4691-AC64-6975C7009C28}" dt="2026-04-28T16:31:52.624" v="9" actId="1076"/>
          <ac:picMkLst>
            <pc:docMk/>
            <pc:sldMk cId="0" sldId="266"/>
            <ac:picMk id="11" creationId="{8A03CB30-5EA8-4853-E5A9-093B494E8EEE}"/>
          </ac:picMkLst>
        </pc:picChg>
      </pc:sldChg>
      <pc:sldChg chg="addSp delSp modSp add mod ord">
        <pc:chgData name="Diana Angélica Cruz Ortega" userId="b65eefa029f56b0b" providerId="LiveId" clId="{770039B8-D00B-4691-AC64-6975C7009C28}" dt="2026-04-28T16:33:48.376" v="34"/>
        <pc:sldMkLst>
          <pc:docMk/>
          <pc:sldMk cId="0" sldId="267"/>
        </pc:sldMkLst>
        <pc:spChg chg="del">
          <ac:chgData name="Diana Angélica Cruz Ortega" userId="b65eefa029f56b0b" providerId="LiveId" clId="{770039B8-D00B-4691-AC64-6975C7009C28}" dt="2026-04-28T16:32:23.236" v="29" actId="478"/>
          <ac:spMkLst>
            <pc:docMk/>
            <pc:sldMk cId="0" sldId="267"/>
            <ac:spMk id="6" creationId="{00000000-0000-0000-0000-000000000000}"/>
          </ac:spMkLst>
        </pc:spChg>
        <pc:spChg chg="del">
          <ac:chgData name="Diana Angélica Cruz Ortega" userId="b65eefa029f56b0b" providerId="LiveId" clId="{770039B8-D00B-4691-AC64-6975C7009C28}" dt="2026-04-28T16:33:17.061" v="31" actId="478"/>
          <ac:spMkLst>
            <pc:docMk/>
            <pc:sldMk cId="0" sldId="267"/>
            <ac:spMk id="7" creationId="{00000000-0000-0000-0000-000000000000}"/>
          </ac:spMkLst>
        </pc:spChg>
        <pc:picChg chg="add mod">
          <ac:chgData name="Diana Angélica Cruz Ortega" userId="b65eefa029f56b0b" providerId="LiveId" clId="{770039B8-D00B-4691-AC64-6975C7009C28}" dt="2026-04-28T16:33:19.124" v="32" actId="1076"/>
          <ac:picMkLst>
            <pc:docMk/>
            <pc:sldMk cId="0" sldId="267"/>
            <ac:picMk id="9" creationId="{50EEFF48-9105-FBDD-8477-B7E8B43CF12B}"/>
          </ac:picMkLst>
        </pc:picChg>
      </pc:sldChg>
      <pc:sldChg chg="addSp delSp modSp add mod setBg">
        <pc:chgData name="Diana Angélica Cruz Ortega" userId="b65eefa029f56b0b" providerId="LiveId" clId="{770039B8-D00B-4691-AC64-6975C7009C28}" dt="2026-04-28T16:38:29.080" v="102" actId="1076"/>
        <pc:sldMkLst>
          <pc:docMk/>
          <pc:sldMk cId="652069703" sldId="268"/>
        </pc:sldMkLst>
        <pc:spChg chg="mod">
          <ac:chgData name="Diana Angélica Cruz Ortega" userId="b65eefa029f56b0b" providerId="LiveId" clId="{770039B8-D00B-4691-AC64-6975C7009C28}" dt="2026-04-28T16:35:41.869" v="75" actId="20577"/>
          <ac:spMkLst>
            <pc:docMk/>
            <pc:sldMk cId="652069703" sldId="268"/>
            <ac:spMk id="3" creationId="{2F588004-FB36-230F-AEF5-160249524636}"/>
          </ac:spMkLst>
        </pc:spChg>
        <pc:spChg chg="del">
          <ac:chgData name="Diana Angélica Cruz Ortega" userId="b65eefa029f56b0b" providerId="LiveId" clId="{770039B8-D00B-4691-AC64-6975C7009C28}" dt="2026-04-28T16:35:44.731" v="76" actId="478"/>
          <ac:spMkLst>
            <pc:docMk/>
            <pc:sldMk cId="652069703" sldId="268"/>
            <ac:spMk id="4" creationId="{36EA3127-DC4B-56CC-4143-605C5382F7A9}"/>
          </ac:spMkLst>
        </pc:spChg>
        <pc:spChg chg="del mod">
          <ac:chgData name="Diana Angélica Cruz Ortega" userId="b65eefa029f56b0b" providerId="LiveId" clId="{770039B8-D00B-4691-AC64-6975C7009C28}" dt="2026-04-28T16:35:46.884" v="78" actId="478"/>
          <ac:spMkLst>
            <pc:docMk/>
            <pc:sldMk cId="652069703" sldId="268"/>
            <ac:spMk id="5" creationId="{08D2BA00-9BC0-32B8-AA0C-566A3A6370C4}"/>
          </ac:spMkLst>
        </pc:spChg>
        <pc:spChg chg="del">
          <ac:chgData name="Diana Angélica Cruz Ortega" userId="b65eefa029f56b0b" providerId="LiveId" clId="{770039B8-D00B-4691-AC64-6975C7009C28}" dt="2026-04-28T16:35:56.913" v="85" actId="478"/>
          <ac:spMkLst>
            <pc:docMk/>
            <pc:sldMk cId="652069703" sldId="268"/>
            <ac:spMk id="6" creationId="{B9EC875A-A35D-9464-E8F1-4D9299E84F35}"/>
          </ac:spMkLst>
        </pc:spChg>
        <pc:spChg chg="del">
          <ac:chgData name="Diana Angélica Cruz Ortega" userId="b65eefa029f56b0b" providerId="LiveId" clId="{770039B8-D00B-4691-AC64-6975C7009C28}" dt="2026-04-28T16:35:58.397" v="86" actId="478"/>
          <ac:spMkLst>
            <pc:docMk/>
            <pc:sldMk cId="652069703" sldId="268"/>
            <ac:spMk id="7" creationId="{B2108EC5-9C9A-667F-FDD7-DFE0AE9342A6}"/>
          </ac:spMkLst>
        </pc:spChg>
        <pc:spChg chg="del">
          <ac:chgData name="Diana Angélica Cruz Ortega" userId="b65eefa029f56b0b" providerId="LiveId" clId="{770039B8-D00B-4691-AC64-6975C7009C28}" dt="2026-04-28T16:35:59.708" v="87" actId="478"/>
          <ac:spMkLst>
            <pc:docMk/>
            <pc:sldMk cId="652069703" sldId="268"/>
            <ac:spMk id="8" creationId="{17A15E11-6F2E-DC5E-8763-AC544D8726A8}"/>
          </ac:spMkLst>
        </pc:spChg>
        <pc:spChg chg="del">
          <ac:chgData name="Diana Angélica Cruz Ortega" userId="b65eefa029f56b0b" providerId="LiveId" clId="{770039B8-D00B-4691-AC64-6975C7009C28}" dt="2026-04-28T16:36:00.603" v="88" actId="478"/>
          <ac:spMkLst>
            <pc:docMk/>
            <pc:sldMk cId="652069703" sldId="268"/>
            <ac:spMk id="10" creationId="{422DAA40-6C0B-BEE6-8311-B763756BB3C8}"/>
          </ac:spMkLst>
        </pc:spChg>
        <pc:spChg chg="mod">
          <ac:chgData name="Diana Angélica Cruz Ortega" userId="b65eefa029f56b0b" providerId="LiveId" clId="{770039B8-D00B-4691-AC64-6975C7009C28}" dt="2026-04-28T16:36:01.325" v="89" actId="6549"/>
          <ac:spMkLst>
            <pc:docMk/>
            <pc:sldMk cId="652069703" sldId="268"/>
            <ac:spMk id="11" creationId="{2F328BEB-9DCD-3504-94DA-BD58C67152A2}"/>
          </ac:spMkLst>
        </pc:spChg>
        <pc:spChg chg="del">
          <ac:chgData name="Diana Angélica Cruz Ortega" userId="b65eefa029f56b0b" providerId="LiveId" clId="{770039B8-D00B-4691-AC64-6975C7009C28}" dt="2026-04-28T16:36:02.235" v="90" actId="478"/>
          <ac:spMkLst>
            <pc:docMk/>
            <pc:sldMk cId="652069703" sldId="268"/>
            <ac:spMk id="12" creationId="{8A408623-7372-A657-759A-E39FBE9C7003}"/>
          </ac:spMkLst>
        </pc:spChg>
        <pc:spChg chg="del">
          <ac:chgData name="Diana Angélica Cruz Ortega" userId="b65eefa029f56b0b" providerId="LiveId" clId="{770039B8-D00B-4691-AC64-6975C7009C28}" dt="2026-04-28T16:36:04.202" v="91" actId="478"/>
          <ac:spMkLst>
            <pc:docMk/>
            <pc:sldMk cId="652069703" sldId="268"/>
            <ac:spMk id="13" creationId="{CC831E60-C7D7-B0BE-F6E3-EC27BF2765CB}"/>
          </ac:spMkLst>
        </pc:spChg>
        <pc:spChg chg="del">
          <ac:chgData name="Diana Angélica Cruz Ortega" userId="b65eefa029f56b0b" providerId="LiveId" clId="{770039B8-D00B-4691-AC64-6975C7009C28}" dt="2026-04-28T16:36:04.900" v="92" actId="478"/>
          <ac:spMkLst>
            <pc:docMk/>
            <pc:sldMk cId="652069703" sldId="268"/>
            <ac:spMk id="14" creationId="{D24EDD0B-4E98-3B69-2F5C-0E9C87DC15AC}"/>
          </ac:spMkLst>
        </pc:spChg>
        <pc:spChg chg="del">
          <ac:chgData name="Diana Angélica Cruz Ortega" userId="b65eefa029f56b0b" providerId="LiveId" clId="{770039B8-D00B-4691-AC64-6975C7009C28}" dt="2026-04-28T16:36:06.856" v="93" actId="478"/>
          <ac:spMkLst>
            <pc:docMk/>
            <pc:sldMk cId="652069703" sldId="268"/>
            <ac:spMk id="15" creationId="{6955FD98-7A1B-EDEE-1647-68DB1ABA7E4F}"/>
          </ac:spMkLst>
        </pc:spChg>
        <pc:spChg chg="del">
          <ac:chgData name="Diana Angélica Cruz Ortega" userId="b65eefa029f56b0b" providerId="LiveId" clId="{770039B8-D00B-4691-AC64-6975C7009C28}" dt="2026-04-28T16:35:47.819" v="79" actId="478"/>
          <ac:spMkLst>
            <pc:docMk/>
            <pc:sldMk cId="652069703" sldId="268"/>
            <ac:spMk id="16" creationId="{7E47E3AA-E031-85BA-2A1D-FD9DA6CF65D2}"/>
          </ac:spMkLst>
        </pc:spChg>
        <pc:spChg chg="del">
          <ac:chgData name="Diana Angélica Cruz Ortega" userId="b65eefa029f56b0b" providerId="LiveId" clId="{770039B8-D00B-4691-AC64-6975C7009C28}" dt="2026-04-28T16:35:52.243" v="82" actId="478"/>
          <ac:spMkLst>
            <pc:docMk/>
            <pc:sldMk cId="652069703" sldId="268"/>
            <ac:spMk id="17" creationId="{82BC8FD9-FB70-C5B2-FE03-39D8B358C94D}"/>
          </ac:spMkLst>
        </pc:spChg>
        <pc:spChg chg="del">
          <ac:chgData name="Diana Angélica Cruz Ortega" userId="b65eefa029f56b0b" providerId="LiveId" clId="{770039B8-D00B-4691-AC64-6975C7009C28}" dt="2026-04-28T16:35:53.435" v="83" actId="478"/>
          <ac:spMkLst>
            <pc:docMk/>
            <pc:sldMk cId="652069703" sldId="268"/>
            <ac:spMk id="18" creationId="{EDBBB1DA-BFB5-9DCF-ACA8-735A050EAA60}"/>
          </ac:spMkLst>
        </pc:spChg>
        <pc:spChg chg="del">
          <ac:chgData name="Diana Angélica Cruz Ortega" userId="b65eefa029f56b0b" providerId="LiveId" clId="{770039B8-D00B-4691-AC64-6975C7009C28}" dt="2026-04-28T16:35:50.280" v="81" actId="478"/>
          <ac:spMkLst>
            <pc:docMk/>
            <pc:sldMk cId="652069703" sldId="268"/>
            <ac:spMk id="19" creationId="{6C173B55-69A1-DD31-0FA9-9BF260A2F9F0}"/>
          </ac:spMkLst>
        </pc:spChg>
        <pc:spChg chg="del">
          <ac:chgData name="Diana Angélica Cruz Ortega" userId="b65eefa029f56b0b" providerId="LiveId" clId="{770039B8-D00B-4691-AC64-6975C7009C28}" dt="2026-04-28T16:35:48.667" v="80" actId="478"/>
          <ac:spMkLst>
            <pc:docMk/>
            <pc:sldMk cId="652069703" sldId="268"/>
            <ac:spMk id="20" creationId="{F67467C1-571A-939E-133F-F206252C8967}"/>
          </ac:spMkLst>
        </pc:spChg>
        <pc:spChg chg="del">
          <ac:chgData name="Diana Angélica Cruz Ortega" userId="b65eefa029f56b0b" providerId="LiveId" clId="{770039B8-D00B-4691-AC64-6975C7009C28}" dt="2026-04-28T16:35:54.772" v="84" actId="478"/>
          <ac:spMkLst>
            <pc:docMk/>
            <pc:sldMk cId="652069703" sldId="268"/>
            <ac:spMk id="21" creationId="{4D0A80B8-E9DA-0258-539A-3FC269858D26}"/>
          </ac:spMkLst>
        </pc:spChg>
        <pc:graphicFrameChg chg="add del mod">
          <ac:chgData name="Diana Angélica Cruz Ortega" userId="b65eefa029f56b0b" providerId="LiveId" clId="{770039B8-D00B-4691-AC64-6975C7009C28}" dt="2026-04-28T16:38:17.763" v="98" actId="478"/>
          <ac:graphicFrameMkLst>
            <pc:docMk/>
            <pc:sldMk cId="652069703" sldId="268"/>
            <ac:graphicFrameMk id="22" creationId="{200E69A8-A5F0-44B3-B7CF-BAE3AA8DE69A}"/>
          </ac:graphicFrameMkLst>
        </pc:graphicFrameChg>
        <pc:graphicFrameChg chg="add mod modGraphic">
          <ac:chgData name="Diana Angélica Cruz Ortega" userId="b65eefa029f56b0b" providerId="LiveId" clId="{770039B8-D00B-4691-AC64-6975C7009C28}" dt="2026-04-28T16:38:29.080" v="102" actId="1076"/>
          <ac:graphicFrameMkLst>
            <pc:docMk/>
            <pc:sldMk cId="652069703" sldId="268"/>
            <ac:graphicFrameMk id="23" creationId="{37610683-A2DC-6EAE-4D9F-56592BC02D4B}"/>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1901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GUIÓN — PORTADA (2 min)
"La sesión pasada usaron Copilot para hacer cosas. Hoy lo vamos a usar para algo diferente — para ver mejor. Para analizar datos y apoyar decisiones."
"Pero la IA analítica tiene una particularidad que la operativa no tiene: los errores son menos obvios. Un correo mal redactado se nota. Un análisis que parece correcto pero no lo es... eso es más peligroso."
"Eso es exactamente lo que vamos a trabajar hoy. Dos bloques: primero hacemos y exploramos. Después del receso, reflexionamos sobre qué significa gobernar lo que acabamos de hacer."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GUIÓN — MAPA (2 min)
Recuento rápido de S2. "Sesión pasada: IA operativa — hacer cosas. Hoy: IA analítica — procesar datos para ver mejor."
"Y la sesión 4 cierra con IA estratégica y con el plan que cada uno se lleva."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1EECB-7E9F-4F41-ABC1-4ED7C141E8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DA9233-2056-F137-5D5C-39B14405E5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16C50D-02B5-E942-39FC-735DDE849521}"/>
              </a:ext>
            </a:extLst>
          </p:cNvPr>
          <p:cNvSpPr>
            <a:spLocks noGrp="1"/>
          </p:cNvSpPr>
          <p:nvPr>
            <p:ph type="body" idx="1"/>
          </p:nvPr>
        </p:nvSpPr>
        <p:spPr/>
        <p:txBody>
          <a:bodyPr/>
          <a:lstStyle/>
          <a:p>
            <a:r>
              <a:rPr lang="es-MX" i="1" dirty="0"/>
              <a:t>Nota de </a:t>
            </a:r>
            <a:r>
              <a:rPr lang="es-MX" i="1" dirty="0" err="1"/>
              <a:t>slide</a:t>
            </a:r>
            <a:r>
              <a:rPr lang="es-MX" i="1" dirty="0"/>
              <a:t>:</a:t>
            </a:r>
            <a:r>
              <a:rPr lang="es-MX" dirty="0"/>
              <a:t> "La IA analítica de hoy trabaja principalmente en los primeros dos niveles — con cada vez más capacidad en el tercero. El cuarto sigue siendo territorio humano."</a:t>
            </a:r>
            <a:endParaRPr lang="en-US" dirty="0"/>
          </a:p>
        </p:txBody>
      </p:sp>
      <p:sp>
        <p:nvSpPr>
          <p:cNvPr id="4" name="Slide Number Placeholder 3">
            <a:extLst>
              <a:ext uri="{FF2B5EF4-FFF2-40B4-BE49-F238E27FC236}">
                <a16:creationId xmlns:a16="http://schemas.microsoft.com/office/drawing/2014/main" id="{C4BD647C-58D3-5B25-2FC1-5B026E8C29F9}"/>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41354941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GUIÓN — DISTINCIÓN + BLOQUES (3-4 min)
Leer la distinción. Luego:
"Datos incompletos → análisis incompleto. Datos incorrectos → análisis incorrecto, presentado con total confianza. Datos sensibles → información de la organización en un sistema externo."
"Hoy trabajamos en dos bloques. El primero: hacemos y exploramos — 20 minutos de retos, 15 de plenaria. El segundo, después del receso: reflexionamos sobre qué significa gobernar todo eso."
"Arranquemos con los retos."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GUIÓN — INSTRUCCIONES (2 min)
Asignar grupos. Recordar:
"El material tiene prompts y también instrucciones para generar datos si no tienen reales. No hay excusa para no empezar."
"Una instrucción adicional: después del primer resultado, iteren con las técnicas del instructivo de prompting que recibieron. Prueben al menos una técnica diferente."
"Y al final: prepárense para presentar en exactamente 3 minutos. La estructura está en el material."
CRONÓMETRO. CIRCULAR. No ayudar con la tecnología — que experimenten.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GUIÓN — PLENARIA (15 min)
TIEMPO ESTRICTO. Este grupo tiende a extenderse. Usar cronómetro visible.
Foco especial en la tercera pregunta: no dejar que el grupo la esquive con "el análisis fue correcto". Preguntar siempre: "¿Cómo lo verificaron?"
Si alguien dice "Copilot se equivocó en X" — ORO. "¿Cómo lo detectaron? ¿Qué habría pasado si no lo hubieran visto?"
TRANSICIÓN AL RECESO:
"Lo que acaban de describir — el contexto que Copilot no tiene, los errores que podrían pasar desapercibidos — es exactamente lo que hace necesario el gobierno de los datos. Después del receso vamos a eso."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la pausa, sembrar la pregunta:
"Para la segunda parte: van a pensar no en si Copilot analizó bien — sino en qué datos le dieron y quién debería decidir eso en su organización."
Circular informalmente durante el receso.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GUIÓN — GOBIERNO DE DATOS (15 min)
"Volvemos. Y el juego cambia."
Leer la pregunta del título. Pausa.
"Hoy pusieron datos reales — o muy similares — en una herramienta de IA. Eso tiene consecuencias que van más allá de si el análisis fue bueno o malo."
10 minutos de trabajo en grupo. Si un grupo dice "eso lo maneja TI": "¿Tiene el área de TI visibilidad de toda la información estratégica de la organización para saber qué es sensible y qué no? ¿O eso requiere una decisión de toda la dirección?"
Plenaria 5 min. Luego diapositiva siguiente para conectar con COBIT.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GUIÓN — COBIT APO12/APO14 (5 min)
No introducir COBIT como tema nuevo — conectar directamente con lo que acaban de discutir:
"Lo que acaban de describir tiene dos nombres en gobierno de TI."
APO12: "Gestión del riesgo. Antes de que la IA analice sus datos, la pregunta es: ¿qué puede salir mal? ¿quién detecta si sale mal? Esas preguntas no las hace la herramienta — las hace la dirección."
APO14: "Gestión de datos. Los datos de la organización son un activo. Como cualquier activo, alguien decide quién puede usarlos y para qué. Cuando le dan datos a Copilot, están usando ese activo. ¿Hay una política que diga qué se puede y qué no?"
"La Referencia Didáctica COBIT que tienen disponible tiene estos dos objetivos con ejemplos reales."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GUIÓN — LIDERAZGO (7 min)
Leer la distinción con pausa entre las dos partes.
"El valor de quien lidera en la era de la IA no está en saber analizar datos. Está en saber qué preguntar, qué validar y qué contexto la IA nunca va a tener."
Pausa larga.
"Eso no se automatiza."
Dejar la pregunta abierta — no pedir respuesta ahora.
CIERRE:
"El jueves es la última sesión. IA Estratégica — cómo gobernar la IA a nivel institucional. Y cada uno se lleva un plan concreto para los próximos 90 días en su organización."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58625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6438971"/>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5041312"/>
      </p:ext>
    </p:extLst>
  </p:cSld>
  <p:clrMap bg1="lt1" tx1="dk1" bg2="lt2" tx2="dk2" accent1="accent1" accent2="accent2" accent3="accent3" accent4="accent4" accent5="accent5" accent6="accent6" hlink="hlink" folHlink="folHlink"/>
  <p:sldLayoutIdLst>
    <p:sldLayoutId id="2147483651" r:id="rId1"/>
    <p:sldLayoutId id="2147483652"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4A6E"/>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7490">
              <a:alpha val="20000"/>
            </a:srgbClr>
          </a:solidFill>
          <a:ln w="12700">
            <a:solidFill>
              <a:srgbClr val="0E7490">
                <a:alpha val="0"/>
              </a:srgbClr>
            </a:solidFill>
            <a:prstDash val="solid"/>
          </a:ln>
        </p:spPr>
        <p:txBody>
          <a:bodyPr/>
          <a:lstStyle/>
          <a:p>
            <a:endParaRPr lang="es-CO"/>
          </a:p>
        </p:txBody>
      </p:sp>
      <p:sp>
        <p:nvSpPr>
          <p:cNvPr id="3" name="Text 1"/>
          <p:cNvSpPr/>
          <p:nvPr/>
        </p:nvSpPr>
        <p:spPr>
          <a:xfrm>
            <a:off x="548640" y="594360"/>
            <a:ext cx="8046720" cy="320040"/>
          </a:xfrm>
          <a:prstGeom prst="rect">
            <a:avLst/>
          </a:prstGeom>
          <a:noFill/>
          <a:ln/>
        </p:spPr>
        <p:txBody>
          <a:bodyPr wrap="square" rtlCol="0" anchor="ctr"/>
          <a:lstStyle/>
          <a:p>
            <a:pPr marL="0" indent="0">
              <a:buNone/>
            </a:pPr>
            <a:r>
              <a:rPr lang="en-US" sz="1000" b="1" kern="0" spc="300" dirty="0">
                <a:solidFill>
                  <a:srgbClr val="9DD9E8"/>
                </a:solidFill>
                <a:latin typeface="Calibri" pitchFamily="34" charset="0"/>
                <a:ea typeface="Calibri" pitchFamily="34" charset="-122"/>
                <a:cs typeface="Calibri" pitchFamily="34" charset="-120"/>
              </a:rPr>
              <a:t>SESIÓN 3 DE 4  ·  IA ANALÍTICA</a:t>
            </a:r>
            <a:endParaRPr lang="en-US" sz="1000" dirty="0"/>
          </a:p>
        </p:txBody>
      </p:sp>
      <p:sp>
        <p:nvSpPr>
          <p:cNvPr id="4" name="Text 2"/>
          <p:cNvSpPr/>
          <p:nvPr/>
        </p:nvSpPr>
        <p:spPr>
          <a:xfrm>
            <a:off x="548640" y="1005840"/>
            <a:ext cx="6858000" cy="1645920"/>
          </a:xfrm>
          <a:prstGeom prst="rect">
            <a:avLst/>
          </a:prstGeom>
          <a:noFill/>
          <a:ln/>
        </p:spPr>
        <p:txBody>
          <a:bodyPr wrap="square" rtlCol="0" anchor="ctr"/>
          <a:lstStyle/>
          <a:p>
            <a:pPr marL="0" indent="0">
              <a:lnSpc>
                <a:spcPct val="115000"/>
              </a:lnSpc>
              <a:buNone/>
            </a:pPr>
            <a:r>
              <a:rPr lang="en-US" sz="4000" b="1" dirty="0">
                <a:solidFill>
                  <a:srgbClr val="FFFFFF"/>
                </a:solidFill>
                <a:latin typeface="Georgia" pitchFamily="34" charset="0"/>
                <a:ea typeface="Georgia" pitchFamily="34" charset="-122"/>
                <a:cs typeface="Georgia" pitchFamily="34" charset="-120"/>
              </a:rPr>
              <a:t>La IA que ayuda</a:t>
            </a:r>
            <a:endParaRPr lang="en-US" sz="4000" dirty="0"/>
          </a:p>
          <a:p>
            <a:pPr marL="0" indent="0">
              <a:lnSpc>
                <a:spcPct val="115000"/>
              </a:lnSpc>
              <a:buNone/>
            </a:pPr>
            <a:r>
              <a:rPr lang="en-US" sz="4000" b="1" dirty="0">
                <a:solidFill>
                  <a:srgbClr val="FFFFFF"/>
                </a:solidFill>
                <a:latin typeface="Georgia" pitchFamily="34" charset="0"/>
                <a:ea typeface="Georgia" pitchFamily="34" charset="-122"/>
                <a:cs typeface="Georgia" pitchFamily="34" charset="-120"/>
              </a:rPr>
              <a:t>a ver mejor</a:t>
            </a:r>
            <a:endParaRPr lang="en-US" sz="4000" dirty="0"/>
          </a:p>
        </p:txBody>
      </p:sp>
      <p:sp>
        <p:nvSpPr>
          <p:cNvPr id="5" name="Text 3"/>
          <p:cNvSpPr/>
          <p:nvPr/>
        </p:nvSpPr>
        <p:spPr>
          <a:xfrm>
            <a:off x="548640" y="2743200"/>
            <a:ext cx="6858000" cy="731520"/>
          </a:xfrm>
          <a:prstGeom prst="rect">
            <a:avLst/>
          </a:prstGeom>
          <a:noFill/>
          <a:ln/>
        </p:spPr>
        <p:txBody>
          <a:bodyPr wrap="square" rtlCol="0" anchor="ctr"/>
          <a:lstStyle/>
          <a:p>
            <a:pPr marL="0" indent="0">
              <a:lnSpc>
                <a:spcPct val="130000"/>
              </a:lnSpc>
              <a:buNone/>
            </a:pPr>
            <a:r>
              <a:rPr lang="en-US" sz="1500" dirty="0">
                <a:solidFill>
                  <a:srgbClr val="9DD9E8"/>
                </a:solidFill>
                <a:latin typeface="Calibri" pitchFamily="34" charset="0"/>
                <a:ea typeface="Calibri" pitchFamily="34" charset="-122"/>
                <a:cs typeface="Calibri" pitchFamily="34" charset="-120"/>
              </a:rPr>
              <a:t>Copilot para analizar información,</a:t>
            </a:r>
            <a:endParaRPr lang="en-US" sz="1500" dirty="0"/>
          </a:p>
          <a:p>
            <a:pPr marL="0" indent="0">
              <a:lnSpc>
                <a:spcPct val="130000"/>
              </a:lnSpc>
              <a:buNone/>
            </a:pPr>
            <a:r>
              <a:rPr lang="en-US" sz="1500" dirty="0">
                <a:solidFill>
                  <a:srgbClr val="9DD9E8"/>
                </a:solidFill>
                <a:latin typeface="Calibri" pitchFamily="34" charset="0"/>
                <a:ea typeface="Calibri" pitchFamily="34" charset="-122"/>
                <a:cs typeface="Calibri" pitchFamily="34" charset="-120"/>
              </a:rPr>
              <a:t>apoyar decisiones y gobernar los datos</a:t>
            </a:r>
            <a:endParaRPr lang="en-US" sz="1500" dirty="0"/>
          </a:p>
        </p:txBody>
      </p:sp>
      <p:sp>
        <p:nvSpPr>
          <p:cNvPr id="6" name="Shape 4"/>
          <p:cNvSpPr/>
          <p:nvPr/>
        </p:nvSpPr>
        <p:spPr>
          <a:xfrm>
            <a:off x="548640" y="3931920"/>
            <a:ext cx="2560320" cy="347472"/>
          </a:xfrm>
          <a:prstGeom prst="roundRect">
            <a:avLst>
              <a:gd name="adj" fmla="val 52632"/>
            </a:avLst>
          </a:prstGeom>
          <a:solidFill>
            <a:srgbClr val="FFFFFF">
              <a:alpha val="12000"/>
            </a:srgbClr>
          </a:solidFill>
          <a:ln w="12700">
            <a:solidFill>
              <a:srgbClr val="FFFFFF">
                <a:alpha val="40000"/>
              </a:srgbClr>
            </a:solidFill>
            <a:prstDash val="solid"/>
          </a:ln>
        </p:spPr>
        <p:txBody>
          <a:bodyPr/>
          <a:lstStyle/>
          <a:p>
            <a:endParaRPr lang="es-CO"/>
          </a:p>
        </p:txBody>
      </p:sp>
      <p:sp>
        <p:nvSpPr>
          <p:cNvPr id="7" name="Text 5"/>
          <p:cNvSpPr/>
          <p:nvPr/>
        </p:nvSpPr>
        <p:spPr>
          <a:xfrm>
            <a:off x="548640" y="3931920"/>
            <a:ext cx="256032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Trabajo en grupo</a:t>
            </a:r>
            <a:endParaRPr lang="en-US" sz="1000" dirty="0"/>
          </a:p>
        </p:txBody>
      </p:sp>
      <p:sp>
        <p:nvSpPr>
          <p:cNvPr id="8" name="Shape 6"/>
          <p:cNvSpPr/>
          <p:nvPr/>
        </p:nvSpPr>
        <p:spPr>
          <a:xfrm>
            <a:off x="3383280" y="3931920"/>
            <a:ext cx="2560320" cy="347472"/>
          </a:xfrm>
          <a:prstGeom prst="roundRect">
            <a:avLst>
              <a:gd name="adj" fmla="val 52632"/>
            </a:avLst>
          </a:prstGeom>
          <a:solidFill>
            <a:srgbClr val="FFFFFF">
              <a:alpha val="12000"/>
            </a:srgbClr>
          </a:solidFill>
          <a:ln w="12700">
            <a:solidFill>
              <a:srgbClr val="FFFFFF">
                <a:alpha val="40000"/>
              </a:srgbClr>
            </a:solidFill>
            <a:prstDash val="solid"/>
          </a:ln>
        </p:spPr>
        <p:txBody>
          <a:bodyPr/>
          <a:lstStyle/>
          <a:p>
            <a:endParaRPr lang="es-CO"/>
          </a:p>
        </p:txBody>
      </p:sp>
      <p:sp>
        <p:nvSpPr>
          <p:cNvPr id="9" name="Text 7"/>
          <p:cNvSpPr/>
          <p:nvPr/>
        </p:nvSpPr>
        <p:spPr>
          <a:xfrm>
            <a:off x="3383280" y="3931920"/>
            <a:ext cx="256032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 PC por grupo</a:t>
            </a:r>
            <a:endParaRPr lang="en-US" sz="1000" dirty="0"/>
          </a:p>
        </p:txBody>
      </p:sp>
      <p:sp>
        <p:nvSpPr>
          <p:cNvPr id="10" name="Shape 8"/>
          <p:cNvSpPr/>
          <p:nvPr/>
        </p:nvSpPr>
        <p:spPr>
          <a:xfrm>
            <a:off x="6217920" y="3931920"/>
            <a:ext cx="2560320" cy="347472"/>
          </a:xfrm>
          <a:prstGeom prst="roundRect">
            <a:avLst>
              <a:gd name="adj" fmla="val 52632"/>
            </a:avLst>
          </a:prstGeom>
          <a:solidFill>
            <a:srgbClr val="FFFFFF">
              <a:alpha val="12000"/>
            </a:srgbClr>
          </a:solidFill>
          <a:ln w="12700">
            <a:solidFill>
              <a:srgbClr val="FFFFFF">
                <a:alpha val="40000"/>
              </a:srgbClr>
            </a:solidFill>
            <a:prstDash val="solid"/>
          </a:ln>
        </p:spPr>
        <p:txBody>
          <a:bodyPr/>
          <a:lstStyle/>
          <a:p>
            <a:endParaRPr lang="es-CO"/>
          </a:p>
        </p:txBody>
      </p:sp>
      <p:sp>
        <p:nvSpPr>
          <p:cNvPr id="11" name="Text 9"/>
          <p:cNvSpPr/>
          <p:nvPr/>
        </p:nvSpPr>
        <p:spPr>
          <a:xfrm>
            <a:off x="6217920" y="3931920"/>
            <a:ext cx="256032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Copilot + Microsoft 365</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320040"/>
          </a:xfrm>
          <a:prstGeom prst="rect">
            <a:avLst/>
          </a:prstGeom>
          <a:noFill/>
          <a:ln/>
        </p:spPr>
        <p:txBody>
          <a:bodyPr wrap="square" rtlCol="0" anchor="ctr"/>
          <a:lstStyle/>
          <a:p>
            <a:pPr marL="0" indent="0">
              <a:buNone/>
            </a:pPr>
            <a:r>
              <a:rPr lang="en-US" sz="900" b="1" kern="0" spc="200" dirty="0">
                <a:solidFill>
                  <a:srgbClr val="6B7280"/>
                </a:solidFill>
                <a:latin typeface="Calibri" pitchFamily="34" charset="0"/>
                <a:ea typeface="Calibri" pitchFamily="34" charset="-122"/>
                <a:cs typeface="Calibri" pitchFamily="34" charset="-120"/>
              </a:rPr>
              <a:t>DÓNDE ESTAMOS</a:t>
            </a:r>
            <a:endParaRPr lang="en-US" sz="900" dirty="0"/>
          </a:p>
        </p:txBody>
      </p:sp>
      <p:sp>
        <p:nvSpPr>
          <p:cNvPr id="3" name="Text 1"/>
          <p:cNvSpPr/>
          <p:nvPr/>
        </p:nvSpPr>
        <p:spPr>
          <a:xfrm>
            <a:off x="457200" y="594360"/>
            <a:ext cx="8229600" cy="457200"/>
          </a:xfrm>
          <a:prstGeom prst="rect">
            <a:avLst/>
          </a:prstGeom>
          <a:noFill/>
          <a:ln/>
        </p:spPr>
        <p:txBody>
          <a:bodyPr wrap="square" rtlCol="0" anchor="ctr"/>
          <a:lstStyle/>
          <a:p>
            <a:pPr marL="0" indent="0">
              <a:buNone/>
            </a:pPr>
            <a:r>
              <a:rPr lang="en-US" sz="2200" b="1" dirty="0">
                <a:solidFill>
                  <a:srgbClr val="1C3557"/>
                </a:solidFill>
                <a:latin typeface="Georgia" pitchFamily="34" charset="0"/>
                <a:ea typeface="Georgia" pitchFamily="34" charset="-122"/>
                <a:cs typeface="Georgia" pitchFamily="34" charset="-120"/>
              </a:rPr>
              <a:t>De usar la IA a analizarla — y a gobernarla.</a:t>
            </a:r>
            <a:endParaRPr lang="en-US" sz="2200" dirty="0"/>
          </a:p>
        </p:txBody>
      </p:sp>
      <p:sp>
        <p:nvSpPr>
          <p:cNvPr id="4" name="Shape 2"/>
          <p:cNvSpPr/>
          <p:nvPr/>
        </p:nvSpPr>
        <p:spPr>
          <a:xfrm>
            <a:off x="365760" y="1234440"/>
            <a:ext cx="2651760" cy="2926080"/>
          </a:xfrm>
          <a:prstGeom prst="rect">
            <a:avLst/>
          </a:prstGeom>
          <a:solidFill>
            <a:srgbClr val="F0FDF4"/>
          </a:solidFill>
          <a:ln w="12700">
            <a:solidFill>
              <a:srgbClr val="86EFAC"/>
            </a:solidFill>
            <a:prstDash val="solid"/>
          </a:ln>
          <a:effectLst>
            <a:outerShdw blurRad="101600" dist="38100" dir="8100000" algn="bl" rotWithShape="0">
              <a:srgbClr val="000000">
                <a:alpha val="10000"/>
              </a:srgbClr>
            </a:outerShdw>
          </a:effectLst>
        </p:spPr>
        <p:txBody>
          <a:bodyPr/>
          <a:lstStyle/>
          <a:p>
            <a:endParaRPr lang="es-CO"/>
          </a:p>
        </p:txBody>
      </p:sp>
      <p:sp>
        <p:nvSpPr>
          <p:cNvPr id="5" name="Text 3"/>
          <p:cNvSpPr/>
          <p:nvPr/>
        </p:nvSpPr>
        <p:spPr>
          <a:xfrm>
            <a:off x="365760" y="1371600"/>
            <a:ext cx="2651760" cy="502920"/>
          </a:xfrm>
          <a:prstGeom prst="rect">
            <a:avLst/>
          </a:prstGeom>
          <a:noFill/>
          <a:ln/>
        </p:spPr>
        <p:txBody>
          <a:bodyPr wrap="square" rtlCol="0" anchor="ctr"/>
          <a:lstStyle/>
          <a:p>
            <a:pPr marL="0" indent="0" algn="ctr">
              <a:buNone/>
            </a:pPr>
            <a:r>
              <a:rPr lang="en-US" sz="2600" dirty="0">
                <a:solidFill>
                  <a:srgbClr val="000000"/>
                </a:solidFill>
                <a:latin typeface="Segoe UI Emoji" pitchFamily="34" charset="0"/>
                <a:ea typeface="Segoe UI Emoji" pitchFamily="34" charset="-122"/>
                <a:cs typeface="Segoe UI Emoji" pitchFamily="34" charset="-120"/>
              </a:rPr>
              <a:t>⚙️</a:t>
            </a:r>
            <a:endParaRPr lang="en-US" sz="2600" dirty="0"/>
          </a:p>
        </p:txBody>
      </p:sp>
      <p:sp>
        <p:nvSpPr>
          <p:cNvPr id="6" name="Text 4"/>
          <p:cNvSpPr/>
          <p:nvPr/>
        </p:nvSpPr>
        <p:spPr>
          <a:xfrm>
            <a:off x="365760" y="1920240"/>
            <a:ext cx="2651760" cy="365760"/>
          </a:xfrm>
          <a:prstGeom prst="rect">
            <a:avLst/>
          </a:prstGeom>
          <a:noFill/>
          <a:ln/>
        </p:spPr>
        <p:txBody>
          <a:bodyPr wrap="square" rtlCol="0" anchor="ctr"/>
          <a:lstStyle/>
          <a:p>
            <a:pPr marL="0" indent="0" algn="ctr">
              <a:buNone/>
            </a:pPr>
            <a:r>
              <a:rPr lang="en-US" sz="1300" b="1" dirty="0">
                <a:solidFill>
                  <a:srgbClr val="14532D"/>
                </a:solidFill>
                <a:latin typeface="Georgia" pitchFamily="34" charset="0"/>
                <a:ea typeface="Georgia" pitchFamily="34" charset="-122"/>
                <a:cs typeface="Georgia" pitchFamily="34" charset="-120"/>
              </a:rPr>
              <a:t>IA Operativa</a:t>
            </a:r>
            <a:endParaRPr lang="en-US" sz="1300" dirty="0"/>
          </a:p>
        </p:txBody>
      </p:sp>
      <p:sp>
        <p:nvSpPr>
          <p:cNvPr id="7" name="Text 5"/>
          <p:cNvSpPr/>
          <p:nvPr/>
        </p:nvSpPr>
        <p:spPr>
          <a:xfrm>
            <a:off x="457200" y="2331720"/>
            <a:ext cx="2468880" cy="822960"/>
          </a:xfrm>
          <a:prstGeom prst="rect">
            <a:avLst/>
          </a:prstGeom>
          <a:noFill/>
          <a:ln/>
        </p:spPr>
        <p:txBody>
          <a:bodyPr wrap="square" rtlCol="0" anchor="ctr"/>
          <a:lstStyle/>
          <a:p>
            <a:pPr marL="0" indent="0" algn="ctr">
              <a:lnSpc>
                <a:spcPct val="130000"/>
              </a:lnSpc>
              <a:buNone/>
            </a:pPr>
            <a:r>
              <a:rPr lang="en-US" sz="1100" dirty="0">
                <a:solidFill>
                  <a:srgbClr val="6B7280"/>
                </a:solidFill>
                <a:latin typeface="Calibri" pitchFamily="34" charset="0"/>
                <a:ea typeface="Calibri" pitchFamily="34" charset="-122"/>
                <a:cs typeface="Calibri" pitchFamily="34" charset="-120"/>
              </a:rPr>
              <a:t>Hacer tareas: redactar, resumir, responder.</a:t>
            </a:r>
            <a:endParaRPr lang="en-US" sz="1100" dirty="0"/>
          </a:p>
        </p:txBody>
      </p:sp>
      <p:sp>
        <p:nvSpPr>
          <p:cNvPr id="8" name="Shape 6"/>
          <p:cNvSpPr/>
          <p:nvPr/>
        </p:nvSpPr>
        <p:spPr>
          <a:xfrm>
            <a:off x="777240" y="3246120"/>
            <a:ext cx="1828800" cy="292608"/>
          </a:xfrm>
          <a:prstGeom prst="roundRect">
            <a:avLst>
              <a:gd name="adj" fmla="val 46875"/>
            </a:avLst>
          </a:prstGeom>
          <a:solidFill>
            <a:srgbClr val="14532D">
              <a:alpha val="80000"/>
            </a:srgbClr>
          </a:solidFill>
          <a:ln w="12700">
            <a:solidFill>
              <a:srgbClr val="14532D">
                <a:alpha val="30000"/>
              </a:srgbClr>
            </a:solidFill>
            <a:prstDash val="solid"/>
          </a:ln>
        </p:spPr>
        <p:txBody>
          <a:bodyPr/>
          <a:lstStyle/>
          <a:p>
            <a:endParaRPr lang="es-CO"/>
          </a:p>
        </p:txBody>
      </p:sp>
      <p:sp>
        <p:nvSpPr>
          <p:cNvPr id="9" name="Text 7"/>
          <p:cNvSpPr/>
          <p:nvPr/>
        </p:nvSpPr>
        <p:spPr>
          <a:xfrm>
            <a:off x="777240" y="3246120"/>
            <a:ext cx="182880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 Sesión 2</a:t>
            </a:r>
            <a:endParaRPr lang="en-US" sz="900" dirty="0"/>
          </a:p>
        </p:txBody>
      </p:sp>
      <p:sp>
        <p:nvSpPr>
          <p:cNvPr id="10" name="Shape 8"/>
          <p:cNvSpPr/>
          <p:nvPr/>
        </p:nvSpPr>
        <p:spPr>
          <a:xfrm>
            <a:off x="3246120" y="1234440"/>
            <a:ext cx="2651760" cy="2926080"/>
          </a:xfrm>
          <a:prstGeom prst="rect">
            <a:avLst/>
          </a:prstGeom>
          <a:solidFill>
            <a:srgbClr val="ECFEFF"/>
          </a:solidFill>
          <a:ln w="12700">
            <a:solidFill>
              <a:srgbClr val="0E7490"/>
            </a:solidFill>
            <a:prstDash val="solid"/>
          </a:ln>
          <a:effectLst>
            <a:outerShdw blurRad="101600" dist="38100" dir="8100000" algn="bl" rotWithShape="0">
              <a:srgbClr val="000000">
                <a:alpha val="10000"/>
              </a:srgbClr>
            </a:outerShdw>
          </a:effectLst>
        </p:spPr>
        <p:txBody>
          <a:bodyPr/>
          <a:lstStyle/>
          <a:p>
            <a:endParaRPr lang="es-CO"/>
          </a:p>
        </p:txBody>
      </p:sp>
      <p:sp>
        <p:nvSpPr>
          <p:cNvPr id="11" name="Text 9"/>
          <p:cNvSpPr/>
          <p:nvPr/>
        </p:nvSpPr>
        <p:spPr>
          <a:xfrm>
            <a:off x="3246120" y="1371600"/>
            <a:ext cx="2651760" cy="502920"/>
          </a:xfrm>
          <a:prstGeom prst="rect">
            <a:avLst/>
          </a:prstGeom>
          <a:noFill/>
          <a:ln/>
        </p:spPr>
        <p:txBody>
          <a:bodyPr wrap="square" rtlCol="0" anchor="ctr"/>
          <a:lstStyle/>
          <a:p>
            <a:pPr marL="0" indent="0" algn="ctr">
              <a:buNone/>
            </a:pPr>
            <a:r>
              <a:rPr lang="en-US" sz="2600" dirty="0">
                <a:solidFill>
                  <a:srgbClr val="000000"/>
                </a:solidFill>
                <a:latin typeface="Segoe UI Emoji" pitchFamily="34" charset="0"/>
                <a:ea typeface="Segoe UI Emoji" pitchFamily="34" charset="-122"/>
                <a:cs typeface="Segoe UI Emoji" pitchFamily="34" charset="-120"/>
              </a:rPr>
              <a:t>🔍</a:t>
            </a:r>
            <a:endParaRPr lang="en-US" sz="2600" dirty="0"/>
          </a:p>
        </p:txBody>
      </p:sp>
      <p:sp>
        <p:nvSpPr>
          <p:cNvPr id="12" name="Text 10"/>
          <p:cNvSpPr/>
          <p:nvPr/>
        </p:nvSpPr>
        <p:spPr>
          <a:xfrm>
            <a:off x="3246120" y="1920240"/>
            <a:ext cx="2651760" cy="365760"/>
          </a:xfrm>
          <a:prstGeom prst="rect">
            <a:avLst/>
          </a:prstGeom>
          <a:noFill/>
          <a:ln/>
        </p:spPr>
        <p:txBody>
          <a:bodyPr wrap="square" rtlCol="0" anchor="ctr"/>
          <a:lstStyle/>
          <a:p>
            <a:pPr marL="0" indent="0" algn="ctr">
              <a:buNone/>
            </a:pPr>
            <a:r>
              <a:rPr lang="en-US" sz="1300" b="1" dirty="0">
                <a:solidFill>
                  <a:srgbClr val="0E7490"/>
                </a:solidFill>
                <a:latin typeface="Georgia" pitchFamily="34" charset="0"/>
                <a:ea typeface="Georgia" pitchFamily="34" charset="-122"/>
                <a:cs typeface="Georgia" pitchFamily="34" charset="-120"/>
              </a:rPr>
              <a:t>IA Analítica</a:t>
            </a:r>
            <a:endParaRPr lang="en-US" sz="1300" dirty="0"/>
          </a:p>
        </p:txBody>
      </p:sp>
      <p:sp>
        <p:nvSpPr>
          <p:cNvPr id="13" name="Text 11"/>
          <p:cNvSpPr/>
          <p:nvPr/>
        </p:nvSpPr>
        <p:spPr>
          <a:xfrm>
            <a:off x="3337560" y="2331720"/>
            <a:ext cx="2468880" cy="822960"/>
          </a:xfrm>
          <a:prstGeom prst="rect">
            <a:avLst/>
          </a:prstGeom>
          <a:noFill/>
          <a:ln/>
        </p:spPr>
        <p:txBody>
          <a:bodyPr wrap="square" rtlCol="0" anchor="ctr"/>
          <a:lstStyle/>
          <a:p>
            <a:pPr marL="0" indent="0" algn="ctr">
              <a:lnSpc>
                <a:spcPct val="130000"/>
              </a:lnSpc>
              <a:buNone/>
            </a:pPr>
            <a:r>
              <a:rPr lang="en-US" sz="1100" dirty="0">
                <a:solidFill>
                  <a:srgbClr val="6B7280"/>
                </a:solidFill>
                <a:latin typeface="Calibri" pitchFamily="34" charset="0"/>
                <a:ea typeface="Calibri" pitchFamily="34" charset="-122"/>
                <a:cs typeface="Calibri" pitchFamily="34" charset="-120"/>
              </a:rPr>
              <a:t>Procesar datos para ver y decidir mejor.</a:t>
            </a:r>
            <a:endParaRPr lang="en-US" sz="1100" dirty="0"/>
          </a:p>
        </p:txBody>
      </p:sp>
      <p:sp>
        <p:nvSpPr>
          <p:cNvPr id="14" name="Shape 12"/>
          <p:cNvSpPr/>
          <p:nvPr/>
        </p:nvSpPr>
        <p:spPr>
          <a:xfrm>
            <a:off x="3657600" y="3246120"/>
            <a:ext cx="1828800" cy="292608"/>
          </a:xfrm>
          <a:prstGeom prst="roundRect">
            <a:avLst>
              <a:gd name="adj" fmla="val 46875"/>
            </a:avLst>
          </a:prstGeom>
          <a:solidFill>
            <a:srgbClr val="0E7490">
              <a:alpha val="80000"/>
            </a:srgbClr>
          </a:solidFill>
          <a:ln w="12700">
            <a:solidFill>
              <a:srgbClr val="0E7490">
                <a:alpha val="30000"/>
              </a:srgbClr>
            </a:solidFill>
            <a:prstDash val="solid"/>
          </a:ln>
        </p:spPr>
        <p:txBody>
          <a:bodyPr/>
          <a:lstStyle/>
          <a:p>
            <a:endParaRPr lang="es-CO"/>
          </a:p>
        </p:txBody>
      </p:sp>
      <p:sp>
        <p:nvSpPr>
          <p:cNvPr id="15" name="Text 13"/>
          <p:cNvSpPr/>
          <p:nvPr/>
        </p:nvSpPr>
        <p:spPr>
          <a:xfrm>
            <a:off x="3657600" y="3246120"/>
            <a:ext cx="182880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Sesión 3 — Hoy</a:t>
            </a:r>
            <a:endParaRPr lang="en-US" sz="900" dirty="0"/>
          </a:p>
        </p:txBody>
      </p:sp>
      <p:sp>
        <p:nvSpPr>
          <p:cNvPr id="16" name="Shape 14"/>
          <p:cNvSpPr/>
          <p:nvPr/>
        </p:nvSpPr>
        <p:spPr>
          <a:xfrm>
            <a:off x="6126480" y="1234440"/>
            <a:ext cx="2651760" cy="2926080"/>
          </a:xfrm>
          <a:prstGeom prst="rect">
            <a:avLst/>
          </a:prstGeom>
          <a:solidFill>
            <a:srgbClr val="F7F6F2"/>
          </a:solidFill>
          <a:ln w="12700">
            <a:solidFill>
              <a:srgbClr val="E2E0D8"/>
            </a:solidFill>
            <a:prstDash val="solid"/>
          </a:ln>
          <a:effectLst>
            <a:outerShdw blurRad="101600" dist="38100" dir="8100000" algn="bl" rotWithShape="0">
              <a:srgbClr val="000000">
                <a:alpha val="10000"/>
              </a:srgbClr>
            </a:outerShdw>
          </a:effectLst>
        </p:spPr>
        <p:txBody>
          <a:bodyPr/>
          <a:lstStyle/>
          <a:p>
            <a:endParaRPr lang="es-CO"/>
          </a:p>
        </p:txBody>
      </p:sp>
      <p:sp>
        <p:nvSpPr>
          <p:cNvPr id="17" name="Text 15"/>
          <p:cNvSpPr/>
          <p:nvPr/>
        </p:nvSpPr>
        <p:spPr>
          <a:xfrm>
            <a:off x="6126480" y="1371600"/>
            <a:ext cx="2651760" cy="502920"/>
          </a:xfrm>
          <a:prstGeom prst="rect">
            <a:avLst/>
          </a:prstGeom>
          <a:noFill/>
          <a:ln/>
        </p:spPr>
        <p:txBody>
          <a:bodyPr wrap="square" rtlCol="0" anchor="ctr"/>
          <a:lstStyle/>
          <a:p>
            <a:pPr marL="0" indent="0" algn="ctr">
              <a:buNone/>
            </a:pPr>
            <a:r>
              <a:rPr lang="en-US" sz="2600" dirty="0">
                <a:solidFill>
                  <a:srgbClr val="000000"/>
                </a:solidFill>
                <a:latin typeface="Segoe UI Emoji" pitchFamily="34" charset="0"/>
                <a:ea typeface="Segoe UI Emoji" pitchFamily="34" charset="-122"/>
                <a:cs typeface="Segoe UI Emoji" pitchFamily="34" charset="-120"/>
              </a:rPr>
              <a:t>🧭</a:t>
            </a:r>
            <a:endParaRPr lang="en-US" sz="2600" dirty="0"/>
          </a:p>
        </p:txBody>
      </p:sp>
      <p:sp>
        <p:nvSpPr>
          <p:cNvPr id="18" name="Text 16"/>
          <p:cNvSpPr/>
          <p:nvPr/>
        </p:nvSpPr>
        <p:spPr>
          <a:xfrm>
            <a:off x="6126480" y="1920240"/>
            <a:ext cx="2651760" cy="365760"/>
          </a:xfrm>
          <a:prstGeom prst="rect">
            <a:avLst/>
          </a:prstGeom>
          <a:noFill/>
          <a:ln/>
        </p:spPr>
        <p:txBody>
          <a:bodyPr wrap="square" rtlCol="0" anchor="ctr"/>
          <a:lstStyle/>
          <a:p>
            <a:pPr marL="0" indent="0" algn="ctr">
              <a:buNone/>
            </a:pPr>
            <a:r>
              <a:rPr lang="en-US" sz="1300" b="1" dirty="0">
                <a:solidFill>
                  <a:srgbClr val="6B7280"/>
                </a:solidFill>
                <a:latin typeface="Georgia" pitchFamily="34" charset="0"/>
                <a:ea typeface="Georgia" pitchFamily="34" charset="-122"/>
                <a:cs typeface="Georgia" pitchFamily="34" charset="-120"/>
              </a:rPr>
              <a:t>IA Estratégica</a:t>
            </a:r>
            <a:endParaRPr lang="en-US" sz="1300" dirty="0"/>
          </a:p>
        </p:txBody>
      </p:sp>
      <p:sp>
        <p:nvSpPr>
          <p:cNvPr id="19" name="Text 17"/>
          <p:cNvSpPr/>
          <p:nvPr/>
        </p:nvSpPr>
        <p:spPr>
          <a:xfrm>
            <a:off x="6217920" y="2331720"/>
            <a:ext cx="2468880" cy="822960"/>
          </a:xfrm>
          <a:prstGeom prst="rect">
            <a:avLst/>
          </a:prstGeom>
          <a:noFill/>
          <a:ln/>
        </p:spPr>
        <p:txBody>
          <a:bodyPr wrap="square" rtlCol="0" anchor="ctr"/>
          <a:lstStyle/>
          <a:p>
            <a:pPr marL="0" indent="0" algn="ctr">
              <a:lnSpc>
                <a:spcPct val="130000"/>
              </a:lnSpc>
              <a:buNone/>
            </a:pPr>
            <a:r>
              <a:rPr lang="en-US" sz="1100" dirty="0">
                <a:solidFill>
                  <a:srgbClr val="6B7280"/>
                </a:solidFill>
                <a:latin typeface="Calibri" pitchFamily="34" charset="0"/>
                <a:ea typeface="Calibri" pitchFamily="34" charset="-122"/>
                <a:cs typeface="Calibri" pitchFamily="34" charset="-120"/>
              </a:rPr>
              <a:t>Apoyar decisiones de dirección institucional.</a:t>
            </a:r>
            <a:endParaRPr lang="en-US" sz="1100" dirty="0"/>
          </a:p>
        </p:txBody>
      </p:sp>
      <p:sp>
        <p:nvSpPr>
          <p:cNvPr id="20" name="Shape 18"/>
          <p:cNvSpPr/>
          <p:nvPr/>
        </p:nvSpPr>
        <p:spPr>
          <a:xfrm>
            <a:off x="6537960" y="3246120"/>
            <a:ext cx="1828800" cy="292608"/>
          </a:xfrm>
          <a:prstGeom prst="roundRect">
            <a:avLst>
              <a:gd name="adj" fmla="val 46875"/>
            </a:avLst>
          </a:prstGeom>
          <a:solidFill>
            <a:srgbClr val="6B7280">
              <a:alpha val="20000"/>
            </a:srgbClr>
          </a:solidFill>
          <a:ln w="12700">
            <a:solidFill>
              <a:srgbClr val="6B7280">
                <a:alpha val="30000"/>
              </a:srgbClr>
            </a:solidFill>
            <a:prstDash val="solid"/>
          </a:ln>
        </p:spPr>
        <p:txBody>
          <a:bodyPr/>
          <a:lstStyle/>
          <a:p>
            <a:endParaRPr lang="es-CO"/>
          </a:p>
        </p:txBody>
      </p:sp>
      <p:sp>
        <p:nvSpPr>
          <p:cNvPr id="21" name="Text 19"/>
          <p:cNvSpPr/>
          <p:nvPr/>
        </p:nvSpPr>
        <p:spPr>
          <a:xfrm>
            <a:off x="6537960" y="3246120"/>
            <a:ext cx="1828800" cy="292608"/>
          </a:xfrm>
          <a:prstGeom prst="rect">
            <a:avLst/>
          </a:prstGeom>
          <a:noFill/>
          <a:ln/>
        </p:spPr>
        <p:txBody>
          <a:bodyPr wrap="square" lIns="0" tIns="0" rIns="0" bIns="0" rtlCol="0" anchor="ctr"/>
          <a:lstStyle/>
          <a:p>
            <a:pPr marL="0" indent="0" algn="ctr">
              <a:buNone/>
            </a:pPr>
            <a:r>
              <a:rPr lang="en-US" sz="900" b="1" dirty="0">
                <a:solidFill>
                  <a:srgbClr val="6B7280"/>
                </a:solidFill>
                <a:latin typeface="Calibri" pitchFamily="34" charset="0"/>
                <a:ea typeface="Calibri" pitchFamily="34" charset="-122"/>
                <a:cs typeface="Calibri" pitchFamily="34" charset="-120"/>
              </a:rPr>
              <a:t>Sesión 4</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0EF702-72DC-686A-E859-9C0A11CFF57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7E874AA-5DF3-BF05-5273-CED8223ECC8A}"/>
              </a:ext>
            </a:extLst>
          </p:cNvPr>
          <p:cNvSpPr/>
          <p:nvPr/>
        </p:nvSpPr>
        <p:spPr>
          <a:xfrm>
            <a:off x="457200" y="274320"/>
            <a:ext cx="8229600" cy="320040"/>
          </a:xfrm>
          <a:prstGeom prst="rect">
            <a:avLst/>
          </a:prstGeom>
          <a:noFill/>
          <a:ln/>
        </p:spPr>
        <p:txBody>
          <a:bodyPr wrap="square" rtlCol="0" anchor="ctr"/>
          <a:lstStyle/>
          <a:p>
            <a:pPr marL="0" indent="0">
              <a:buNone/>
            </a:pPr>
            <a:r>
              <a:rPr lang="en-US" sz="900" b="1" kern="0" spc="200" dirty="0">
                <a:solidFill>
                  <a:srgbClr val="6B7280"/>
                </a:solidFill>
                <a:latin typeface="Calibri" pitchFamily="34" charset="0"/>
                <a:ea typeface="Calibri" pitchFamily="34" charset="-122"/>
                <a:cs typeface="Calibri" pitchFamily="34" charset="-120"/>
              </a:rPr>
              <a:t>DÓNDE ESTAMOS</a:t>
            </a:r>
            <a:endParaRPr lang="en-US" sz="900" dirty="0"/>
          </a:p>
        </p:txBody>
      </p:sp>
      <p:sp>
        <p:nvSpPr>
          <p:cNvPr id="3" name="Text 1">
            <a:extLst>
              <a:ext uri="{FF2B5EF4-FFF2-40B4-BE49-F238E27FC236}">
                <a16:creationId xmlns:a16="http://schemas.microsoft.com/office/drawing/2014/main" id="{2F588004-FB36-230F-AEF5-160249524636}"/>
              </a:ext>
            </a:extLst>
          </p:cNvPr>
          <p:cNvSpPr/>
          <p:nvPr/>
        </p:nvSpPr>
        <p:spPr>
          <a:xfrm>
            <a:off x="457200" y="594360"/>
            <a:ext cx="8229600" cy="457200"/>
          </a:xfrm>
          <a:prstGeom prst="rect">
            <a:avLst/>
          </a:prstGeom>
          <a:noFill/>
          <a:ln/>
        </p:spPr>
        <p:txBody>
          <a:bodyPr wrap="square" rtlCol="0" anchor="ctr"/>
          <a:lstStyle/>
          <a:p>
            <a:pPr marL="0" indent="0">
              <a:buNone/>
            </a:pPr>
            <a:r>
              <a:rPr lang="en-US" sz="2200" b="1" dirty="0">
                <a:solidFill>
                  <a:srgbClr val="1C3557"/>
                </a:solidFill>
                <a:latin typeface="Georgia" pitchFamily="34" charset="0"/>
                <a:ea typeface="Georgia" pitchFamily="34" charset="-122"/>
                <a:cs typeface="Georgia" pitchFamily="34" charset="-120"/>
              </a:rPr>
              <a:t>Mapa de 4 </a:t>
            </a:r>
            <a:r>
              <a:rPr lang="en-US" sz="2200" b="1" dirty="0" err="1">
                <a:solidFill>
                  <a:srgbClr val="1C3557"/>
                </a:solidFill>
                <a:latin typeface="Georgia" pitchFamily="34" charset="0"/>
                <a:ea typeface="Georgia" pitchFamily="34" charset="-122"/>
                <a:cs typeface="Georgia" pitchFamily="34" charset="-120"/>
              </a:rPr>
              <a:t>Tipos</a:t>
            </a:r>
            <a:r>
              <a:rPr lang="en-US" sz="2200" b="1" dirty="0">
                <a:solidFill>
                  <a:srgbClr val="1C3557"/>
                </a:solidFill>
                <a:latin typeface="Georgia" pitchFamily="34" charset="0"/>
                <a:ea typeface="Georgia" pitchFamily="34" charset="-122"/>
                <a:cs typeface="Georgia" pitchFamily="34" charset="-120"/>
              </a:rPr>
              <a:t> de </a:t>
            </a:r>
            <a:r>
              <a:rPr lang="en-US" sz="2200" b="1" dirty="0" err="1">
                <a:solidFill>
                  <a:srgbClr val="1C3557"/>
                </a:solidFill>
                <a:latin typeface="Georgia" pitchFamily="34" charset="0"/>
                <a:ea typeface="Georgia" pitchFamily="34" charset="-122"/>
                <a:cs typeface="Georgia" pitchFamily="34" charset="-120"/>
              </a:rPr>
              <a:t>Análisis</a:t>
            </a:r>
            <a:endParaRPr lang="en-US" sz="2200" dirty="0"/>
          </a:p>
        </p:txBody>
      </p:sp>
      <p:sp>
        <p:nvSpPr>
          <p:cNvPr id="9" name="Text 7">
            <a:extLst>
              <a:ext uri="{FF2B5EF4-FFF2-40B4-BE49-F238E27FC236}">
                <a16:creationId xmlns:a16="http://schemas.microsoft.com/office/drawing/2014/main" id="{C2219DBC-7936-ABBC-C021-5A6FD30F06FE}"/>
              </a:ext>
            </a:extLst>
          </p:cNvPr>
          <p:cNvSpPr/>
          <p:nvPr/>
        </p:nvSpPr>
        <p:spPr>
          <a:xfrm>
            <a:off x="777240" y="3246120"/>
            <a:ext cx="182880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 Sesión 2</a:t>
            </a:r>
            <a:endParaRPr lang="en-US" sz="900" dirty="0"/>
          </a:p>
        </p:txBody>
      </p:sp>
      <p:sp>
        <p:nvSpPr>
          <p:cNvPr id="11" name="Text 9">
            <a:extLst>
              <a:ext uri="{FF2B5EF4-FFF2-40B4-BE49-F238E27FC236}">
                <a16:creationId xmlns:a16="http://schemas.microsoft.com/office/drawing/2014/main" id="{2F328BEB-9DCD-3504-94DA-BD58C67152A2}"/>
              </a:ext>
            </a:extLst>
          </p:cNvPr>
          <p:cNvSpPr/>
          <p:nvPr/>
        </p:nvSpPr>
        <p:spPr>
          <a:xfrm>
            <a:off x="3246120" y="1371600"/>
            <a:ext cx="2651760" cy="502920"/>
          </a:xfrm>
          <a:prstGeom prst="rect">
            <a:avLst/>
          </a:prstGeom>
          <a:noFill/>
          <a:ln/>
        </p:spPr>
        <p:txBody>
          <a:bodyPr wrap="square" rtlCol="0" anchor="ctr"/>
          <a:lstStyle/>
          <a:p>
            <a:pPr marL="0" indent="0" algn="ctr">
              <a:buNone/>
            </a:pPr>
            <a:endParaRPr lang="en-US" sz="2600" dirty="0"/>
          </a:p>
        </p:txBody>
      </p:sp>
      <p:graphicFrame>
        <p:nvGraphicFramePr>
          <p:cNvPr id="23" name="Tabla 22">
            <a:extLst>
              <a:ext uri="{FF2B5EF4-FFF2-40B4-BE49-F238E27FC236}">
                <a16:creationId xmlns:a16="http://schemas.microsoft.com/office/drawing/2014/main" id="{37610683-A2DC-6EAE-4D9F-56592BC02D4B}"/>
              </a:ext>
            </a:extLst>
          </p:cNvPr>
          <p:cNvGraphicFramePr>
            <a:graphicFrameLocks noGrp="1"/>
          </p:cNvGraphicFramePr>
          <p:nvPr>
            <p:extLst>
              <p:ext uri="{D42A27DB-BD31-4B8C-83A1-F6EECF244321}">
                <p14:modId xmlns:p14="http://schemas.microsoft.com/office/powerpoint/2010/main" val="4286437905"/>
              </p:ext>
            </p:extLst>
          </p:nvPr>
        </p:nvGraphicFramePr>
        <p:xfrm>
          <a:off x="511387" y="1138524"/>
          <a:ext cx="8056881" cy="3410616"/>
        </p:xfrm>
        <a:graphic>
          <a:graphicData uri="http://schemas.openxmlformats.org/drawingml/2006/table">
            <a:tbl>
              <a:tblPr firstRow="1" bandRow="1">
                <a:tableStyleId>{5C22544A-7EE6-4342-B048-85BDC9FD1C3A}</a:tableStyleId>
              </a:tblPr>
              <a:tblGrid>
                <a:gridCol w="2685627">
                  <a:extLst>
                    <a:ext uri="{9D8B030D-6E8A-4147-A177-3AD203B41FA5}">
                      <a16:colId xmlns:a16="http://schemas.microsoft.com/office/drawing/2014/main" val="2760755182"/>
                    </a:ext>
                  </a:extLst>
                </a:gridCol>
                <a:gridCol w="2685627">
                  <a:extLst>
                    <a:ext uri="{9D8B030D-6E8A-4147-A177-3AD203B41FA5}">
                      <a16:colId xmlns:a16="http://schemas.microsoft.com/office/drawing/2014/main" val="840165426"/>
                    </a:ext>
                  </a:extLst>
                </a:gridCol>
                <a:gridCol w="2685627">
                  <a:extLst>
                    <a:ext uri="{9D8B030D-6E8A-4147-A177-3AD203B41FA5}">
                      <a16:colId xmlns:a16="http://schemas.microsoft.com/office/drawing/2014/main" val="1655468226"/>
                    </a:ext>
                  </a:extLst>
                </a:gridCol>
              </a:tblGrid>
              <a:tr h="370840">
                <a:tc>
                  <a:txBody>
                    <a:bodyPr/>
                    <a:lstStyle/>
                    <a:p>
                      <a:pPr>
                        <a:buNone/>
                      </a:pPr>
                      <a:r>
                        <a:rPr lang="es-CO" sz="1500" dirty="0"/>
                        <a:t>Tipo</a:t>
                      </a:r>
                    </a:p>
                  </a:txBody>
                  <a:tcPr marL="74143" marR="74143" marT="37072" marB="37072" anchor="ctr"/>
                </a:tc>
                <a:tc>
                  <a:txBody>
                    <a:bodyPr/>
                    <a:lstStyle/>
                    <a:p>
                      <a:pPr>
                        <a:buNone/>
                      </a:pPr>
                      <a:r>
                        <a:rPr lang="es-CO" sz="1500"/>
                        <a:t>Pregunta que responde</a:t>
                      </a:r>
                    </a:p>
                  </a:txBody>
                  <a:tcPr marL="74143" marR="74143" marT="37072" marB="37072" anchor="ctr"/>
                </a:tc>
                <a:tc>
                  <a:txBody>
                    <a:bodyPr/>
                    <a:lstStyle/>
                    <a:p>
                      <a:pPr>
                        <a:buNone/>
                      </a:pPr>
                      <a:r>
                        <a:rPr lang="es-CO" sz="1500"/>
                        <a:t>Ejemplo</a:t>
                      </a:r>
                    </a:p>
                  </a:txBody>
                  <a:tcPr marL="74143" marR="74143" marT="37072" marB="37072" anchor="ctr"/>
                </a:tc>
                <a:extLst>
                  <a:ext uri="{0D108BD9-81ED-4DB2-BD59-A6C34878D82A}">
                    <a16:rowId xmlns:a16="http://schemas.microsoft.com/office/drawing/2014/main" val="448081497"/>
                  </a:ext>
                </a:extLst>
              </a:tr>
              <a:tr h="370840">
                <a:tc>
                  <a:txBody>
                    <a:bodyPr/>
                    <a:lstStyle/>
                    <a:p>
                      <a:pPr>
                        <a:buNone/>
                      </a:pPr>
                      <a:r>
                        <a:rPr lang="es-CO" sz="1500" b="1" dirty="0"/>
                        <a:t>Descriptivo</a:t>
                      </a:r>
                      <a:endParaRPr lang="es-CO" sz="1500" dirty="0"/>
                    </a:p>
                  </a:txBody>
                  <a:tcPr marL="74143" marR="74143" marT="37072" marB="37072" anchor="ctr"/>
                </a:tc>
                <a:tc>
                  <a:txBody>
                    <a:bodyPr/>
                    <a:lstStyle/>
                    <a:p>
                      <a:pPr>
                        <a:buNone/>
                      </a:pPr>
                      <a:r>
                        <a:rPr lang="es-CO" sz="1500"/>
                        <a:t>¿Qué pasó?</a:t>
                      </a:r>
                    </a:p>
                  </a:txBody>
                  <a:tcPr marL="74143" marR="74143" marT="37072" marB="37072" anchor="ctr"/>
                </a:tc>
                <a:tc>
                  <a:txBody>
                    <a:bodyPr/>
                    <a:lstStyle/>
                    <a:p>
                      <a:pPr>
                        <a:buNone/>
                      </a:pPr>
                      <a:r>
                        <a:rPr lang="es-MX" sz="1500"/>
                        <a:t>"¿Cuántas solicitudes recibimos este trimestre y cuántas resolvimos?"</a:t>
                      </a:r>
                    </a:p>
                  </a:txBody>
                  <a:tcPr marL="74143" marR="74143" marT="37072" marB="37072" anchor="ctr"/>
                </a:tc>
                <a:extLst>
                  <a:ext uri="{0D108BD9-81ED-4DB2-BD59-A6C34878D82A}">
                    <a16:rowId xmlns:a16="http://schemas.microsoft.com/office/drawing/2014/main" val="3009787875"/>
                  </a:ext>
                </a:extLst>
              </a:tr>
              <a:tr h="370840">
                <a:tc>
                  <a:txBody>
                    <a:bodyPr/>
                    <a:lstStyle/>
                    <a:p>
                      <a:pPr>
                        <a:buNone/>
                      </a:pPr>
                      <a:r>
                        <a:rPr lang="es-CO" sz="1500" b="1" dirty="0"/>
                        <a:t>Diagnóstico</a:t>
                      </a:r>
                      <a:endParaRPr lang="es-CO" sz="1500" dirty="0"/>
                    </a:p>
                  </a:txBody>
                  <a:tcPr marL="74143" marR="74143" marT="37072" marB="37072" anchor="ctr"/>
                </a:tc>
                <a:tc>
                  <a:txBody>
                    <a:bodyPr/>
                    <a:lstStyle/>
                    <a:p>
                      <a:pPr>
                        <a:buNone/>
                      </a:pPr>
                      <a:r>
                        <a:rPr lang="es-CO" sz="1500"/>
                        <a:t>¿Por qué pasó?</a:t>
                      </a:r>
                    </a:p>
                  </a:txBody>
                  <a:tcPr marL="74143" marR="74143" marT="37072" marB="37072" anchor="ctr"/>
                </a:tc>
                <a:tc>
                  <a:txBody>
                    <a:bodyPr/>
                    <a:lstStyle/>
                    <a:p>
                      <a:pPr>
                        <a:buNone/>
                      </a:pPr>
                      <a:r>
                        <a:rPr lang="es-MX" sz="1500"/>
                        <a:t>"¿Por qué el área X tiene el doble de quejas que las demás?"</a:t>
                      </a:r>
                    </a:p>
                  </a:txBody>
                  <a:tcPr marL="74143" marR="74143" marT="37072" marB="37072" anchor="ctr"/>
                </a:tc>
                <a:extLst>
                  <a:ext uri="{0D108BD9-81ED-4DB2-BD59-A6C34878D82A}">
                    <a16:rowId xmlns:a16="http://schemas.microsoft.com/office/drawing/2014/main" val="330657576"/>
                  </a:ext>
                </a:extLst>
              </a:tr>
              <a:tr h="370840">
                <a:tc>
                  <a:txBody>
                    <a:bodyPr/>
                    <a:lstStyle/>
                    <a:p>
                      <a:pPr>
                        <a:buNone/>
                      </a:pPr>
                      <a:r>
                        <a:rPr lang="es-CO" sz="1500" b="1" dirty="0"/>
                        <a:t>Predictivo</a:t>
                      </a:r>
                      <a:endParaRPr lang="es-CO" sz="1500" dirty="0"/>
                    </a:p>
                  </a:txBody>
                  <a:tcPr marL="74143" marR="74143" marT="37072" marB="37072" anchor="ctr"/>
                </a:tc>
                <a:tc>
                  <a:txBody>
                    <a:bodyPr/>
                    <a:lstStyle/>
                    <a:p>
                      <a:pPr>
                        <a:buNone/>
                      </a:pPr>
                      <a:r>
                        <a:rPr lang="es-CO" sz="1500"/>
                        <a:t>¿Qué puede pasar?</a:t>
                      </a:r>
                    </a:p>
                  </a:txBody>
                  <a:tcPr marL="74143" marR="74143" marT="37072" marB="37072" anchor="ctr"/>
                </a:tc>
                <a:tc>
                  <a:txBody>
                    <a:bodyPr/>
                    <a:lstStyle/>
                    <a:p>
                      <a:pPr>
                        <a:buNone/>
                      </a:pPr>
                      <a:r>
                        <a:rPr lang="es-MX" sz="1500"/>
                        <a:t>"Al ritmo actual, ¿qué proyectos no cumplirán su plazo este año?"</a:t>
                      </a:r>
                    </a:p>
                  </a:txBody>
                  <a:tcPr marL="74143" marR="74143" marT="37072" marB="37072" anchor="ctr"/>
                </a:tc>
                <a:extLst>
                  <a:ext uri="{0D108BD9-81ED-4DB2-BD59-A6C34878D82A}">
                    <a16:rowId xmlns:a16="http://schemas.microsoft.com/office/drawing/2014/main" val="2272799268"/>
                  </a:ext>
                </a:extLst>
              </a:tr>
              <a:tr h="370840">
                <a:tc>
                  <a:txBody>
                    <a:bodyPr/>
                    <a:lstStyle/>
                    <a:p>
                      <a:pPr>
                        <a:buNone/>
                      </a:pPr>
                      <a:r>
                        <a:rPr lang="es-CO" sz="1500" b="1" dirty="0"/>
                        <a:t>Prescriptivo</a:t>
                      </a:r>
                      <a:endParaRPr lang="es-CO" sz="1500" dirty="0"/>
                    </a:p>
                  </a:txBody>
                  <a:tcPr marL="74143" marR="74143" marT="37072" marB="37072" anchor="ctr"/>
                </a:tc>
                <a:tc>
                  <a:txBody>
                    <a:bodyPr/>
                    <a:lstStyle/>
                    <a:p>
                      <a:pPr>
                        <a:buNone/>
                      </a:pPr>
                      <a:r>
                        <a:rPr lang="es-CO" sz="1500" dirty="0"/>
                        <a:t>¿Qué debería hacer?</a:t>
                      </a:r>
                    </a:p>
                  </a:txBody>
                  <a:tcPr marL="74143" marR="74143" marT="37072" marB="37072" anchor="ctr"/>
                </a:tc>
                <a:tc>
                  <a:txBody>
                    <a:bodyPr/>
                    <a:lstStyle/>
                    <a:p>
                      <a:pPr>
                        <a:buNone/>
                      </a:pPr>
                      <a:r>
                        <a:rPr lang="es-MX" sz="1500" dirty="0"/>
                        <a:t>"Si quiero reducir tiempos de atención un 20%, ¿qué cambio primero?"</a:t>
                      </a:r>
                    </a:p>
                  </a:txBody>
                  <a:tcPr marL="74143" marR="74143" marT="37072" marB="37072" anchor="ctr"/>
                </a:tc>
                <a:extLst>
                  <a:ext uri="{0D108BD9-81ED-4DB2-BD59-A6C34878D82A}">
                    <a16:rowId xmlns:a16="http://schemas.microsoft.com/office/drawing/2014/main" val="3897616853"/>
                  </a:ext>
                </a:extLst>
              </a:tr>
            </a:tbl>
          </a:graphicData>
        </a:graphic>
      </p:graphicFrame>
    </p:spTree>
    <p:extLst>
      <p:ext uri="{BB962C8B-B14F-4D97-AF65-F5344CB8AC3E}">
        <p14:creationId xmlns:p14="http://schemas.microsoft.com/office/powerpoint/2010/main" val="6520697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1C3557"/>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E7490"/>
          </a:solidFill>
          <a:ln w="12700">
            <a:solidFill>
              <a:srgbClr val="0E7490">
                <a:alpha val="0"/>
              </a:srgbClr>
            </a:solidFill>
            <a:prstDash val="solid"/>
          </a:ln>
        </p:spPr>
        <p:txBody>
          <a:bodyPr/>
          <a:lstStyle/>
          <a:p>
            <a:endParaRPr lang="es-CO"/>
          </a:p>
        </p:txBody>
      </p:sp>
      <p:sp>
        <p:nvSpPr>
          <p:cNvPr id="3" name="Text 1"/>
          <p:cNvSpPr/>
          <p:nvPr/>
        </p:nvSpPr>
        <p:spPr>
          <a:xfrm>
            <a:off x="365760" y="365760"/>
            <a:ext cx="8412480" cy="320040"/>
          </a:xfrm>
          <a:prstGeom prst="rect">
            <a:avLst/>
          </a:prstGeom>
          <a:noFill/>
          <a:ln/>
        </p:spPr>
        <p:txBody>
          <a:bodyPr wrap="square" rtlCol="0" anchor="ctr"/>
          <a:lstStyle/>
          <a:p>
            <a:pPr marL="0" indent="0">
              <a:buNone/>
            </a:pPr>
            <a:r>
              <a:rPr lang="en-US" sz="900" b="1" kern="0" spc="200" dirty="0">
                <a:solidFill>
                  <a:srgbClr val="9DD9E8"/>
                </a:solidFill>
                <a:latin typeface="Calibri" pitchFamily="34" charset="0"/>
                <a:ea typeface="Calibri" pitchFamily="34" charset="-122"/>
                <a:cs typeface="Calibri" pitchFamily="34" charset="-120"/>
              </a:rPr>
              <a:t>DISTINCIÓN CLAVE + ESTRUCTURA DE HOY</a:t>
            </a:r>
            <a:endParaRPr lang="en-US" sz="900" dirty="0"/>
          </a:p>
        </p:txBody>
      </p:sp>
      <p:sp>
        <p:nvSpPr>
          <p:cNvPr id="4" name="Text 2"/>
          <p:cNvSpPr/>
          <p:nvPr/>
        </p:nvSpPr>
        <p:spPr>
          <a:xfrm>
            <a:off x="365760" y="731520"/>
            <a:ext cx="8412480" cy="1097280"/>
          </a:xfrm>
          <a:prstGeom prst="rect">
            <a:avLst/>
          </a:prstGeom>
          <a:noFill/>
          <a:ln/>
        </p:spPr>
        <p:txBody>
          <a:bodyPr wrap="square" rtlCol="0" anchor="ctr"/>
          <a:lstStyle/>
          <a:p>
            <a:pPr marL="0" indent="0">
              <a:lnSpc>
                <a:spcPct val="120000"/>
              </a:lnSpc>
              <a:buNone/>
            </a:pPr>
            <a:r>
              <a:rPr lang="en-US" sz="2800" b="1" dirty="0">
                <a:solidFill>
                  <a:srgbClr val="FFFFFF"/>
                </a:solidFill>
                <a:latin typeface="Georgia" pitchFamily="34" charset="0"/>
                <a:ea typeface="Georgia" pitchFamily="34" charset="-122"/>
                <a:cs typeface="Georgia" pitchFamily="34" charset="-120"/>
              </a:rPr>
              <a:t>Los datos que le das a la IA</a:t>
            </a:r>
            <a:endParaRPr lang="en-US" sz="2800" dirty="0"/>
          </a:p>
          <a:p>
            <a:pPr marL="0" indent="0">
              <a:lnSpc>
                <a:spcPct val="120000"/>
              </a:lnSpc>
              <a:buNone/>
            </a:pPr>
            <a:r>
              <a:rPr lang="en-US" sz="2800" b="1" dirty="0">
                <a:solidFill>
                  <a:srgbClr val="FFFFFF"/>
                </a:solidFill>
                <a:latin typeface="Georgia" pitchFamily="34" charset="0"/>
                <a:ea typeface="Georgia" pitchFamily="34" charset="-122"/>
                <a:cs typeface="Georgia" pitchFamily="34" charset="-120"/>
              </a:rPr>
              <a:t>definen la calidad de su análisis.</a:t>
            </a:r>
            <a:endParaRPr lang="en-US" sz="2800" dirty="0"/>
          </a:p>
        </p:txBody>
      </p:sp>
      <p:sp>
        <p:nvSpPr>
          <p:cNvPr id="5" name="Text 3"/>
          <p:cNvSpPr/>
          <p:nvPr/>
        </p:nvSpPr>
        <p:spPr>
          <a:xfrm>
            <a:off x="365760" y="1874520"/>
            <a:ext cx="8412480" cy="411480"/>
          </a:xfrm>
          <a:prstGeom prst="rect">
            <a:avLst/>
          </a:prstGeom>
          <a:noFill/>
          <a:ln/>
        </p:spPr>
        <p:txBody>
          <a:bodyPr wrap="square" rtlCol="0" anchor="ctr"/>
          <a:lstStyle/>
          <a:p>
            <a:pPr marL="0" indent="0">
              <a:buNone/>
            </a:pPr>
            <a:r>
              <a:rPr lang="en-US" sz="1500" i="1" dirty="0">
                <a:solidFill>
                  <a:srgbClr val="9DD9E8"/>
                </a:solidFill>
                <a:latin typeface="Calibri" pitchFamily="34" charset="0"/>
                <a:ea typeface="Calibri" pitchFamily="34" charset="-122"/>
                <a:cs typeface="Calibri" pitchFamily="34" charset="-120"/>
              </a:rPr>
              <a:t>Y quien entrega los datos — y actúa sobre el análisis — sigue siendo responsable.</a:t>
            </a:r>
            <a:endParaRPr lang="en-US" sz="1500" dirty="0"/>
          </a:p>
        </p:txBody>
      </p:sp>
      <p:sp>
        <p:nvSpPr>
          <p:cNvPr id="6" name="Shape 4"/>
          <p:cNvSpPr/>
          <p:nvPr/>
        </p:nvSpPr>
        <p:spPr>
          <a:xfrm>
            <a:off x="365760" y="2468880"/>
            <a:ext cx="4069080" cy="2240280"/>
          </a:xfrm>
          <a:prstGeom prst="rect">
            <a:avLst/>
          </a:prstGeom>
          <a:solidFill>
            <a:srgbClr val="0E7490">
              <a:alpha val="12000"/>
            </a:srgbClr>
          </a:solidFill>
          <a:ln w="12700">
            <a:solidFill>
              <a:srgbClr val="0E7490">
                <a:alpha val="40000"/>
              </a:srgbClr>
            </a:solidFill>
            <a:prstDash val="solid"/>
          </a:ln>
        </p:spPr>
        <p:txBody>
          <a:bodyPr/>
          <a:lstStyle/>
          <a:p>
            <a:endParaRPr lang="es-CO"/>
          </a:p>
        </p:txBody>
      </p:sp>
      <p:sp>
        <p:nvSpPr>
          <p:cNvPr id="7" name="Text 5"/>
          <p:cNvSpPr/>
          <p:nvPr/>
        </p:nvSpPr>
        <p:spPr>
          <a:xfrm>
            <a:off x="548640" y="2578608"/>
            <a:ext cx="3703320" cy="411480"/>
          </a:xfrm>
          <a:prstGeom prst="rect">
            <a:avLst/>
          </a:prstGeom>
          <a:noFill/>
          <a:ln/>
        </p:spPr>
        <p:txBody>
          <a:bodyPr wrap="square"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BLOQUE 1 — Hacer y explorar</a:t>
            </a:r>
            <a:endParaRPr lang="en-US" sz="1300" dirty="0"/>
          </a:p>
        </p:txBody>
      </p:sp>
      <p:sp>
        <p:nvSpPr>
          <p:cNvPr id="8" name="Text 6"/>
          <p:cNvSpPr/>
          <p:nvPr/>
        </p:nvSpPr>
        <p:spPr>
          <a:xfrm>
            <a:off x="548640" y="3035808"/>
            <a:ext cx="3703320" cy="1371600"/>
          </a:xfrm>
          <a:prstGeom prst="rect">
            <a:avLst/>
          </a:prstGeom>
          <a:noFill/>
          <a:ln/>
        </p:spPr>
        <p:txBody>
          <a:bodyPr wrap="square" rtlCol="0" anchor="ctr"/>
          <a:lstStyle/>
          <a:p>
            <a:pPr marL="0" indent="0">
              <a:lnSpc>
                <a:spcPct val="140000"/>
              </a:lnSpc>
              <a:buNone/>
            </a:pPr>
            <a:r>
              <a:rPr lang="en-US" sz="1100" dirty="0">
                <a:solidFill>
                  <a:srgbClr val="DDEEFF"/>
                </a:solidFill>
                <a:latin typeface="Calibri" pitchFamily="34" charset="0"/>
                <a:ea typeface="Calibri" pitchFamily="34" charset="-122"/>
                <a:cs typeface="Calibri" pitchFamily="34" charset="-120"/>
              </a:rPr>
              <a:t>Practiquen con Copilot. Analicen. Iteren. Pregunten a IAna. El foco es la herramienta.</a:t>
            </a:r>
            <a:endParaRPr lang="en-US" sz="1100" dirty="0"/>
          </a:p>
        </p:txBody>
      </p:sp>
      <p:sp>
        <p:nvSpPr>
          <p:cNvPr id="9" name="Shape 7"/>
          <p:cNvSpPr/>
          <p:nvPr/>
        </p:nvSpPr>
        <p:spPr>
          <a:xfrm>
            <a:off x="4709160" y="2468880"/>
            <a:ext cx="4069080" cy="2240280"/>
          </a:xfrm>
          <a:prstGeom prst="rect">
            <a:avLst/>
          </a:prstGeom>
          <a:solidFill>
            <a:srgbClr val="0B7A5F">
              <a:alpha val="12000"/>
            </a:srgbClr>
          </a:solidFill>
          <a:ln w="12700">
            <a:solidFill>
              <a:srgbClr val="0B7A5F">
                <a:alpha val="40000"/>
              </a:srgbClr>
            </a:solidFill>
            <a:prstDash val="solid"/>
          </a:ln>
        </p:spPr>
        <p:txBody>
          <a:bodyPr/>
          <a:lstStyle/>
          <a:p>
            <a:endParaRPr lang="es-CO"/>
          </a:p>
        </p:txBody>
      </p:sp>
      <p:sp>
        <p:nvSpPr>
          <p:cNvPr id="10" name="Text 8"/>
          <p:cNvSpPr/>
          <p:nvPr/>
        </p:nvSpPr>
        <p:spPr>
          <a:xfrm>
            <a:off x="4892040" y="2578608"/>
            <a:ext cx="3703320" cy="411480"/>
          </a:xfrm>
          <a:prstGeom prst="rect">
            <a:avLst/>
          </a:prstGeom>
          <a:noFill/>
          <a:ln/>
        </p:spPr>
        <p:txBody>
          <a:bodyPr wrap="square"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BLOQUE 2 — Gobernar y reflexionar</a:t>
            </a:r>
            <a:endParaRPr lang="en-US" sz="1300" dirty="0"/>
          </a:p>
        </p:txBody>
      </p:sp>
      <p:sp>
        <p:nvSpPr>
          <p:cNvPr id="11" name="Text 9"/>
          <p:cNvSpPr/>
          <p:nvPr/>
        </p:nvSpPr>
        <p:spPr>
          <a:xfrm>
            <a:off x="4892040" y="3035808"/>
            <a:ext cx="3703320" cy="1371600"/>
          </a:xfrm>
          <a:prstGeom prst="rect">
            <a:avLst/>
          </a:prstGeom>
          <a:noFill/>
          <a:ln/>
        </p:spPr>
        <p:txBody>
          <a:bodyPr wrap="square" rtlCol="0" anchor="ctr"/>
          <a:lstStyle/>
          <a:p>
            <a:pPr marL="0" indent="0">
              <a:lnSpc>
                <a:spcPct val="140000"/>
              </a:lnSpc>
              <a:buNone/>
            </a:pPr>
            <a:r>
              <a:rPr lang="en-US" sz="1100" dirty="0">
                <a:solidFill>
                  <a:srgbClr val="DDEEFF"/>
                </a:solidFill>
                <a:latin typeface="Calibri" pitchFamily="34" charset="0"/>
                <a:ea typeface="Calibri" pitchFamily="34" charset="-122"/>
                <a:cs typeface="Calibri" pitchFamily="34" charset="-120"/>
              </a:rPr>
              <a:t>Después del receso: ¿qué significa gobernar los datos que le damos a la IA? COBIT entra aquí.</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C3557"/>
        </a:solidFill>
        <a:effectLst/>
      </p:bgPr>
    </p:bg>
    <p:spTree>
      <p:nvGrpSpPr>
        <p:cNvPr id="1" name=""/>
        <p:cNvGrpSpPr/>
        <p:nvPr/>
      </p:nvGrpSpPr>
      <p:grpSpPr>
        <a:xfrm>
          <a:off x="0" y="0"/>
          <a:ext cx="0" cy="0"/>
          <a:chOff x="0" y="0"/>
          <a:chExt cx="0" cy="0"/>
        </a:xfrm>
      </p:grpSpPr>
      <p:sp>
        <p:nvSpPr>
          <p:cNvPr id="2" name="Kicker"/>
          <p:cNvSpPr/>
          <p:nvPr/>
        </p:nvSpPr>
        <p:spPr>
          <a:xfrm>
            <a:off x="457200" y="340000"/>
            <a:ext cx="4600000" cy="260000"/>
          </a:xfrm>
          <a:prstGeom prst="rect">
            <a:avLst/>
          </a:prstGeom>
          <a:noFill/>
          <a:ln>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000" b="1" i="0" u="none" strike="noStrike" kern="1200" cap="none" spc="300" normalizeH="0" baseline="0" noProof="0" dirty="0">
                <a:ln>
                  <a:noFill/>
                </a:ln>
                <a:solidFill>
                  <a:srgbClr val="9DD9E8"/>
                </a:solidFill>
                <a:effectLst/>
                <a:uLnTx/>
                <a:uFillTx/>
                <a:latin typeface="Calibri"/>
                <a:ea typeface="+mn-ea"/>
                <a:cs typeface="+mn-cs"/>
              </a:rPr>
              <a:t>BLOQUE 1  ·  MATERIAL DE TRABAJO</a:t>
            </a:r>
          </a:p>
        </p:txBody>
      </p:sp>
      <p:sp>
        <p:nvSpPr>
          <p:cNvPr id="3" name="Title"/>
          <p:cNvSpPr/>
          <p:nvPr/>
        </p:nvSpPr>
        <p:spPr>
          <a:xfrm>
            <a:off x="457200" y="640000"/>
            <a:ext cx="4700000" cy="1500000"/>
          </a:xfrm>
          <a:prstGeom prst="rect">
            <a:avLst/>
          </a:prstGeom>
          <a:noFill/>
          <a:ln>
            <a:noFill/>
          </a:ln>
        </p:spPr>
        <p:txBody>
          <a:bodyPr wrap="square" rtlCol="0" anchor="t"/>
          <a:lstStyle/>
          <a:p>
            <a:pPr marL="0" marR="0" lvl="0" indent="0" algn="l" defTabSz="914400" rtl="0" eaLnBrk="1" fontAlgn="auto" latinLnBrk="0" hangingPunct="1">
              <a:lnSpc>
                <a:spcPts val="3400"/>
              </a:lnSpc>
              <a:spcBef>
                <a:spcPts val="0"/>
              </a:spcBef>
              <a:spcAft>
                <a:spcPts val="0"/>
              </a:spcAft>
              <a:buClrTx/>
              <a:buSzTx/>
              <a:buFontTx/>
              <a:buNone/>
              <a:tabLst/>
              <a:defRPr/>
            </a:pPr>
            <a:r>
              <a:rPr kumimoji="0" lang="es-CO" sz="3200" b="1" i="0" u="none" strike="noStrike" kern="1200" cap="none" spc="0" normalizeH="0" baseline="0" noProof="0" dirty="0">
                <a:ln>
                  <a:noFill/>
                </a:ln>
                <a:solidFill>
                  <a:srgbClr val="FFFFFF"/>
                </a:solidFill>
                <a:effectLst/>
                <a:uLnTx/>
                <a:uFillTx/>
                <a:latin typeface="Georgia"/>
                <a:ea typeface="+mn-ea"/>
                <a:cs typeface="+mn-cs"/>
              </a:rPr>
              <a:t>Abran el material</a:t>
            </a:r>
          </a:p>
          <a:p>
            <a:pPr marL="0" marR="0" lvl="0" indent="0" algn="l" defTabSz="914400" rtl="0" eaLnBrk="1" fontAlgn="auto" latinLnBrk="0" hangingPunct="1">
              <a:lnSpc>
                <a:spcPts val="3400"/>
              </a:lnSpc>
              <a:spcBef>
                <a:spcPts val="0"/>
              </a:spcBef>
              <a:spcAft>
                <a:spcPts val="0"/>
              </a:spcAft>
              <a:buClrTx/>
              <a:buSzTx/>
              <a:buFontTx/>
              <a:buNone/>
              <a:tabLst/>
              <a:defRPr/>
            </a:pPr>
            <a:r>
              <a:rPr kumimoji="0" lang="es-CO" sz="3200" b="1" i="0" u="none" strike="noStrike" kern="1200" cap="none" spc="0" normalizeH="0" baseline="0" noProof="0" dirty="0">
                <a:ln>
                  <a:noFill/>
                </a:ln>
                <a:solidFill>
                  <a:srgbClr val="9DD9E8"/>
                </a:solidFill>
                <a:effectLst/>
                <a:uLnTx/>
                <a:uFillTx/>
                <a:latin typeface="Georgia"/>
                <a:ea typeface="+mn-ea"/>
                <a:cs typeface="+mn-cs"/>
              </a:rPr>
              <a:t>en su dispositivo</a:t>
            </a:r>
          </a:p>
        </p:txBody>
      </p:sp>
      <p:sp>
        <p:nvSpPr>
          <p:cNvPr id="4" name="Instruction"/>
          <p:cNvSpPr/>
          <p:nvPr/>
        </p:nvSpPr>
        <p:spPr>
          <a:xfrm>
            <a:off x="457200" y="2260000"/>
            <a:ext cx="4600000" cy="600000"/>
          </a:xfrm>
          <a:prstGeom prst="rect">
            <a:avLst/>
          </a:prstGeom>
          <a:noFill/>
          <a:ln>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400" b="0" i="0" u="none" strike="noStrike" kern="1200" cap="none" spc="0" normalizeH="0" baseline="0" noProof="0" dirty="0">
                <a:ln>
                  <a:noFill/>
                </a:ln>
                <a:solidFill>
                  <a:srgbClr val="CBD5E1"/>
                </a:solidFill>
                <a:effectLst/>
                <a:uLnTx/>
                <a:uFillTx/>
                <a:latin typeface="Calibri"/>
                <a:ea typeface="+mn-ea"/>
                <a:cs typeface="+mn-cs"/>
              </a:rPr>
              <a:t>Escaneen el QR </a:t>
            </a:r>
          </a:p>
        </p:txBody>
      </p:sp>
      <p:sp>
        <p:nvSpPr>
          <p:cNvPr id="5" name="Badge"/>
          <p:cNvSpPr/>
          <p:nvPr/>
        </p:nvSpPr>
        <p:spPr>
          <a:xfrm>
            <a:off x="457200" y="2960000"/>
            <a:ext cx="3300000" cy="310000"/>
          </a:xfrm>
          <a:prstGeom prst="rect">
            <a:avLst/>
          </a:prstGeom>
          <a:solidFill>
            <a:srgbClr val="0E7490"/>
          </a:solidFill>
          <a:ln>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050" b="1" i="0" u="none" strike="noStrike" kern="1200" cap="none" spc="150" normalizeH="0" baseline="0" noProof="0" dirty="0">
                <a:ln>
                  <a:noFill/>
                </a:ln>
                <a:solidFill>
                  <a:srgbClr val="FFFFFF"/>
                </a:solidFill>
                <a:effectLst/>
                <a:uLnTx/>
                <a:uFillTx/>
                <a:latin typeface="Calibri"/>
                <a:ea typeface="+mn-ea"/>
                <a:cs typeface="+mn-cs"/>
              </a:rPr>
              <a:t>PARTE 1 DE 2  ·  BLOQUE PRÁCTICO</a:t>
            </a:r>
          </a:p>
        </p:txBody>
      </p:sp>
      <p:pic>
        <p:nvPicPr>
          <p:cNvPr id="11" name="Imagen 10">
            <a:extLst>
              <a:ext uri="{FF2B5EF4-FFF2-40B4-BE49-F238E27FC236}">
                <a16:creationId xmlns:a16="http://schemas.microsoft.com/office/drawing/2014/main" id="{8A03CB30-5EA8-4853-E5A9-093B494E8EEE}"/>
              </a:ext>
            </a:extLst>
          </p:cNvPr>
          <p:cNvPicPr>
            <a:picLocks noChangeAspect="1"/>
          </p:cNvPicPr>
          <p:nvPr/>
        </p:nvPicPr>
        <p:blipFill>
          <a:blip r:embed="rId2"/>
          <a:stretch>
            <a:fillRect/>
          </a:stretch>
        </p:blipFill>
        <p:spPr>
          <a:xfrm>
            <a:off x="5386802" y="963797"/>
            <a:ext cx="2880610" cy="303302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320040"/>
          </a:xfrm>
          <a:prstGeom prst="rect">
            <a:avLst/>
          </a:prstGeom>
          <a:noFill/>
          <a:ln/>
        </p:spPr>
        <p:txBody>
          <a:bodyPr wrap="square" rtlCol="0" anchor="ctr"/>
          <a:lstStyle/>
          <a:p>
            <a:pPr marL="0" indent="0">
              <a:buNone/>
            </a:pPr>
            <a:r>
              <a:rPr lang="en-US" sz="900" b="1" kern="0" spc="200" dirty="0">
                <a:solidFill>
                  <a:srgbClr val="6B7280"/>
                </a:solidFill>
                <a:latin typeface="Calibri" pitchFamily="34" charset="0"/>
                <a:ea typeface="Calibri" pitchFamily="34" charset="-122"/>
                <a:cs typeface="Calibri" pitchFamily="34" charset="-120"/>
              </a:rPr>
              <a:t>BLOQUE 1 — SU TRABAJO HOY</a:t>
            </a:r>
            <a:endParaRPr lang="en-US" sz="900" dirty="0"/>
          </a:p>
        </p:txBody>
      </p:sp>
      <p:sp>
        <p:nvSpPr>
          <p:cNvPr id="3" name="Text 1"/>
          <p:cNvSpPr/>
          <p:nvPr/>
        </p:nvSpPr>
        <p:spPr>
          <a:xfrm>
            <a:off x="457200" y="594360"/>
            <a:ext cx="8229600" cy="457200"/>
          </a:xfrm>
          <a:prstGeom prst="rect">
            <a:avLst/>
          </a:prstGeom>
          <a:noFill/>
          <a:ln/>
        </p:spPr>
        <p:txBody>
          <a:bodyPr wrap="square" rtlCol="0" anchor="ctr"/>
          <a:lstStyle/>
          <a:p>
            <a:pPr marL="0" indent="0">
              <a:buNone/>
            </a:pPr>
            <a:r>
              <a:rPr lang="en-US" sz="2200" b="1" dirty="0">
                <a:solidFill>
                  <a:srgbClr val="1C3557"/>
                </a:solidFill>
                <a:latin typeface="Georgia" pitchFamily="34" charset="0"/>
                <a:ea typeface="Georgia" pitchFamily="34" charset="-122"/>
                <a:cs typeface="Georgia" pitchFamily="34" charset="-120"/>
              </a:rPr>
              <a:t>Cinco retos analíticos. Uno por área. 20 minutos.</a:t>
            </a:r>
            <a:endParaRPr lang="en-US" sz="2200" dirty="0"/>
          </a:p>
        </p:txBody>
      </p:sp>
      <p:sp>
        <p:nvSpPr>
          <p:cNvPr id="4" name="Shape 2"/>
          <p:cNvSpPr/>
          <p:nvPr/>
        </p:nvSpPr>
        <p:spPr>
          <a:xfrm>
            <a:off x="365760" y="1280160"/>
            <a:ext cx="4114800" cy="658368"/>
          </a:xfrm>
          <a:prstGeom prst="rect">
            <a:avLst/>
          </a:prstGeom>
          <a:solidFill>
            <a:srgbClr val="FFFFFF"/>
          </a:solidFill>
          <a:ln w="12700">
            <a:solidFill>
              <a:srgbClr val="E2E0D8"/>
            </a:solidFill>
            <a:prstDash val="solid"/>
          </a:ln>
          <a:effectLst>
            <a:outerShdw blurRad="101600" dist="38100" dir="8100000" algn="bl" rotWithShape="0">
              <a:srgbClr val="000000">
                <a:alpha val="10000"/>
              </a:srgbClr>
            </a:outerShdw>
          </a:effectLst>
        </p:spPr>
        <p:txBody>
          <a:bodyPr/>
          <a:lstStyle/>
          <a:p>
            <a:endParaRPr lang="es-CO"/>
          </a:p>
        </p:txBody>
      </p:sp>
      <p:sp>
        <p:nvSpPr>
          <p:cNvPr id="5" name="Shape 3"/>
          <p:cNvSpPr/>
          <p:nvPr/>
        </p:nvSpPr>
        <p:spPr>
          <a:xfrm>
            <a:off x="365760" y="1280160"/>
            <a:ext cx="64008" cy="658368"/>
          </a:xfrm>
          <a:prstGeom prst="rect">
            <a:avLst/>
          </a:prstGeom>
          <a:solidFill>
            <a:srgbClr val="14532D"/>
          </a:solidFill>
          <a:ln w="12700">
            <a:solidFill>
              <a:srgbClr val="14532D">
                <a:alpha val="0"/>
              </a:srgbClr>
            </a:solidFill>
            <a:prstDash val="solid"/>
          </a:ln>
        </p:spPr>
        <p:txBody>
          <a:bodyPr/>
          <a:lstStyle/>
          <a:p>
            <a:endParaRPr lang="es-CO"/>
          </a:p>
        </p:txBody>
      </p:sp>
      <p:sp>
        <p:nvSpPr>
          <p:cNvPr id="6" name="Text 4"/>
          <p:cNvSpPr/>
          <p:nvPr/>
        </p:nvSpPr>
        <p:spPr>
          <a:xfrm>
            <a:off x="548640" y="1335024"/>
            <a:ext cx="3749040" cy="237744"/>
          </a:xfrm>
          <a:prstGeom prst="rect">
            <a:avLst/>
          </a:prstGeom>
          <a:noFill/>
          <a:ln/>
        </p:spPr>
        <p:txBody>
          <a:bodyPr wrap="square" rtlCol="0" anchor="ctr"/>
          <a:lstStyle/>
          <a:p>
            <a:pPr marL="0" indent="0">
              <a:buNone/>
            </a:pPr>
            <a:r>
              <a:rPr lang="en-US" sz="1000" b="1" dirty="0">
                <a:solidFill>
                  <a:srgbClr val="14532D"/>
                </a:solidFill>
                <a:latin typeface="Calibri" pitchFamily="34" charset="0"/>
                <a:ea typeface="Calibri" pitchFamily="34" charset="-122"/>
                <a:cs typeface="Calibri" pitchFamily="34" charset="-120"/>
              </a:rPr>
              <a:t>Grupo 1  ·  Gestión Financiera</a:t>
            </a:r>
            <a:endParaRPr lang="en-US" sz="1000" dirty="0"/>
          </a:p>
        </p:txBody>
      </p:sp>
      <p:sp>
        <p:nvSpPr>
          <p:cNvPr id="7" name="Text 5"/>
          <p:cNvSpPr/>
          <p:nvPr/>
        </p:nvSpPr>
        <p:spPr>
          <a:xfrm>
            <a:off x="548640" y="1591056"/>
            <a:ext cx="3749040" cy="27432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Analizar ejecución presupuestal y detectar alertas</a:t>
            </a:r>
            <a:endParaRPr lang="en-US" sz="1200" dirty="0"/>
          </a:p>
        </p:txBody>
      </p:sp>
      <p:sp>
        <p:nvSpPr>
          <p:cNvPr id="8" name="Shape 6"/>
          <p:cNvSpPr/>
          <p:nvPr/>
        </p:nvSpPr>
        <p:spPr>
          <a:xfrm>
            <a:off x="365760" y="2084832"/>
            <a:ext cx="4114800" cy="658368"/>
          </a:xfrm>
          <a:prstGeom prst="rect">
            <a:avLst/>
          </a:prstGeom>
          <a:solidFill>
            <a:srgbClr val="FFFFFF"/>
          </a:solidFill>
          <a:ln w="12700">
            <a:solidFill>
              <a:srgbClr val="E2E0D8"/>
            </a:solidFill>
            <a:prstDash val="solid"/>
          </a:ln>
          <a:effectLst>
            <a:outerShdw blurRad="101600" dist="38100" dir="8100000" algn="bl" rotWithShape="0">
              <a:srgbClr val="000000">
                <a:alpha val="10000"/>
              </a:srgbClr>
            </a:outerShdw>
          </a:effectLst>
        </p:spPr>
        <p:txBody>
          <a:bodyPr/>
          <a:lstStyle/>
          <a:p>
            <a:endParaRPr lang="es-CO"/>
          </a:p>
        </p:txBody>
      </p:sp>
      <p:sp>
        <p:nvSpPr>
          <p:cNvPr id="9" name="Shape 7"/>
          <p:cNvSpPr/>
          <p:nvPr/>
        </p:nvSpPr>
        <p:spPr>
          <a:xfrm>
            <a:off x="365760" y="2084832"/>
            <a:ext cx="64008" cy="658368"/>
          </a:xfrm>
          <a:prstGeom prst="rect">
            <a:avLst/>
          </a:prstGeom>
          <a:solidFill>
            <a:srgbClr val="1E3A8A"/>
          </a:solidFill>
          <a:ln w="12700">
            <a:solidFill>
              <a:srgbClr val="1E3A8A">
                <a:alpha val="0"/>
              </a:srgbClr>
            </a:solidFill>
            <a:prstDash val="solid"/>
          </a:ln>
        </p:spPr>
        <p:txBody>
          <a:bodyPr/>
          <a:lstStyle/>
          <a:p>
            <a:endParaRPr lang="es-CO"/>
          </a:p>
        </p:txBody>
      </p:sp>
      <p:sp>
        <p:nvSpPr>
          <p:cNvPr id="10" name="Text 8"/>
          <p:cNvSpPr/>
          <p:nvPr/>
        </p:nvSpPr>
        <p:spPr>
          <a:xfrm>
            <a:off x="548640" y="2139696"/>
            <a:ext cx="3749040" cy="237744"/>
          </a:xfrm>
          <a:prstGeom prst="rect">
            <a:avLst/>
          </a:prstGeom>
          <a:noFill/>
          <a:ln/>
        </p:spPr>
        <p:txBody>
          <a:bodyPr wrap="square" rtlCol="0" anchor="ctr"/>
          <a:lstStyle/>
          <a:p>
            <a:pPr marL="0" indent="0">
              <a:buNone/>
            </a:pPr>
            <a:r>
              <a:rPr lang="en-US" sz="1000" b="1" dirty="0">
                <a:solidFill>
                  <a:srgbClr val="1E3A8A"/>
                </a:solidFill>
                <a:latin typeface="Calibri" pitchFamily="34" charset="0"/>
                <a:ea typeface="Calibri" pitchFamily="34" charset="-122"/>
                <a:cs typeface="Calibri" pitchFamily="34" charset="-120"/>
              </a:rPr>
              <a:t>Grupo 2  ·  Gestión Humana</a:t>
            </a:r>
            <a:endParaRPr lang="en-US" sz="1000" dirty="0"/>
          </a:p>
        </p:txBody>
      </p:sp>
      <p:sp>
        <p:nvSpPr>
          <p:cNvPr id="11" name="Text 9"/>
          <p:cNvSpPr/>
          <p:nvPr/>
        </p:nvSpPr>
        <p:spPr>
          <a:xfrm>
            <a:off x="548640" y="2395728"/>
            <a:ext cx="3749040" cy="27432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Analizar indicadores de talento y tendencias</a:t>
            </a:r>
            <a:endParaRPr lang="en-US" sz="1200" dirty="0"/>
          </a:p>
        </p:txBody>
      </p:sp>
      <p:sp>
        <p:nvSpPr>
          <p:cNvPr id="12" name="Shape 10"/>
          <p:cNvSpPr/>
          <p:nvPr/>
        </p:nvSpPr>
        <p:spPr>
          <a:xfrm>
            <a:off x="365760" y="2889504"/>
            <a:ext cx="4114800" cy="658368"/>
          </a:xfrm>
          <a:prstGeom prst="rect">
            <a:avLst/>
          </a:prstGeom>
          <a:solidFill>
            <a:srgbClr val="FFFFFF"/>
          </a:solidFill>
          <a:ln w="12700">
            <a:solidFill>
              <a:srgbClr val="E2E0D8"/>
            </a:solidFill>
            <a:prstDash val="solid"/>
          </a:ln>
          <a:effectLst>
            <a:outerShdw blurRad="101600" dist="38100" dir="8100000" algn="bl" rotWithShape="0">
              <a:srgbClr val="000000">
                <a:alpha val="10000"/>
              </a:srgbClr>
            </a:outerShdw>
          </a:effectLst>
        </p:spPr>
        <p:txBody>
          <a:bodyPr/>
          <a:lstStyle/>
          <a:p>
            <a:endParaRPr lang="es-CO"/>
          </a:p>
        </p:txBody>
      </p:sp>
      <p:sp>
        <p:nvSpPr>
          <p:cNvPr id="13" name="Shape 11"/>
          <p:cNvSpPr/>
          <p:nvPr/>
        </p:nvSpPr>
        <p:spPr>
          <a:xfrm>
            <a:off x="365760" y="2889504"/>
            <a:ext cx="64008" cy="658368"/>
          </a:xfrm>
          <a:prstGeom prst="rect">
            <a:avLst/>
          </a:prstGeom>
          <a:solidFill>
            <a:srgbClr val="7C2D12"/>
          </a:solidFill>
          <a:ln w="12700">
            <a:solidFill>
              <a:srgbClr val="7C2D12">
                <a:alpha val="0"/>
              </a:srgbClr>
            </a:solidFill>
            <a:prstDash val="solid"/>
          </a:ln>
        </p:spPr>
        <p:txBody>
          <a:bodyPr/>
          <a:lstStyle/>
          <a:p>
            <a:endParaRPr lang="es-CO"/>
          </a:p>
        </p:txBody>
      </p:sp>
      <p:sp>
        <p:nvSpPr>
          <p:cNvPr id="14" name="Text 12"/>
          <p:cNvSpPr/>
          <p:nvPr/>
        </p:nvSpPr>
        <p:spPr>
          <a:xfrm>
            <a:off x="548640" y="2944368"/>
            <a:ext cx="3749040" cy="237744"/>
          </a:xfrm>
          <a:prstGeom prst="rect">
            <a:avLst/>
          </a:prstGeom>
          <a:noFill/>
          <a:ln/>
        </p:spPr>
        <p:txBody>
          <a:bodyPr wrap="square" rtlCol="0" anchor="ctr"/>
          <a:lstStyle/>
          <a:p>
            <a:pPr marL="0" indent="0">
              <a:buNone/>
            </a:pPr>
            <a:r>
              <a:rPr lang="en-US" sz="1000" b="1" dirty="0">
                <a:solidFill>
                  <a:srgbClr val="7C2D12"/>
                </a:solidFill>
                <a:latin typeface="Calibri" pitchFamily="34" charset="0"/>
                <a:ea typeface="Calibri" pitchFamily="34" charset="-122"/>
                <a:cs typeface="Calibri" pitchFamily="34" charset="-120"/>
              </a:rPr>
              <a:t>Grupo 3  ·  Operaciones / Servicios</a:t>
            </a:r>
            <a:endParaRPr lang="en-US" sz="1000" dirty="0"/>
          </a:p>
        </p:txBody>
      </p:sp>
      <p:sp>
        <p:nvSpPr>
          <p:cNvPr id="15" name="Text 13"/>
          <p:cNvSpPr/>
          <p:nvPr/>
        </p:nvSpPr>
        <p:spPr>
          <a:xfrm>
            <a:off x="548640" y="3200400"/>
            <a:ext cx="3749040" cy="27432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Identificar cuellos de botella en servicios</a:t>
            </a:r>
            <a:endParaRPr lang="en-US" sz="1200" dirty="0"/>
          </a:p>
        </p:txBody>
      </p:sp>
      <p:sp>
        <p:nvSpPr>
          <p:cNvPr id="16" name="Shape 14"/>
          <p:cNvSpPr/>
          <p:nvPr/>
        </p:nvSpPr>
        <p:spPr>
          <a:xfrm>
            <a:off x="4754880" y="1280160"/>
            <a:ext cx="4114800" cy="658368"/>
          </a:xfrm>
          <a:prstGeom prst="rect">
            <a:avLst/>
          </a:prstGeom>
          <a:solidFill>
            <a:srgbClr val="FFFFFF"/>
          </a:solidFill>
          <a:ln w="12700">
            <a:solidFill>
              <a:srgbClr val="E2E0D8"/>
            </a:solidFill>
            <a:prstDash val="solid"/>
          </a:ln>
          <a:effectLst>
            <a:outerShdw blurRad="101600" dist="38100" dir="8100000" algn="bl" rotWithShape="0">
              <a:srgbClr val="000000">
                <a:alpha val="10000"/>
              </a:srgbClr>
            </a:outerShdw>
          </a:effectLst>
        </p:spPr>
        <p:txBody>
          <a:bodyPr/>
          <a:lstStyle/>
          <a:p>
            <a:endParaRPr lang="es-CO"/>
          </a:p>
        </p:txBody>
      </p:sp>
      <p:sp>
        <p:nvSpPr>
          <p:cNvPr id="17" name="Shape 15"/>
          <p:cNvSpPr/>
          <p:nvPr/>
        </p:nvSpPr>
        <p:spPr>
          <a:xfrm>
            <a:off x="4754880" y="1280160"/>
            <a:ext cx="64008" cy="658368"/>
          </a:xfrm>
          <a:prstGeom prst="rect">
            <a:avLst/>
          </a:prstGeom>
          <a:solidFill>
            <a:srgbClr val="4C1D95"/>
          </a:solidFill>
          <a:ln w="12700">
            <a:solidFill>
              <a:srgbClr val="4C1D95">
                <a:alpha val="0"/>
              </a:srgbClr>
            </a:solidFill>
            <a:prstDash val="solid"/>
          </a:ln>
        </p:spPr>
        <p:txBody>
          <a:bodyPr/>
          <a:lstStyle/>
          <a:p>
            <a:endParaRPr lang="es-CO"/>
          </a:p>
        </p:txBody>
      </p:sp>
      <p:sp>
        <p:nvSpPr>
          <p:cNvPr id="18" name="Text 16"/>
          <p:cNvSpPr/>
          <p:nvPr/>
        </p:nvSpPr>
        <p:spPr>
          <a:xfrm>
            <a:off x="4937760" y="1335024"/>
            <a:ext cx="3749040" cy="237744"/>
          </a:xfrm>
          <a:prstGeom prst="rect">
            <a:avLst/>
          </a:prstGeom>
          <a:noFill/>
          <a:ln/>
        </p:spPr>
        <p:txBody>
          <a:bodyPr wrap="square" rtlCol="0" anchor="ctr"/>
          <a:lstStyle/>
          <a:p>
            <a:pPr marL="0" indent="0">
              <a:buNone/>
            </a:pPr>
            <a:r>
              <a:rPr lang="en-US" sz="1000" b="1" dirty="0">
                <a:solidFill>
                  <a:srgbClr val="4C1D95"/>
                </a:solidFill>
                <a:latin typeface="Calibri" pitchFamily="34" charset="0"/>
                <a:ea typeface="Calibri" pitchFamily="34" charset="-122"/>
                <a:cs typeface="Calibri" pitchFamily="34" charset="-120"/>
              </a:rPr>
              <a:t>Grupo 4  ·  Jurídica / Documental</a:t>
            </a:r>
            <a:endParaRPr lang="en-US" sz="1000" dirty="0"/>
          </a:p>
        </p:txBody>
      </p:sp>
      <p:sp>
        <p:nvSpPr>
          <p:cNvPr id="19" name="Text 17"/>
          <p:cNvSpPr/>
          <p:nvPr/>
        </p:nvSpPr>
        <p:spPr>
          <a:xfrm>
            <a:off x="4937760" y="1591056"/>
            <a:ext cx="3749040" cy="27432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Analizar documentos y extraer lo que importa</a:t>
            </a:r>
            <a:endParaRPr lang="en-US" sz="1200" dirty="0"/>
          </a:p>
        </p:txBody>
      </p:sp>
      <p:sp>
        <p:nvSpPr>
          <p:cNvPr id="20" name="Shape 18"/>
          <p:cNvSpPr/>
          <p:nvPr/>
        </p:nvSpPr>
        <p:spPr>
          <a:xfrm>
            <a:off x="4754880" y="2084832"/>
            <a:ext cx="4114800" cy="658368"/>
          </a:xfrm>
          <a:prstGeom prst="rect">
            <a:avLst/>
          </a:prstGeom>
          <a:solidFill>
            <a:srgbClr val="FFFFFF"/>
          </a:solidFill>
          <a:ln w="12700">
            <a:solidFill>
              <a:srgbClr val="E2E0D8"/>
            </a:solidFill>
            <a:prstDash val="solid"/>
          </a:ln>
          <a:effectLst>
            <a:outerShdw blurRad="101600" dist="38100" dir="8100000" algn="bl" rotWithShape="0">
              <a:srgbClr val="000000">
                <a:alpha val="10000"/>
              </a:srgbClr>
            </a:outerShdw>
          </a:effectLst>
        </p:spPr>
        <p:txBody>
          <a:bodyPr/>
          <a:lstStyle/>
          <a:p>
            <a:endParaRPr lang="es-CO"/>
          </a:p>
        </p:txBody>
      </p:sp>
      <p:sp>
        <p:nvSpPr>
          <p:cNvPr id="21" name="Shape 19"/>
          <p:cNvSpPr/>
          <p:nvPr/>
        </p:nvSpPr>
        <p:spPr>
          <a:xfrm>
            <a:off x="4754880" y="2084832"/>
            <a:ext cx="64008" cy="658368"/>
          </a:xfrm>
          <a:prstGeom prst="rect">
            <a:avLst/>
          </a:prstGeom>
          <a:solidFill>
            <a:srgbClr val="134E4A"/>
          </a:solidFill>
          <a:ln w="12700">
            <a:solidFill>
              <a:srgbClr val="134E4A">
                <a:alpha val="0"/>
              </a:srgbClr>
            </a:solidFill>
            <a:prstDash val="solid"/>
          </a:ln>
        </p:spPr>
        <p:txBody>
          <a:bodyPr/>
          <a:lstStyle/>
          <a:p>
            <a:endParaRPr lang="es-CO"/>
          </a:p>
        </p:txBody>
      </p:sp>
      <p:sp>
        <p:nvSpPr>
          <p:cNvPr id="22" name="Text 20"/>
          <p:cNvSpPr/>
          <p:nvPr/>
        </p:nvSpPr>
        <p:spPr>
          <a:xfrm>
            <a:off x="4937760" y="2139696"/>
            <a:ext cx="3749040" cy="237744"/>
          </a:xfrm>
          <a:prstGeom prst="rect">
            <a:avLst/>
          </a:prstGeom>
          <a:noFill/>
          <a:ln/>
        </p:spPr>
        <p:txBody>
          <a:bodyPr wrap="square" rtlCol="0" anchor="ctr"/>
          <a:lstStyle/>
          <a:p>
            <a:pPr marL="0" indent="0">
              <a:buNone/>
            </a:pPr>
            <a:r>
              <a:rPr lang="en-US" sz="1000" b="1" dirty="0">
                <a:solidFill>
                  <a:srgbClr val="134E4A"/>
                </a:solidFill>
                <a:latin typeface="Calibri" pitchFamily="34" charset="0"/>
                <a:ea typeface="Calibri" pitchFamily="34" charset="-122"/>
                <a:cs typeface="Calibri" pitchFamily="34" charset="-120"/>
              </a:rPr>
              <a:t>Grupo 5  ·  TI / Proyectos</a:t>
            </a:r>
            <a:endParaRPr lang="en-US" sz="1000" dirty="0"/>
          </a:p>
        </p:txBody>
      </p:sp>
      <p:sp>
        <p:nvSpPr>
          <p:cNvPr id="23" name="Text 21"/>
          <p:cNvSpPr/>
          <p:nvPr/>
        </p:nvSpPr>
        <p:spPr>
          <a:xfrm>
            <a:off x="4937760" y="2395728"/>
            <a:ext cx="3749040" cy="27432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Analizar portafolio y priorizar decisiones</a:t>
            </a:r>
            <a:endParaRPr lang="en-US" sz="1200" dirty="0"/>
          </a:p>
        </p:txBody>
      </p:sp>
      <p:sp>
        <p:nvSpPr>
          <p:cNvPr id="24" name="Shape 22"/>
          <p:cNvSpPr/>
          <p:nvPr/>
        </p:nvSpPr>
        <p:spPr>
          <a:xfrm>
            <a:off x="365760" y="4462272"/>
            <a:ext cx="8412480" cy="384048"/>
          </a:xfrm>
          <a:prstGeom prst="roundRect">
            <a:avLst>
              <a:gd name="adj" fmla="val 23810"/>
            </a:avLst>
          </a:prstGeom>
          <a:solidFill>
            <a:srgbClr val="0E7490">
              <a:alpha val="12000"/>
            </a:srgbClr>
          </a:solidFill>
          <a:ln w="12700">
            <a:solidFill>
              <a:srgbClr val="0E7490">
                <a:alpha val="40000"/>
              </a:srgbClr>
            </a:solidFill>
            <a:prstDash val="solid"/>
          </a:ln>
        </p:spPr>
        <p:txBody>
          <a:bodyPr/>
          <a:lstStyle/>
          <a:p>
            <a:endParaRPr lang="es-CO"/>
          </a:p>
        </p:txBody>
      </p:sp>
      <p:sp>
        <p:nvSpPr>
          <p:cNvPr id="25" name="Text 23"/>
          <p:cNvSpPr/>
          <p:nvPr/>
        </p:nvSpPr>
        <p:spPr>
          <a:xfrm>
            <a:off x="365760" y="4462272"/>
            <a:ext cx="8412480" cy="384048"/>
          </a:xfrm>
          <a:prstGeom prst="rect">
            <a:avLst/>
          </a:prstGeom>
          <a:noFill/>
          <a:ln/>
        </p:spPr>
        <p:txBody>
          <a:bodyPr wrap="square" lIns="0" tIns="0" rIns="0" bIns="0" rtlCol="0" anchor="ctr"/>
          <a:lstStyle/>
          <a:p>
            <a:pPr marL="0" indent="0" algn="ctr">
              <a:buNone/>
            </a:pPr>
            <a:r>
              <a:rPr lang="en-US" sz="1100" b="1" dirty="0">
                <a:solidFill>
                  <a:srgbClr val="0E7490"/>
                </a:solidFill>
                <a:latin typeface="Calibri" pitchFamily="34" charset="0"/>
                <a:ea typeface="Calibri" pitchFamily="34" charset="-122"/>
                <a:cs typeface="Calibri" pitchFamily="34" charset="-120"/>
              </a:rPr>
              <a:t>📋  El material con prompts, pasos e instrucciones de iteración está en su dispositivo</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320040"/>
          </a:xfrm>
          <a:prstGeom prst="rect">
            <a:avLst/>
          </a:prstGeom>
          <a:noFill/>
          <a:ln/>
        </p:spPr>
        <p:txBody>
          <a:bodyPr wrap="square" rtlCol="0" anchor="ctr"/>
          <a:lstStyle/>
          <a:p>
            <a:pPr marL="0" indent="0">
              <a:buNone/>
            </a:pPr>
            <a:r>
              <a:rPr lang="en-US" sz="900" b="1" kern="0" spc="200" dirty="0">
                <a:solidFill>
                  <a:srgbClr val="6B7280"/>
                </a:solidFill>
                <a:latin typeface="Calibri" pitchFamily="34" charset="0"/>
                <a:ea typeface="Calibri" pitchFamily="34" charset="-122"/>
                <a:cs typeface="Calibri" pitchFamily="34" charset="-120"/>
              </a:rPr>
              <a:t>PLENARIA — 3 MINUTOS POR GRUPO · TIEMPO ESTRICTO</a:t>
            </a:r>
            <a:endParaRPr lang="en-US" sz="900" dirty="0"/>
          </a:p>
        </p:txBody>
      </p:sp>
      <p:sp>
        <p:nvSpPr>
          <p:cNvPr id="3" name="Text 1"/>
          <p:cNvSpPr/>
          <p:nvPr/>
        </p:nvSpPr>
        <p:spPr>
          <a:xfrm>
            <a:off x="457200" y="594360"/>
            <a:ext cx="8229600" cy="457200"/>
          </a:xfrm>
          <a:prstGeom prst="rect">
            <a:avLst/>
          </a:prstGeom>
          <a:noFill/>
          <a:ln/>
        </p:spPr>
        <p:txBody>
          <a:bodyPr wrap="square" rtlCol="0" anchor="ctr"/>
          <a:lstStyle/>
          <a:p>
            <a:pPr marL="0" indent="0">
              <a:buNone/>
            </a:pPr>
            <a:r>
              <a:rPr lang="en-US" sz="2400" b="1" dirty="0">
                <a:solidFill>
                  <a:srgbClr val="1C3557"/>
                </a:solidFill>
                <a:latin typeface="Georgia" pitchFamily="34" charset="0"/>
                <a:ea typeface="Georgia" pitchFamily="34" charset="-122"/>
                <a:cs typeface="Georgia" pitchFamily="34" charset="-120"/>
              </a:rPr>
              <a:t>¿Qué vio Copilot — y qué no pudo ver?</a:t>
            </a:r>
            <a:endParaRPr lang="en-US" sz="2400" dirty="0"/>
          </a:p>
        </p:txBody>
      </p:sp>
      <p:sp>
        <p:nvSpPr>
          <p:cNvPr id="4" name="Shape 2"/>
          <p:cNvSpPr/>
          <p:nvPr/>
        </p:nvSpPr>
        <p:spPr>
          <a:xfrm>
            <a:off x="365760" y="1280160"/>
            <a:ext cx="8412480" cy="804672"/>
          </a:xfrm>
          <a:prstGeom prst="rect">
            <a:avLst/>
          </a:prstGeom>
          <a:solidFill>
            <a:srgbClr val="FFFFFF"/>
          </a:solidFill>
          <a:ln w="12700">
            <a:solidFill>
              <a:srgbClr val="E2E0D8"/>
            </a:solidFill>
            <a:prstDash val="solid"/>
          </a:ln>
          <a:effectLst>
            <a:outerShdw blurRad="101600" dist="38100" dir="8100000" algn="bl" rotWithShape="0">
              <a:srgbClr val="000000">
                <a:alpha val="10000"/>
              </a:srgbClr>
            </a:outerShdw>
          </a:effectLst>
        </p:spPr>
        <p:txBody>
          <a:bodyPr/>
          <a:lstStyle/>
          <a:p>
            <a:endParaRPr lang="es-CO"/>
          </a:p>
        </p:txBody>
      </p:sp>
      <p:sp>
        <p:nvSpPr>
          <p:cNvPr id="5" name="Shape 3"/>
          <p:cNvSpPr/>
          <p:nvPr/>
        </p:nvSpPr>
        <p:spPr>
          <a:xfrm>
            <a:off x="365760" y="1280160"/>
            <a:ext cx="64008" cy="804672"/>
          </a:xfrm>
          <a:prstGeom prst="rect">
            <a:avLst/>
          </a:prstGeom>
          <a:solidFill>
            <a:srgbClr val="0E7490"/>
          </a:solidFill>
          <a:ln w="12700">
            <a:solidFill>
              <a:srgbClr val="0E7490">
                <a:alpha val="0"/>
              </a:srgbClr>
            </a:solidFill>
            <a:prstDash val="solid"/>
          </a:ln>
        </p:spPr>
        <p:txBody>
          <a:bodyPr/>
          <a:lstStyle/>
          <a:p>
            <a:endParaRPr lang="es-CO"/>
          </a:p>
        </p:txBody>
      </p:sp>
      <p:sp>
        <p:nvSpPr>
          <p:cNvPr id="6" name="Text 4"/>
          <p:cNvSpPr/>
          <p:nvPr/>
        </p:nvSpPr>
        <p:spPr>
          <a:xfrm>
            <a:off x="548640" y="1371600"/>
            <a:ext cx="457200" cy="640080"/>
          </a:xfrm>
          <a:prstGeom prst="rect">
            <a:avLst/>
          </a:prstGeom>
          <a:noFill/>
          <a:ln/>
        </p:spPr>
        <p:txBody>
          <a:bodyPr wrap="square" rtlCol="0" anchor="ctr"/>
          <a:lstStyle/>
          <a:p>
            <a:pPr marL="0" indent="0">
              <a:buNone/>
            </a:pPr>
            <a:r>
              <a:rPr lang="en-US" sz="2200" b="1" dirty="0">
                <a:solidFill>
                  <a:srgbClr val="0E7490"/>
                </a:solidFill>
                <a:latin typeface="Georgia" pitchFamily="34" charset="0"/>
                <a:ea typeface="Georgia" pitchFamily="34" charset="-122"/>
                <a:cs typeface="Georgia" pitchFamily="34" charset="-120"/>
              </a:rPr>
              <a:t>01</a:t>
            </a:r>
            <a:endParaRPr lang="en-US" sz="2200" dirty="0"/>
          </a:p>
        </p:txBody>
      </p:sp>
      <p:sp>
        <p:nvSpPr>
          <p:cNvPr id="7" name="Text 5"/>
          <p:cNvSpPr/>
          <p:nvPr/>
        </p:nvSpPr>
        <p:spPr>
          <a:xfrm>
            <a:off x="1097280" y="1481328"/>
            <a:ext cx="7498080" cy="402336"/>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¿El análisis de Copilot coincidió con lo que ya sabían? ¿O encontró algo nuevo?</a:t>
            </a:r>
            <a:endParaRPr lang="en-US" sz="1300" dirty="0"/>
          </a:p>
        </p:txBody>
      </p:sp>
      <p:sp>
        <p:nvSpPr>
          <p:cNvPr id="8" name="Shape 6"/>
          <p:cNvSpPr/>
          <p:nvPr/>
        </p:nvSpPr>
        <p:spPr>
          <a:xfrm>
            <a:off x="365760" y="2240280"/>
            <a:ext cx="8412480" cy="804672"/>
          </a:xfrm>
          <a:prstGeom prst="rect">
            <a:avLst/>
          </a:prstGeom>
          <a:solidFill>
            <a:srgbClr val="FFFFFF"/>
          </a:solidFill>
          <a:ln w="12700">
            <a:solidFill>
              <a:srgbClr val="E2E0D8"/>
            </a:solidFill>
            <a:prstDash val="solid"/>
          </a:ln>
          <a:effectLst>
            <a:outerShdw blurRad="101600" dist="38100" dir="8100000" algn="bl" rotWithShape="0">
              <a:srgbClr val="000000">
                <a:alpha val="10000"/>
              </a:srgbClr>
            </a:outerShdw>
          </a:effectLst>
        </p:spPr>
        <p:txBody>
          <a:bodyPr/>
          <a:lstStyle/>
          <a:p>
            <a:endParaRPr lang="es-CO"/>
          </a:p>
        </p:txBody>
      </p:sp>
      <p:sp>
        <p:nvSpPr>
          <p:cNvPr id="9" name="Shape 7"/>
          <p:cNvSpPr/>
          <p:nvPr/>
        </p:nvSpPr>
        <p:spPr>
          <a:xfrm>
            <a:off x="365760" y="2240280"/>
            <a:ext cx="64008" cy="804672"/>
          </a:xfrm>
          <a:prstGeom prst="rect">
            <a:avLst/>
          </a:prstGeom>
          <a:solidFill>
            <a:srgbClr val="B8860B"/>
          </a:solidFill>
          <a:ln w="12700">
            <a:solidFill>
              <a:srgbClr val="B8860B">
                <a:alpha val="0"/>
              </a:srgbClr>
            </a:solidFill>
            <a:prstDash val="solid"/>
          </a:ln>
        </p:spPr>
        <p:txBody>
          <a:bodyPr/>
          <a:lstStyle/>
          <a:p>
            <a:endParaRPr lang="es-CO"/>
          </a:p>
        </p:txBody>
      </p:sp>
      <p:sp>
        <p:nvSpPr>
          <p:cNvPr id="10" name="Text 8"/>
          <p:cNvSpPr/>
          <p:nvPr/>
        </p:nvSpPr>
        <p:spPr>
          <a:xfrm>
            <a:off x="548640" y="2331720"/>
            <a:ext cx="457200" cy="640080"/>
          </a:xfrm>
          <a:prstGeom prst="rect">
            <a:avLst/>
          </a:prstGeom>
          <a:noFill/>
          <a:ln/>
        </p:spPr>
        <p:txBody>
          <a:bodyPr wrap="square" rtlCol="0" anchor="ctr"/>
          <a:lstStyle/>
          <a:p>
            <a:pPr marL="0" indent="0">
              <a:buNone/>
            </a:pPr>
            <a:r>
              <a:rPr lang="en-US" sz="2200" b="1" dirty="0">
                <a:solidFill>
                  <a:srgbClr val="B8860B"/>
                </a:solidFill>
                <a:latin typeface="Georgia" pitchFamily="34" charset="0"/>
                <a:ea typeface="Georgia" pitchFamily="34" charset="-122"/>
                <a:cs typeface="Georgia" pitchFamily="34" charset="-120"/>
              </a:rPr>
              <a:t>02</a:t>
            </a:r>
            <a:endParaRPr lang="en-US" sz="2200" dirty="0"/>
          </a:p>
        </p:txBody>
      </p:sp>
      <p:sp>
        <p:nvSpPr>
          <p:cNvPr id="11" name="Text 9"/>
          <p:cNvSpPr/>
          <p:nvPr/>
        </p:nvSpPr>
        <p:spPr>
          <a:xfrm>
            <a:off x="1097280" y="2441448"/>
            <a:ext cx="7498080" cy="402336"/>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¿Qué contexto tenían ustedes que Copilot no podía tener?</a:t>
            </a:r>
            <a:endParaRPr lang="en-US" sz="1300" dirty="0"/>
          </a:p>
        </p:txBody>
      </p:sp>
      <p:sp>
        <p:nvSpPr>
          <p:cNvPr id="12" name="Shape 10"/>
          <p:cNvSpPr/>
          <p:nvPr/>
        </p:nvSpPr>
        <p:spPr>
          <a:xfrm>
            <a:off x="365760" y="3200400"/>
            <a:ext cx="8412480" cy="804672"/>
          </a:xfrm>
          <a:prstGeom prst="rect">
            <a:avLst/>
          </a:prstGeom>
          <a:solidFill>
            <a:srgbClr val="FFFFFF"/>
          </a:solidFill>
          <a:ln w="12700">
            <a:solidFill>
              <a:srgbClr val="E2E0D8"/>
            </a:solidFill>
            <a:prstDash val="solid"/>
          </a:ln>
          <a:effectLst>
            <a:outerShdw blurRad="101600" dist="38100" dir="8100000" algn="bl" rotWithShape="0">
              <a:srgbClr val="000000">
                <a:alpha val="10000"/>
              </a:srgbClr>
            </a:outerShdw>
          </a:effectLst>
        </p:spPr>
        <p:txBody>
          <a:bodyPr/>
          <a:lstStyle/>
          <a:p>
            <a:endParaRPr lang="es-CO"/>
          </a:p>
        </p:txBody>
      </p:sp>
      <p:sp>
        <p:nvSpPr>
          <p:cNvPr id="13" name="Shape 11"/>
          <p:cNvSpPr/>
          <p:nvPr/>
        </p:nvSpPr>
        <p:spPr>
          <a:xfrm>
            <a:off x="365760" y="3200400"/>
            <a:ext cx="64008" cy="804672"/>
          </a:xfrm>
          <a:prstGeom prst="rect">
            <a:avLst/>
          </a:prstGeom>
          <a:solidFill>
            <a:srgbClr val="0B7A5F"/>
          </a:solidFill>
          <a:ln w="12700">
            <a:solidFill>
              <a:srgbClr val="0B7A5F">
                <a:alpha val="0"/>
              </a:srgbClr>
            </a:solidFill>
            <a:prstDash val="solid"/>
          </a:ln>
        </p:spPr>
        <p:txBody>
          <a:bodyPr/>
          <a:lstStyle/>
          <a:p>
            <a:endParaRPr lang="es-CO"/>
          </a:p>
        </p:txBody>
      </p:sp>
      <p:sp>
        <p:nvSpPr>
          <p:cNvPr id="14" name="Text 12"/>
          <p:cNvSpPr/>
          <p:nvPr/>
        </p:nvSpPr>
        <p:spPr>
          <a:xfrm>
            <a:off x="548640" y="3291840"/>
            <a:ext cx="457200" cy="640080"/>
          </a:xfrm>
          <a:prstGeom prst="rect">
            <a:avLst/>
          </a:prstGeom>
          <a:noFill/>
          <a:ln/>
        </p:spPr>
        <p:txBody>
          <a:bodyPr wrap="square" rtlCol="0" anchor="ctr"/>
          <a:lstStyle/>
          <a:p>
            <a:pPr marL="0" indent="0">
              <a:buNone/>
            </a:pPr>
            <a:r>
              <a:rPr lang="en-US" sz="2200" b="1" dirty="0">
                <a:solidFill>
                  <a:srgbClr val="0B7A5F"/>
                </a:solidFill>
                <a:latin typeface="Georgia" pitchFamily="34" charset="0"/>
                <a:ea typeface="Georgia" pitchFamily="34" charset="-122"/>
                <a:cs typeface="Georgia" pitchFamily="34" charset="-120"/>
              </a:rPr>
              <a:t>03</a:t>
            </a:r>
            <a:endParaRPr lang="en-US" sz="2200" dirty="0"/>
          </a:p>
        </p:txBody>
      </p:sp>
      <p:sp>
        <p:nvSpPr>
          <p:cNvPr id="15" name="Text 13"/>
          <p:cNvSpPr/>
          <p:nvPr/>
        </p:nvSpPr>
        <p:spPr>
          <a:xfrm>
            <a:off x="1097280" y="3401568"/>
            <a:ext cx="7498080" cy="402336"/>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¿Habría algún riesgo en actuar directamente sobre ese análisis sin revisarlo? ¿Cómo lo detectarían?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1C3557"/>
        </a:solidFill>
        <a:effectLst/>
      </p:bgPr>
    </p:bg>
    <p:spTree>
      <p:nvGrpSpPr>
        <p:cNvPr id="1" name=""/>
        <p:cNvGrpSpPr/>
        <p:nvPr/>
      </p:nvGrpSpPr>
      <p:grpSpPr>
        <a:xfrm>
          <a:off x="0" y="0"/>
          <a:ext cx="0" cy="0"/>
          <a:chOff x="0" y="0"/>
          <a:chExt cx="0" cy="0"/>
        </a:xfrm>
      </p:grpSpPr>
      <p:sp>
        <p:nvSpPr>
          <p:cNvPr id="2" name="Text 0"/>
          <p:cNvSpPr/>
          <p:nvPr/>
        </p:nvSpPr>
        <p:spPr>
          <a:xfrm>
            <a:off x="457200" y="1645920"/>
            <a:ext cx="8229600" cy="548640"/>
          </a:xfrm>
          <a:prstGeom prst="rect">
            <a:avLst/>
          </a:prstGeom>
          <a:noFill/>
          <a:ln/>
        </p:spPr>
        <p:txBody>
          <a:bodyPr wrap="square" rtlCol="0" anchor="ctr"/>
          <a:lstStyle/>
          <a:p>
            <a:pPr marL="0" indent="0" algn="ctr">
              <a:buNone/>
            </a:pPr>
            <a:r>
              <a:rPr lang="en-US" sz="3200" b="1" dirty="0">
                <a:solidFill>
                  <a:srgbClr val="FFFFFF"/>
                </a:solidFill>
                <a:latin typeface="Georgia" pitchFamily="34" charset="0"/>
                <a:ea typeface="Georgia" pitchFamily="34" charset="-122"/>
                <a:cs typeface="Georgia" pitchFamily="34" charset="-120"/>
              </a:rPr>
              <a:t>RECESO — 15 MINUTOS</a:t>
            </a:r>
            <a:endParaRPr lang="en-US" sz="3200" dirty="0"/>
          </a:p>
        </p:txBody>
      </p:sp>
      <p:sp>
        <p:nvSpPr>
          <p:cNvPr id="3" name="Text 1"/>
          <p:cNvSpPr/>
          <p:nvPr/>
        </p:nvSpPr>
        <p:spPr>
          <a:xfrm>
            <a:off x="457200" y="2377440"/>
            <a:ext cx="8229600" cy="457200"/>
          </a:xfrm>
          <a:prstGeom prst="rect">
            <a:avLst/>
          </a:prstGeom>
          <a:noFill/>
          <a:ln/>
        </p:spPr>
        <p:txBody>
          <a:bodyPr wrap="square" rtlCol="0" anchor="ctr"/>
          <a:lstStyle/>
          <a:p>
            <a:pPr marL="0" indent="0" algn="ctr">
              <a:buNone/>
            </a:pPr>
            <a:r>
              <a:rPr lang="en-US" sz="1600" i="1" dirty="0">
                <a:solidFill>
                  <a:srgbClr val="9DD9E8"/>
                </a:solidFill>
                <a:latin typeface="Calibri" pitchFamily="34" charset="0"/>
                <a:ea typeface="Calibri" pitchFamily="34" charset="-122"/>
                <a:cs typeface="Calibri" pitchFamily="34" charset="-120"/>
              </a:rPr>
              <a:t>Para el Bloque 2: de usar la herramienta a gobernar los datos que le damos.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1C3557"/>
        </a:solidFill>
        <a:effectLst/>
      </p:bgPr>
    </p:bg>
    <p:spTree>
      <p:nvGrpSpPr>
        <p:cNvPr id="1" name=""/>
        <p:cNvGrpSpPr/>
        <p:nvPr/>
      </p:nvGrpSpPr>
      <p:grpSpPr>
        <a:xfrm>
          <a:off x="0" y="0"/>
          <a:ext cx="0" cy="0"/>
          <a:chOff x="0" y="0"/>
          <a:chExt cx="0" cy="0"/>
        </a:xfrm>
      </p:grpSpPr>
      <p:sp>
        <p:nvSpPr>
          <p:cNvPr id="2" name="Shape 0"/>
          <p:cNvSpPr/>
          <p:nvPr/>
        </p:nvSpPr>
        <p:spPr>
          <a:xfrm>
            <a:off x="0" y="0"/>
            <a:ext cx="9144000" cy="1417320"/>
          </a:xfrm>
          <a:prstGeom prst="rect">
            <a:avLst/>
          </a:prstGeom>
          <a:solidFill>
            <a:srgbClr val="0E7490">
              <a:alpha val="20000"/>
            </a:srgbClr>
          </a:solidFill>
          <a:ln w="12700">
            <a:solidFill>
              <a:srgbClr val="0E7490">
                <a:alpha val="0"/>
              </a:srgbClr>
            </a:solidFill>
            <a:prstDash val="solid"/>
          </a:ln>
        </p:spPr>
        <p:txBody>
          <a:bodyPr/>
          <a:lstStyle/>
          <a:p>
            <a:endParaRPr lang="es-CO"/>
          </a:p>
        </p:txBody>
      </p:sp>
      <p:sp>
        <p:nvSpPr>
          <p:cNvPr id="3" name="Text 1"/>
          <p:cNvSpPr/>
          <p:nvPr/>
        </p:nvSpPr>
        <p:spPr>
          <a:xfrm>
            <a:off x="457200" y="201168"/>
            <a:ext cx="8229600" cy="320040"/>
          </a:xfrm>
          <a:prstGeom prst="rect">
            <a:avLst/>
          </a:prstGeom>
          <a:noFill/>
          <a:ln/>
        </p:spPr>
        <p:txBody>
          <a:bodyPr wrap="square" rtlCol="0" anchor="ctr"/>
          <a:lstStyle/>
          <a:p>
            <a:pPr marL="0" indent="0">
              <a:buNone/>
            </a:pPr>
            <a:r>
              <a:rPr lang="en-US" sz="900" b="1" kern="0" spc="200" dirty="0">
                <a:solidFill>
                  <a:srgbClr val="9DD9E8"/>
                </a:solidFill>
                <a:latin typeface="Calibri" pitchFamily="34" charset="0"/>
                <a:ea typeface="Calibri" pitchFamily="34" charset="-122"/>
                <a:cs typeface="Calibri" pitchFamily="34" charset="-120"/>
              </a:rPr>
              <a:t>BLOQUE 2 — GOBIERNO DE TI</a:t>
            </a:r>
            <a:endParaRPr lang="en-US" sz="900" dirty="0"/>
          </a:p>
        </p:txBody>
      </p:sp>
      <p:sp>
        <p:nvSpPr>
          <p:cNvPr id="4" name="Text 2"/>
          <p:cNvSpPr/>
          <p:nvPr/>
        </p:nvSpPr>
        <p:spPr>
          <a:xfrm>
            <a:off x="457200" y="530352"/>
            <a:ext cx="8229600" cy="841248"/>
          </a:xfrm>
          <a:prstGeom prst="rect">
            <a:avLst/>
          </a:prstGeom>
          <a:noFill/>
          <a:ln/>
        </p:spPr>
        <p:txBody>
          <a:bodyPr wrap="square" rtlCol="0" anchor="ctr"/>
          <a:lstStyle/>
          <a:p>
            <a:pPr marL="0" indent="0">
              <a:lnSpc>
                <a:spcPct val="120000"/>
              </a:lnSpc>
              <a:buNone/>
            </a:pPr>
            <a:r>
              <a:rPr lang="en-US" sz="2400" b="1" dirty="0">
                <a:solidFill>
                  <a:srgbClr val="FFFFFF"/>
                </a:solidFill>
                <a:latin typeface="Georgia" pitchFamily="34" charset="0"/>
                <a:ea typeface="Georgia" pitchFamily="34" charset="-122"/>
                <a:cs typeface="Georgia" pitchFamily="34" charset="-120"/>
              </a:rPr>
              <a:t>¿Qué datos le damos a la IA — y quién decide eso?</a:t>
            </a:r>
            <a:endParaRPr lang="en-US" sz="2400" dirty="0"/>
          </a:p>
        </p:txBody>
      </p:sp>
      <p:sp>
        <p:nvSpPr>
          <p:cNvPr id="5" name="Shape 3"/>
          <p:cNvSpPr/>
          <p:nvPr/>
        </p:nvSpPr>
        <p:spPr>
          <a:xfrm>
            <a:off x="365760" y="1572768"/>
            <a:ext cx="8412480" cy="621792"/>
          </a:xfrm>
          <a:prstGeom prst="rect">
            <a:avLst/>
          </a:prstGeom>
          <a:solidFill>
            <a:srgbClr val="FFFFFF">
              <a:alpha val="8000"/>
            </a:srgbClr>
          </a:solidFill>
          <a:ln w="12700">
            <a:solidFill>
              <a:srgbClr val="FFFFFF">
                <a:alpha val="20000"/>
              </a:srgbClr>
            </a:solidFill>
            <a:prstDash val="solid"/>
          </a:ln>
        </p:spPr>
        <p:txBody>
          <a:bodyPr/>
          <a:lstStyle/>
          <a:p>
            <a:endParaRPr lang="es-CO"/>
          </a:p>
        </p:txBody>
      </p:sp>
      <p:sp>
        <p:nvSpPr>
          <p:cNvPr id="6" name="Text 4"/>
          <p:cNvSpPr/>
          <p:nvPr/>
        </p:nvSpPr>
        <p:spPr>
          <a:xfrm>
            <a:off x="502920" y="1600200"/>
            <a:ext cx="8229600" cy="566928"/>
          </a:xfrm>
          <a:prstGeom prst="rect">
            <a:avLst/>
          </a:prstGeom>
          <a:noFill/>
          <a:ln/>
        </p:spPr>
        <p:txBody>
          <a:bodyPr wrap="square" rtlCol="0" anchor="ctr"/>
          <a:lstStyle/>
          <a:p>
            <a:pPr marL="0" indent="0">
              <a:lnSpc>
                <a:spcPct val="130000"/>
              </a:lnSpc>
              <a:buNone/>
            </a:pPr>
            <a:r>
              <a:rPr lang="en-US" sz="1200" dirty="0">
                <a:solidFill>
                  <a:srgbClr val="DDEEFF"/>
                </a:solidFill>
                <a:latin typeface="Calibri" pitchFamily="34" charset="0"/>
                <a:ea typeface="Calibri" pitchFamily="34" charset="-122"/>
                <a:cs typeface="Calibri" pitchFamily="34" charset="-120"/>
              </a:rPr>
              <a:t>→  Si alguien carga datos de personal o contractuales en Copilot — ¿dónde quedan? ¿Quién lo controla?</a:t>
            </a:r>
            <a:endParaRPr lang="en-US" sz="1200" dirty="0"/>
          </a:p>
        </p:txBody>
      </p:sp>
      <p:sp>
        <p:nvSpPr>
          <p:cNvPr id="7" name="Shape 5"/>
          <p:cNvSpPr/>
          <p:nvPr/>
        </p:nvSpPr>
        <p:spPr>
          <a:xfrm>
            <a:off x="365760" y="2350008"/>
            <a:ext cx="8412480" cy="621792"/>
          </a:xfrm>
          <a:prstGeom prst="rect">
            <a:avLst/>
          </a:prstGeom>
          <a:solidFill>
            <a:srgbClr val="FFFFFF">
              <a:alpha val="8000"/>
            </a:srgbClr>
          </a:solidFill>
          <a:ln w="12700">
            <a:solidFill>
              <a:srgbClr val="FFFFFF">
                <a:alpha val="20000"/>
              </a:srgbClr>
            </a:solidFill>
            <a:prstDash val="solid"/>
          </a:ln>
        </p:spPr>
        <p:txBody>
          <a:bodyPr/>
          <a:lstStyle/>
          <a:p>
            <a:endParaRPr lang="es-CO"/>
          </a:p>
        </p:txBody>
      </p:sp>
      <p:sp>
        <p:nvSpPr>
          <p:cNvPr id="8" name="Text 6"/>
          <p:cNvSpPr/>
          <p:nvPr/>
        </p:nvSpPr>
        <p:spPr>
          <a:xfrm>
            <a:off x="502920" y="2377440"/>
            <a:ext cx="8229600" cy="566928"/>
          </a:xfrm>
          <a:prstGeom prst="rect">
            <a:avLst/>
          </a:prstGeom>
          <a:noFill/>
          <a:ln/>
        </p:spPr>
        <p:txBody>
          <a:bodyPr wrap="square" rtlCol="0" anchor="ctr"/>
          <a:lstStyle/>
          <a:p>
            <a:pPr marL="0" indent="0">
              <a:lnSpc>
                <a:spcPct val="130000"/>
              </a:lnSpc>
              <a:buNone/>
            </a:pPr>
            <a:r>
              <a:rPr lang="en-US" sz="1200" dirty="0">
                <a:solidFill>
                  <a:srgbClr val="DDEEFF"/>
                </a:solidFill>
                <a:latin typeface="Calibri" pitchFamily="34" charset="0"/>
                <a:ea typeface="Calibri" pitchFamily="34" charset="-122"/>
                <a:cs typeface="Calibri" pitchFamily="34" charset="-120"/>
              </a:rPr>
              <a:t>→  ¿Existe una clasificación de qué información puede usarse con IA externa? ¿Quién debería definirla?</a:t>
            </a:r>
            <a:endParaRPr lang="en-US" sz="1200" dirty="0"/>
          </a:p>
        </p:txBody>
      </p:sp>
      <p:sp>
        <p:nvSpPr>
          <p:cNvPr id="9" name="Shape 7"/>
          <p:cNvSpPr/>
          <p:nvPr/>
        </p:nvSpPr>
        <p:spPr>
          <a:xfrm>
            <a:off x="365760" y="3127248"/>
            <a:ext cx="8412480" cy="621792"/>
          </a:xfrm>
          <a:prstGeom prst="rect">
            <a:avLst/>
          </a:prstGeom>
          <a:solidFill>
            <a:srgbClr val="FFFFFF">
              <a:alpha val="8000"/>
            </a:srgbClr>
          </a:solidFill>
          <a:ln w="12700">
            <a:solidFill>
              <a:srgbClr val="FFFFFF">
                <a:alpha val="20000"/>
              </a:srgbClr>
            </a:solidFill>
            <a:prstDash val="solid"/>
          </a:ln>
        </p:spPr>
        <p:txBody>
          <a:bodyPr/>
          <a:lstStyle/>
          <a:p>
            <a:endParaRPr lang="es-CO"/>
          </a:p>
        </p:txBody>
      </p:sp>
      <p:sp>
        <p:nvSpPr>
          <p:cNvPr id="10" name="Text 8"/>
          <p:cNvSpPr/>
          <p:nvPr/>
        </p:nvSpPr>
        <p:spPr>
          <a:xfrm>
            <a:off x="502920" y="3154680"/>
            <a:ext cx="8229600" cy="566928"/>
          </a:xfrm>
          <a:prstGeom prst="rect">
            <a:avLst/>
          </a:prstGeom>
          <a:noFill/>
          <a:ln/>
        </p:spPr>
        <p:txBody>
          <a:bodyPr wrap="square" rtlCol="0" anchor="ctr"/>
          <a:lstStyle/>
          <a:p>
            <a:pPr marL="0" indent="0">
              <a:lnSpc>
                <a:spcPct val="130000"/>
              </a:lnSpc>
              <a:buNone/>
            </a:pPr>
            <a:r>
              <a:rPr lang="en-US" sz="1200" dirty="0">
                <a:solidFill>
                  <a:srgbClr val="DDEEFF"/>
                </a:solidFill>
                <a:latin typeface="Calibri" pitchFamily="34" charset="0"/>
                <a:ea typeface="Calibri" pitchFamily="34" charset="-122"/>
                <a:cs typeface="Calibri" pitchFamily="34" charset="-120"/>
              </a:rPr>
              <a:t>→  ¿Cómo distinguen un análisis correcto de uno que solo parece correcto?</a:t>
            </a:r>
            <a:endParaRPr lang="en-US" sz="1200" dirty="0"/>
          </a:p>
        </p:txBody>
      </p:sp>
      <p:sp>
        <p:nvSpPr>
          <p:cNvPr id="11" name="Shape 9"/>
          <p:cNvSpPr/>
          <p:nvPr/>
        </p:nvSpPr>
        <p:spPr>
          <a:xfrm>
            <a:off x="365760" y="3904488"/>
            <a:ext cx="8412480" cy="621792"/>
          </a:xfrm>
          <a:prstGeom prst="rect">
            <a:avLst/>
          </a:prstGeom>
          <a:solidFill>
            <a:srgbClr val="FFFFFF">
              <a:alpha val="8000"/>
            </a:srgbClr>
          </a:solidFill>
          <a:ln w="12700">
            <a:solidFill>
              <a:srgbClr val="FFFFFF">
                <a:alpha val="20000"/>
              </a:srgbClr>
            </a:solidFill>
            <a:prstDash val="solid"/>
          </a:ln>
        </p:spPr>
        <p:txBody>
          <a:bodyPr/>
          <a:lstStyle/>
          <a:p>
            <a:endParaRPr lang="es-CO"/>
          </a:p>
        </p:txBody>
      </p:sp>
      <p:sp>
        <p:nvSpPr>
          <p:cNvPr id="12" name="Text 10"/>
          <p:cNvSpPr/>
          <p:nvPr/>
        </p:nvSpPr>
        <p:spPr>
          <a:xfrm>
            <a:off x="502920" y="3931920"/>
            <a:ext cx="8229600" cy="566928"/>
          </a:xfrm>
          <a:prstGeom prst="rect">
            <a:avLst/>
          </a:prstGeom>
          <a:noFill/>
          <a:ln/>
        </p:spPr>
        <p:txBody>
          <a:bodyPr wrap="square" rtlCol="0" anchor="ctr"/>
          <a:lstStyle/>
          <a:p>
            <a:pPr marL="0" indent="0">
              <a:lnSpc>
                <a:spcPct val="130000"/>
              </a:lnSpc>
              <a:buNone/>
            </a:pPr>
            <a:r>
              <a:rPr lang="en-US" sz="1200" dirty="0">
                <a:solidFill>
                  <a:srgbClr val="DDEEFF"/>
                </a:solidFill>
                <a:latin typeface="Calibri" pitchFamily="34" charset="0"/>
                <a:ea typeface="Calibri" pitchFamily="34" charset="-122"/>
                <a:cs typeface="Calibri" pitchFamily="34" charset="-120"/>
              </a:rPr>
              <a:t>→  Si alguien actúa sobre un análisis de IA incorrecto, ¿quién responde — y cómo se detecta el error?</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320040"/>
          </a:xfrm>
          <a:prstGeom prst="rect">
            <a:avLst/>
          </a:prstGeom>
          <a:noFill/>
          <a:ln/>
        </p:spPr>
        <p:txBody>
          <a:bodyPr wrap="square" rtlCol="0" anchor="ctr"/>
          <a:lstStyle/>
          <a:p>
            <a:pPr marL="0" indent="0">
              <a:buNone/>
            </a:pPr>
            <a:r>
              <a:rPr lang="en-US" sz="900" b="1" kern="0" spc="200" dirty="0">
                <a:solidFill>
                  <a:srgbClr val="6B7280"/>
                </a:solidFill>
                <a:latin typeface="Calibri" pitchFamily="34" charset="0"/>
                <a:ea typeface="Calibri" pitchFamily="34" charset="-122"/>
                <a:cs typeface="Calibri" pitchFamily="34" charset="-120"/>
              </a:rPr>
              <a:t>GOBIERNO DE TI — COBIT</a:t>
            </a:r>
            <a:endParaRPr lang="en-US" sz="900" dirty="0"/>
          </a:p>
        </p:txBody>
      </p:sp>
      <p:sp>
        <p:nvSpPr>
          <p:cNvPr id="3" name="Text 1"/>
          <p:cNvSpPr/>
          <p:nvPr/>
        </p:nvSpPr>
        <p:spPr>
          <a:xfrm>
            <a:off x="457200" y="594360"/>
            <a:ext cx="8229600" cy="457200"/>
          </a:xfrm>
          <a:prstGeom prst="rect">
            <a:avLst/>
          </a:prstGeom>
          <a:noFill/>
          <a:ln/>
        </p:spPr>
        <p:txBody>
          <a:bodyPr wrap="square" rtlCol="0" anchor="ctr"/>
          <a:lstStyle/>
          <a:p>
            <a:pPr marL="0" indent="0">
              <a:buNone/>
            </a:pPr>
            <a:r>
              <a:rPr lang="en-US" sz="2400" b="1" dirty="0">
                <a:solidFill>
                  <a:srgbClr val="1C3557"/>
                </a:solidFill>
                <a:latin typeface="Georgia" pitchFamily="34" charset="0"/>
                <a:ea typeface="Georgia" pitchFamily="34" charset="-122"/>
                <a:cs typeface="Georgia" pitchFamily="34" charset="-120"/>
              </a:rPr>
              <a:t>Los datos son un activo. La dirección los gobierna.</a:t>
            </a:r>
            <a:endParaRPr lang="en-US" sz="2400" dirty="0"/>
          </a:p>
        </p:txBody>
      </p:sp>
      <p:sp>
        <p:nvSpPr>
          <p:cNvPr id="4" name="Shape 2"/>
          <p:cNvSpPr/>
          <p:nvPr/>
        </p:nvSpPr>
        <p:spPr>
          <a:xfrm>
            <a:off x="365760" y="1280160"/>
            <a:ext cx="4114800" cy="3566160"/>
          </a:xfrm>
          <a:prstGeom prst="rect">
            <a:avLst/>
          </a:prstGeom>
          <a:solidFill>
            <a:srgbClr val="FFFFFF"/>
          </a:solidFill>
          <a:ln w="12700">
            <a:solidFill>
              <a:srgbClr val="0E7490"/>
            </a:solidFill>
            <a:prstDash val="solid"/>
          </a:ln>
          <a:effectLst>
            <a:outerShdw blurRad="101600" dist="38100" dir="8100000" algn="bl" rotWithShape="0">
              <a:srgbClr val="000000">
                <a:alpha val="10000"/>
              </a:srgbClr>
            </a:outerShdw>
          </a:effectLst>
        </p:spPr>
        <p:txBody>
          <a:bodyPr/>
          <a:lstStyle/>
          <a:p>
            <a:endParaRPr lang="es-CO"/>
          </a:p>
        </p:txBody>
      </p:sp>
      <p:sp>
        <p:nvSpPr>
          <p:cNvPr id="5" name="Shape 3"/>
          <p:cNvSpPr/>
          <p:nvPr/>
        </p:nvSpPr>
        <p:spPr>
          <a:xfrm>
            <a:off x="365760" y="1280160"/>
            <a:ext cx="4114800" cy="685800"/>
          </a:xfrm>
          <a:prstGeom prst="rect">
            <a:avLst/>
          </a:prstGeom>
          <a:solidFill>
            <a:srgbClr val="0E7490"/>
          </a:solidFill>
          <a:ln w="12700">
            <a:solidFill>
              <a:srgbClr val="0E7490">
                <a:alpha val="0"/>
              </a:srgbClr>
            </a:solidFill>
            <a:prstDash val="solid"/>
          </a:ln>
        </p:spPr>
        <p:txBody>
          <a:bodyPr/>
          <a:lstStyle/>
          <a:p>
            <a:endParaRPr lang="es-CO"/>
          </a:p>
        </p:txBody>
      </p:sp>
      <p:sp>
        <p:nvSpPr>
          <p:cNvPr id="6" name="Text 4"/>
          <p:cNvSpPr/>
          <p:nvPr/>
        </p:nvSpPr>
        <p:spPr>
          <a:xfrm>
            <a:off x="502920" y="1298448"/>
            <a:ext cx="1097280" cy="347472"/>
          </a:xfrm>
          <a:prstGeom prst="rect">
            <a:avLst/>
          </a:prstGeom>
          <a:noFill/>
          <a:ln/>
        </p:spPr>
        <p:txBody>
          <a:bodyPr wrap="square"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APO12</a:t>
            </a:r>
            <a:endParaRPr lang="en-US" sz="1400" dirty="0"/>
          </a:p>
        </p:txBody>
      </p:sp>
      <p:sp>
        <p:nvSpPr>
          <p:cNvPr id="7" name="Text 5"/>
          <p:cNvSpPr/>
          <p:nvPr/>
        </p:nvSpPr>
        <p:spPr>
          <a:xfrm>
            <a:off x="1645920" y="1298448"/>
            <a:ext cx="2651760" cy="347472"/>
          </a:xfrm>
          <a:prstGeom prst="rect">
            <a:avLst/>
          </a:prstGeom>
          <a:noFill/>
          <a:ln/>
        </p:spPr>
        <p:txBody>
          <a:bodyPr wrap="square" rtlCol="0" anchor="ctr"/>
          <a:lstStyle/>
          <a:p>
            <a:pPr marL="0" indent="0">
              <a:buNone/>
            </a:pPr>
            <a:r>
              <a:rPr lang="en-US" sz="1200" dirty="0">
                <a:solidFill>
                  <a:srgbClr val="E0F0FF"/>
                </a:solidFill>
                <a:latin typeface="Calibri" pitchFamily="34" charset="0"/>
                <a:ea typeface="Calibri" pitchFamily="34" charset="-122"/>
                <a:cs typeface="Calibri" pitchFamily="34" charset="-120"/>
              </a:rPr>
              <a:t>Gestión del Riesgo</a:t>
            </a:r>
            <a:endParaRPr lang="en-US" sz="1200" dirty="0"/>
          </a:p>
        </p:txBody>
      </p:sp>
      <p:sp>
        <p:nvSpPr>
          <p:cNvPr id="8" name="Text 6"/>
          <p:cNvSpPr/>
          <p:nvPr/>
        </p:nvSpPr>
        <p:spPr>
          <a:xfrm>
            <a:off x="548640" y="2029968"/>
            <a:ext cx="3749040" cy="1005840"/>
          </a:xfrm>
          <a:prstGeom prst="rect">
            <a:avLst/>
          </a:prstGeom>
          <a:noFill/>
          <a:ln/>
        </p:spPr>
        <p:txBody>
          <a:bodyPr wrap="square" rtlCol="0" anchor="ctr"/>
          <a:lstStyle/>
          <a:p>
            <a:pPr marL="0" indent="0">
              <a:lnSpc>
                <a:spcPct val="135000"/>
              </a:lnSpc>
              <a:buNone/>
            </a:pPr>
            <a:r>
              <a:rPr lang="en-US" sz="1100" dirty="0">
                <a:solidFill>
                  <a:srgbClr val="6B7280"/>
                </a:solidFill>
                <a:latin typeface="Calibri" pitchFamily="34" charset="0"/>
                <a:ea typeface="Calibri" pitchFamily="34" charset="-122"/>
                <a:cs typeface="Calibri" pitchFamily="34" charset="-120"/>
              </a:rPr>
              <a:t>Identificar y responder riesgos antes de que ocurran. Con IA analítica: ¿qué puede salir mal cuando la IA procesa datos organizacionales?</a:t>
            </a:r>
            <a:endParaRPr lang="en-US" sz="1100" dirty="0"/>
          </a:p>
        </p:txBody>
      </p:sp>
      <p:sp>
        <p:nvSpPr>
          <p:cNvPr id="9" name="Text 7"/>
          <p:cNvSpPr/>
          <p:nvPr/>
        </p:nvSpPr>
        <p:spPr>
          <a:xfrm>
            <a:off x="548640" y="3127248"/>
            <a:ext cx="3749040" cy="384048"/>
          </a:xfrm>
          <a:prstGeom prst="rect">
            <a:avLst/>
          </a:prstGeom>
          <a:noFill/>
          <a:ln/>
        </p:spPr>
        <p:txBody>
          <a:bodyPr wrap="square" rtlCol="0" anchor="ctr"/>
          <a:lstStyle/>
          <a:p>
            <a:pPr marL="0" indent="0">
              <a:buNone/>
            </a:pPr>
            <a:r>
              <a:rPr lang="en-US" sz="1100" b="1" dirty="0">
                <a:solidFill>
                  <a:srgbClr val="0E7490"/>
                </a:solidFill>
                <a:latin typeface="Calibri" pitchFamily="34" charset="0"/>
                <a:ea typeface="Calibri" pitchFamily="34" charset="-122"/>
                <a:cs typeface="Calibri" pitchFamily="34" charset="-120"/>
              </a:rPr>
              <a:t>→  </a:t>
            </a:r>
            <a:r>
              <a:rPr lang="en-US" sz="1100" dirty="0">
                <a:solidFill>
                  <a:srgbClr val="1A1A1A"/>
                </a:solidFill>
                <a:latin typeface="Calibri" pitchFamily="34" charset="0"/>
                <a:ea typeface="Calibri" pitchFamily="34" charset="-122"/>
                <a:cs typeface="Calibri" pitchFamily="34" charset="-120"/>
              </a:rPr>
              <a:t>¿Qué pasa si el análisis es incorrecto?</a:t>
            </a:r>
            <a:endParaRPr lang="en-US" sz="1100" dirty="0"/>
          </a:p>
        </p:txBody>
      </p:sp>
      <p:sp>
        <p:nvSpPr>
          <p:cNvPr id="10" name="Text 8"/>
          <p:cNvSpPr/>
          <p:nvPr/>
        </p:nvSpPr>
        <p:spPr>
          <a:xfrm>
            <a:off x="548640" y="3584448"/>
            <a:ext cx="3749040" cy="384048"/>
          </a:xfrm>
          <a:prstGeom prst="rect">
            <a:avLst/>
          </a:prstGeom>
          <a:noFill/>
          <a:ln/>
        </p:spPr>
        <p:txBody>
          <a:bodyPr wrap="square" rtlCol="0" anchor="ctr"/>
          <a:lstStyle/>
          <a:p>
            <a:pPr marL="0" indent="0">
              <a:buNone/>
            </a:pPr>
            <a:r>
              <a:rPr lang="en-US" sz="1100" b="1" dirty="0">
                <a:solidFill>
                  <a:srgbClr val="0E7490"/>
                </a:solidFill>
                <a:latin typeface="Calibri" pitchFamily="34" charset="0"/>
                <a:ea typeface="Calibri" pitchFamily="34" charset="-122"/>
                <a:cs typeface="Calibri" pitchFamily="34" charset="-120"/>
              </a:rPr>
              <a:t>→  </a:t>
            </a:r>
            <a:r>
              <a:rPr lang="en-US" sz="1100" dirty="0">
                <a:solidFill>
                  <a:srgbClr val="1A1A1A"/>
                </a:solidFill>
                <a:latin typeface="Calibri" pitchFamily="34" charset="0"/>
                <a:ea typeface="Calibri" pitchFamily="34" charset="-122"/>
                <a:cs typeface="Calibri" pitchFamily="34" charset="-120"/>
              </a:rPr>
              <a:t>¿Quién detecta el error?</a:t>
            </a:r>
            <a:endParaRPr lang="en-US" sz="1100" dirty="0"/>
          </a:p>
        </p:txBody>
      </p:sp>
      <p:sp>
        <p:nvSpPr>
          <p:cNvPr id="11" name="Text 9"/>
          <p:cNvSpPr/>
          <p:nvPr/>
        </p:nvSpPr>
        <p:spPr>
          <a:xfrm>
            <a:off x="548640" y="4041648"/>
            <a:ext cx="3749040" cy="384048"/>
          </a:xfrm>
          <a:prstGeom prst="rect">
            <a:avLst/>
          </a:prstGeom>
          <a:noFill/>
          <a:ln/>
        </p:spPr>
        <p:txBody>
          <a:bodyPr wrap="square" rtlCol="0" anchor="ctr"/>
          <a:lstStyle/>
          <a:p>
            <a:pPr marL="0" indent="0">
              <a:buNone/>
            </a:pPr>
            <a:r>
              <a:rPr lang="en-US" sz="1100" b="1" dirty="0">
                <a:solidFill>
                  <a:srgbClr val="0E7490"/>
                </a:solidFill>
                <a:latin typeface="Calibri" pitchFamily="34" charset="0"/>
                <a:ea typeface="Calibri" pitchFamily="34" charset="-122"/>
                <a:cs typeface="Calibri" pitchFamily="34" charset="-120"/>
              </a:rPr>
              <a:t>→  </a:t>
            </a:r>
            <a:r>
              <a:rPr lang="en-US" sz="1100" dirty="0">
                <a:solidFill>
                  <a:srgbClr val="1A1A1A"/>
                </a:solidFill>
                <a:latin typeface="Calibri" pitchFamily="34" charset="0"/>
                <a:ea typeface="Calibri" pitchFamily="34" charset="-122"/>
                <a:cs typeface="Calibri" pitchFamily="34" charset="-120"/>
              </a:rPr>
              <a:t>¿Qué decisiones podrían verse afectadas?</a:t>
            </a:r>
            <a:endParaRPr lang="en-US" sz="1100" dirty="0"/>
          </a:p>
        </p:txBody>
      </p:sp>
      <p:sp>
        <p:nvSpPr>
          <p:cNvPr id="12" name="Shape 10"/>
          <p:cNvSpPr/>
          <p:nvPr/>
        </p:nvSpPr>
        <p:spPr>
          <a:xfrm>
            <a:off x="4754880" y="1280160"/>
            <a:ext cx="4114800" cy="3566160"/>
          </a:xfrm>
          <a:prstGeom prst="rect">
            <a:avLst/>
          </a:prstGeom>
          <a:solidFill>
            <a:srgbClr val="FFFFFF"/>
          </a:solidFill>
          <a:ln w="12700">
            <a:solidFill>
              <a:srgbClr val="1C3557"/>
            </a:solidFill>
            <a:prstDash val="solid"/>
          </a:ln>
          <a:effectLst>
            <a:outerShdw blurRad="101600" dist="38100" dir="8100000" algn="bl" rotWithShape="0">
              <a:srgbClr val="000000">
                <a:alpha val="10000"/>
              </a:srgbClr>
            </a:outerShdw>
          </a:effectLst>
        </p:spPr>
        <p:txBody>
          <a:bodyPr/>
          <a:lstStyle/>
          <a:p>
            <a:endParaRPr lang="es-CO"/>
          </a:p>
        </p:txBody>
      </p:sp>
      <p:sp>
        <p:nvSpPr>
          <p:cNvPr id="13" name="Shape 11"/>
          <p:cNvSpPr/>
          <p:nvPr/>
        </p:nvSpPr>
        <p:spPr>
          <a:xfrm>
            <a:off x="4754880" y="1280160"/>
            <a:ext cx="4114800" cy="685800"/>
          </a:xfrm>
          <a:prstGeom prst="rect">
            <a:avLst/>
          </a:prstGeom>
          <a:solidFill>
            <a:srgbClr val="1C3557"/>
          </a:solidFill>
          <a:ln w="12700">
            <a:solidFill>
              <a:srgbClr val="1C3557">
                <a:alpha val="0"/>
              </a:srgbClr>
            </a:solidFill>
            <a:prstDash val="solid"/>
          </a:ln>
        </p:spPr>
        <p:txBody>
          <a:bodyPr/>
          <a:lstStyle/>
          <a:p>
            <a:endParaRPr lang="es-CO"/>
          </a:p>
        </p:txBody>
      </p:sp>
      <p:sp>
        <p:nvSpPr>
          <p:cNvPr id="14" name="Text 12"/>
          <p:cNvSpPr/>
          <p:nvPr/>
        </p:nvSpPr>
        <p:spPr>
          <a:xfrm>
            <a:off x="4892040" y="1298448"/>
            <a:ext cx="1097280" cy="347472"/>
          </a:xfrm>
          <a:prstGeom prst="rect">
            <a:avLst/>
          </a:prstGeom>
          <a:noFill/>
          <a:ln/>
        </p:spPr>
        <p:txBody>
          <a:bodyPr wrap="square"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APO14</a:t>
            </a:r>
            <a:endParaRPr lang="en-US" sz="1400" dirty="0"/>
          </a:p>
        </p:txBody>
      </p:sp>
      <p:sp>
        <p:nvSpPr>
          <p:cNvPr id="15" name="Text 13"/>
          <p:cNvSpPr/>
          <p:nvPr/>
        </p:nvSpPr>
        <p:spPr>
          <a:xfrm>
            <a:off x="6035040" y="1298448"/>
            <a:ext cx="2651760" cy="347472"/>
          </a:xfrm>
          <a:prstGeom prst="rect">
            <a:avLst/>
          </a:prstGeom>
          <a:noFill/>
          <a:ln/>
        </p:spPr>
        <p:txBody>
          <a:bodyPr wrap="square" rtlCol="0" anchor="ctr"/>
          <a:lstStyle/>
          <a:p>
            <a:pPr marL="0" indent="0">
              <a:buNone/>
            </a:pPr>
            <a:r>
              <a:rPr lang="en-US" sz="1200" dirty="0">
                <a:solidFill>
                  <a:srgbClr val="E0F0FF"/>
                </a:solidFill>
                <a:latin typeface="Calibri" pitchFamily="34" charset="0"/>
                <a:ea typeface="Calibri" pitchFamily="34" charset="-122"/>
                <a:cs typeface="Calibri" pitchFamily="34" charset="-120"/>
              </a:rPr>
              <a:t>Gestión de Datos</a:t>
            </a:r>
            <a:endParaRPr lang="en-US" sz="1200" dirty="0"/>
          </a:p>
        </p:txBody>
      </p:sp>
      <p:sp>
        <p:nvSpPr>
          <p:cNvPr id="16" name="Text 14"/>
          <p:cNvSpPr/>
          <p:nvPr/>
        </p:nvSpPr>
        <p:spPr>
          <a:xfrm>
            <a:off x="4937760" y="2029968"/>
            <a:ext cx="3749040" cy="1005840"/>
          </a:xfrm>
          <a:prstGeom prst="rect">
            <a:avLst/>
          </a:prstGeom>
          <a:noFill/>
          <a:ln/>
        </p:spPr>
        <p:txBody>
          <a:bodyPr wrap="square" rtlCol="0" anchor="ctr"/>
          <a:lstStyle/>
          <a:p>
            <a:pPr marL="0" indent="0">
              <a:lnSpc>
                <a:spcPct val="135000"/>
              </a:lnSpc>
              <a:buNone/>
            </a:pPr>
            <a:r>
              <a:rPr lang="en-US" sz="1100" dirty="0">
                <a:solidFill>
                  <a:srgbClr val="6B7280"/>
                </a:solidFill>
                <a:latin typeface="Calibri" pitchFamily="34" charset="0"/>
                <a:ea typeface="Calibri" pitchFamily="34" charset="-122"/>
                <a:cs typeface="Calibri" pitchFamily="34" charset="-120"/>
              </a:rPr>
              <a:t>Los datos son un activo de la organización. La dirección decide quién puede usarlos, para qué y bajo qué condiciones — incluyendo dárselos a una IA.</a:t>
            </a:r>
            <a:endParaRPr lang="en-US" sz="1100" dirty="0"/>
          </a:p>
        </p:txBody>
      </p:sp>
      <p:sp>
        <p:nvSpPr>
          <p:cNvPr id="17" name="Text 15"/>
          <p:cNvSpPr/>
          <p:nvPr/>
        </p:nvSpPr>
        <p:spPr>
          <a:xfrm>
            <a:off x="4937760" y="3127248"/>
            <a:ext cx="3749040" cy="384048"/>
          </a:xfrm>
          <a:prstGeom prst="rect">
            <a:avLst/>
          </a:prstGeom>
          <a:noFill/>
          <a:ln/>
        </p:spPr>
        <p:txBody>
          <a:bodyPr wrap="square" rtlCol="0" anchor="ctr"/>
          <a:lstStyle/>
          <a:p>
            <a:pPr marL="0" indent="0">
              <a:buNone/>
            </a:pPr>
            <a:r>
              <a:rPr lang="en-US" sz="1100" b="1" dirty="0">
                <a:solidFill>
                  <a:srgbClr val="1C3557"/>
                </a:solidFill>
                <a:latin typeface="Calibri" pitchFamily="34" charset="0"/>
                <a:ea typeface="Calibri" pitchFamily="34" charset="-122"/>
                <a:cs typeface="Calibri" pitchFamily="34" charset="-120"/>
              </a:rPr>
              <a:t>→  </a:t>
            </a:r>
            <a:r>
              <a:rPr lang="en-US" sz="1100" dirty="0">
                <a:solidFill>
                  <a:srgbClr val="1A1A1A"/>
                </a:solidFill>
                <a:latin typeface="Calibri" pitchFamily="34" charset="0"/>
                <a:ea typeface="Calibri" pitchFamily="34" charset="-122"/>
                <a:cs typeface="Calibri" pitchFamily="34" charset="-120"/>
              </a:rPr>
              <a:t>¿Qué datos pueden entrar a Copilot?</a:t>
            </a:r>
            <a:endParaRPr lang="en-US" sz="1100" dirty="0"/>
          </a:p>
        </p:txBody>
      </p:sp>
      <p:sp>
        <p:nvSpPr>
          <p:cNvPr id="18" name="Text 16"/>
          <p:cNvSpPr/>
          <p:nvPr/>
        </p:nvSpPr>
        <p:spPr>
          <a:xfrm>
            <a:off x="4937760" y="3584448"/>
            <a:ext cx="3749040" cy="384048"/>
          </a:xfrm>
          <a:prstGeom prst="rect">
            <a:avLst/>
          </a:prstGeom>
          <a:noFill/>
          <a:ln/>
        </p:spPr>
        <p:txBody>
          <a:bodyPr wrap="square" rtlCol="0" anchor="ctr"/>
          <a:lstStyle/>
          <a:p>
            <a:pPr marL="0" indent="0">
              <a:buNone/>
            </a:pPr>
            <a:r>
              <a:rPr lang="en-US" sz="1100" b="1" dirty="0">
                <a:solidFill>
                  <a:srgbClr val="1C3557"/>
                </a:solidFill>
                <a:latin typeface="Calibri" pitchFamily="34" charset="0"/>
                <a:ea typeface="Calibri" pitchFamily="34" charset="-122"/>
                <a:cs typeface="Calibri" pitchFamily="34" charset="-120"/>
              </a:rPr>
              <a:t>→  </a:t>
            </a:r>
            <a:r>
              <a:rPr lang="en-US" sz="1100" dirty="0">
                <a:solidFill>
                  <a:srgbClr val="1A1A1A"/>
                </a:solidFill>
                <a:latin typeface="Calibri" pitchFamily="34" charset="0"/>
                <a:ea typeface="Calibri" pitchFamily="34" charset="-122"/>
                <a:cs typeface="Calibri" pitchFamily="34" charset="-120"/>
              </a:rPr>
              <a:t>¿Quién define esa clasificación?</a:t>
            </a:r>
            <a:endParaRPr lang="en-US" sz="1100" dirty="0"/>
          </a:p>
        </p:txBody>
      </p:sp>
      <p:sp>
        <p:nvSpPr>
          <p:cNvPr id="19" name="Text 17"/>
          <p:cNvSpPr/>
          <p:nvPr/>
        </p:nvSpPr>
        <p:spPr>
          <a:xfrm>
            <a:off x="4937760" y="4041648"/>
            <a:ext cx="3749040" cy="384048"/>
          </a:xfrm>
          <a:prstGeom prst="rect">
            <a:avLst/>
          </a:prstGeom>
          <a:noFill/>
          <a:ln/>
        </p:spPr>
        <p:txBody>
          <a:bodyPr wrap="square" rtlCol="0" anchor="ctr"/>
          <a:lstStyle/>
          <a:p>
            <a:pPr marL="0" indent="0">
              <a:buNone/>
            </a:pPr>
            <a:r>
              <a:rPr lang="en-US" sz="1100" b="1" dirty="0">
                <a:solidFill>
                  <a:srgbClr val="1C3557"/>
                </a:solidFill>
                <a:latin typeface="Calibri" pitchFamily="34" charset="0"/>
                <a:ea typeface="Calibri" pitchFamily="34" charset="-122"/>
                <a:cs typeface="Calibri" pitchFamily="34" charset="-120"/>
              </a:rPr>
              <a:t>→  </a:t>
            </a:r>
            <a:r>
              <a:rPr lang="en-US" sz="1100" dirty="0">
                <a:solidFill>
                  <a:srgbClr val="1A1A1A"/>
                </a:solidFill>
                <a:latin typeface="Calibri" pitchFamily="34" charset="0"/>
                <a:ea typeface="Calibri" pitchFamily="34" charset="-122"/>
                <a:cs typeface="Calibri" pitchFamily="34" charset="-120"/>
              </a:rPr>
              <a:t>¿Cómo se comunica y se hace cumplir?</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64E3B"/>
        </a:solidFill>
        <a:effectLst/>
      </p:bgPr>
    </p:bg>
    <p:spTree>
      <p:nvGrpSpPr>
        <p:cNvPr id="1" name=""/>
        <p:cNvGrpSpPr/>
        <p:nvPr/>
      </p:nvGrpSpPr>
      <p:grpSpPr>
        <a:xfrm>
          <a:off x="0" y="0"/>
          <a:ext cx="0" cy="0"/>
          <a:chOff x="0" y="0"/>
          <a:chExt cx="0" cy="0"/>
        </a:xfrm>
      </p:grpSpPr>
      <p:sp>
        <p:nvSpPr>
          <p:cNvPr id="2" name="Kicker"/>
          <p:cNvSpPr/>
          <p:nvPr/>
        </p:nvSpPr>
        <p:spPr>
          <a:xfrm>
            <a:off x="457200" y="340000"/>
            <a:ext cx="4600000" cy="260000"/>
          </a:xfrm>
          <a:prstGeom prst="rect">
            <a:avLst/>
          </a:prstGeom>
          <a:noFill/>
          <a:ln>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000" b="1" i="0" u="none" strike="noStrike" kern="1200" cap="none" spc="300" normalizeH="0" baseline="0" noProof="0" dirty="0">
                <a:ln>
                  <a:noFill/>
                </a:ln>
                <a:solidFill>
                  <a:srgbClr val="6EE7B7"/>
                </a:solidFill>
                <a:effectLst/>
                <a:uLnTx/>
                <a:uFillTx/>
                <a:latin typeface="Calibri"/>
                <a:ea typeface="+mn-ea"/>
                <a:cs typeface="+mn-cs"/>
              </a:rPr>
              <a:t>BLOQUE 2  ·  MATERIAL DE TRABAJO</a:t>
            </a:r>
          </a:p>
        </p:txBody>
      </p:sp>
      <p:sp>
        <p:nvSpPr>
          <p:cNvPr id="3" name="Title"/>
          <p:cNvSpPr/>
          <p:nvPr/>
        </p:nvSpPr>
        <p:spPr>
          <a:xfrm>
            <a:off x="457200" y="640000"/>
            <a:ext cx="4700000" cy="1500000"/>
          </a:xfrm>
          <a:prstGeom prst="rect">
            <a:avLst/>
          </a:prstGeom>
          <a:noFill/>
          <a:ln>
            <a:noFill/>
          </a:ln>
        </p:spPr>
        <p:txBody>
          <a:bodyPr wrap="square" rtlCol="0" anchor="t"/>
          <a:lstStyle/>
          <a:p>
            <a:pPr marL="0" marR="0" lvl="0" indent="0" algn="l" defTabSz="914400" rtl="0" eaLnBrk="1" fontAlgn="auto" latinLnBrk="0" hangingPunct="1">
              <a:lnSpc>
                <a:spcPts val="3400"/>
              </a:lnSpc>
              <a:spcBef>
                <a:spcPts val="0"/>
              </a:spcBef>
              <a:spcAft>
                <a:spcPts val="0"/>
              </a:spcAft>
              <a:buClrTx/>
              <a:buSzTx/>
              <a:buFontTx/>
              <a:buNone/>
              <a:tabLst/>
              <a:defRPr/>
            </a:pPr>
            <a:r>
              <a:rPr kumimoji="0" lang="es-CO" sz="3200" b="1" i="0" u="none" strike="noStrike" kern="1200" cap="none" spc="0" normalizeH="0" baseline="0" noProof="0" dirty="0">
                <a:ln>
                  <a:noFill/>
                </a:ln>
                <a:solidFill>
                  <a:srgbClr val="FFFFFF"/>
                </a:solidFill>
                <a:effectLst/>
                <a:uLnTx/>
                <a:uFillTx/>
                <a:latin typeface="Georgia"/>
                <a:ea typeface="+mn-ea"/>
                <a:cs typeface="+mn-cs"/>
              </a:rPr>
              <a:t>Abran la Parte 2</a:t>
            </a:r>
          </a:p>
          <a:p>
            <a:pPr marL="0" marR="0" lvl="0" indent="0" algn="l" defTabSz="914400" rtl="0" eaLnBrk="1" fontAlgn="auto" latinLnBrk="0" hangingPunct="1">
              <a:lnSpc>
                <a:spcPts val="3400"/>
              </a:lnSpc>
              <a:spcBef>
                <a:spcPts val="0"/>
              </a:spcBef>
              <a:spcAft>
                <a:spcPts val="0"/>
              </a:spcAft>
              <a:buClrTx/>
              <a:buSzTx/>
              <a:buFontTx/>
              <a:buNone/>
              <a:tabLst/>
              <a:defRPr/>
            </a:pPr>
            <a:r>
              <a:rPr kumimoji="0" lang="es-CO" sz="3200" b="1" i="0" u="none" strike="noStrike" kern="1200" cap="none" spc="0" normalizeH="0" baseline="0" noProof="0" dirty="0">
                <a:ln>
                  <a:noFill/>
                </a:ln>
                <a:solidFill>
                  <a:srgbClr val="6EE7B7"/>
                </a:solidFill>
                <a:effectLst/>
                <a:uLnTx/>
                <a:uFillTx/>
                <a:latin typeface="Georgia"/>
                <a:ea typeface="+mn-ea"/>
                <a:cs typeface="+mn-cs"/>
              </a:rPr>
              <a:t>en su dispositivo</a:t>
            </a:r>
          </a:p>
        </p:txBody>
      </p:sp>
      <p:sp>
        <p:nvSpPr>
          <p:cNvPr id="4" name="Instruction"/>
          <p:cNvSpPr/>
          <p:nvPr/>
        </p:nvSpPr>
        <p:spPr>
          <a:xfrm>
            <a:off x="457200" y="2260000"/>
            <a:ext cx="4600000" cy="600000"/>
          </a:xfrm>
          <a:prstGeom prst="rect">
            <a:avLst/>
          </a:prstGeom>
          <a:noFill/>
          <a:ln>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400" b="0" i="0" u="none" strike="noStrike" kern="1200" cap="none" spc="0" normalizeH="0" baseline="0" noProof="0" dirty="0">
                <a:ln>
                  <a:noFill/>
                </a:ln>
                <a:solidFill>
                  <a:srgbClr val="A7F3D0"/>
                </a:solidFill>
                <a:effectLst/>
                <a:uLnTx/>
                <a:uFillTx/>
                <a:latin typeface="Calibri"/>
                <a:ea typeface="+mn-ea"/>
                <a:cs typeface="+mn-cs"/>
              </a:rPr>
              <a:t>Escaneen el QR o abran el enlace.</a:t>
            </a:r>
          </a:p>
        </p:txBody>
      </p:sp>
      <p:sp>
        <p:nvSpPr>
          <p:cNvPr id="5" name="Badge"/>
          <p:cNvSpPr/>
          <p:nvPr/>
        </p:nvSpPr>
        <p:spPr>
          <a:xfrm>
            <a:off x="457200" y="2960000"/>
            <a:ext cx="3300000" cy="310000"/>
          </a:xfrm>
          <a:prstGeom prst="rect">
            <a:avLst/>
          </a:prstGeom>
          <a:solidFill>
            <a:srgbClr val="0B7A5F"/>
          </a:solidFill>
          <a:ln>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050" b="1" i="0" u="none" strike="noStrike" kern="1200" cap="none" spc="150" normalizeH="0" baseline="0" noProof="0" dirty="0">
                <a:ln>
                  <a:noFill/>
                </a:ln>
                <a:solidFill>
                  <a:srgbClr val="FFFFFF"/>
                </a:solidFill>
                <a:effectLst/>
                <a:uLnTx/>
                <a:uFillTx/>
                <a:latin typeface="Calibri"/>
                <a:ea typeface="+mn-ea"/>
                <a:cs typeface="+mn-cs"/>
              </a:rPr>
              <a:t>PARTE 2 DE 2  ·  BLOQUE DE GOBIERNO</a:t>
            </a:r>
          </a:p>
        </p:txBody>
      </p:sp>
      <p:pic>
        <p:nvPicPr>
          <p:cNvPr id="9" name="Imagen 8">
            <a:extLst>
              <a:ext uri="{FF2B5EF4-FFF2-40B4-BE49-F238E27FC236}">
                <a16:creationId xmlns:a16="http://schemas.microsoft.com/office/drawing/2014/main" id="{50EEFF48-9105-FBDD-8477-B7E8B43CF12B}"/>
              </a:ext>
            </a:extLst>
          </p:cNvPr>
          <p:cNvPicPr>
            <a:picLocks noChangeAspect="1"/>
          </p:cNvPicPr>
          <p:nvPr/>
        </p:nvPicPr>
        <p:blipFill>
          <a:blip r:embed="rId2"/>
          <a:stretch>
            <a:fillRect/>
          </a:stretch>
        </p:blipFill>
        <p:spPr>
          <a:xfrm>
            <a:off x="5057200" y="924818"/>
            <a:ext cx="3139712" cy="304064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0B7A5F"/>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C3557">
              <a:alpha val="45000"/>
            </a:srgbClr>
          </a:solidFill>
          <a:ln w="12700">
            <a:solidFill>
              <a:srgbClr val="1C3557">
                <a:alpha val="0"/>
              </a:srgbClr>
            </a:solidFill>
            <a:prstDash val="solid"/>
          </a:ln>
        </p:spPr>
        <p:txBody>
          <a:bodyPr/>
          <a:lstStyle/>
          <a:p>
            <a:endParaRPr lang="es-CO"/>
          </a:p>
        </p:txBody>
      </p:sp>
      <p:sp>
        <p:nvSpPr>
          <p:cNvPr id="3" name="Text 1"/>
          <p:cNvSpPr/>
          <p:nvPr/>
        </p:nvSpPr>
        <p:spPr>
          <a:xfrm>
            <a:off x="548640" y="457200"/>
            <a:ext cx="8046720" cy="320040"/>
          </a:xfrm>
          <a:prstGeom prst="rect">
            <a:avLst/>
          </a:prstGeom>
          <a:noFill/>
          <a:ln/>
        </p:spPr>
        <p:txBody>
          <a:bodyPr wrap="square" rtlCol="0" anchor="ctr"/>
          <a:lstStyle/>
          <a:p>
            <a:pPr marL="0" indent="0">
              <a:buNone/>
            </a:pPr>
            <a:r>
              <a:rPr lang="en-US" sz="900" b="1" kern="0" spc="200" dirty="0">
                <a:solidFill>
                  <a:srgbClr val="AAEEDD"/>
                </a:solidFill>
                <a:latin typeface="Calibri" pitchFamily="34" charset="0"/>
                <a:ea typeface="Calibri" pitchFamily="34" charset="-122"/>
                <a:cs typeface="Calibri" pitchFamily="34" charset="-120"/>
              </a:rPr>
              <a:t>DISTINCIÓN DE LIDERAZGO · SESIÓN 3</a:t>
            </a:r>
            <a:endParaRPr lang="en-US" sz="900" dirty="0"/>
          </a:p>
        </p:txBody>
      </p:sp>
      <p:sp>
        <p:nvSpPr>
          <p:cNvPr id="4" name="Text 2"/>
          <p:cNvSpPr/>
          <p:nvPr/>
        </p:nvSpPr>
        <p:spPr>
          <a:xfrm>
            <a:off x="548640" y="822960"/>
            <a:ext cx="8046720" cy="1188720"/>
          </a:xfrm>
          <a:prstGeom prst="rect">
            <a:avLst/>
          </a:prstGeom>
          <a:noFill/>
          <a:ln/>
        </p:spPr>
        <p:txBody>
          <a:bodyPr wrap="square" rtlCol="0" anchor="ctr"/>
          <a:lstStyle/>
          <a:p>
            <a:pPr marL="0" indent="0">
              <a:lnSpc>
                <a:spcPct val="120000"/>
              </a:lnSpc>
              <a:buNone/>
            </a:pPr>
            <a:r>
              <a:rPr lang="en-US" sz="3000" b="1" dirty="0">
                <a:solidFill>
                  <a:srgbClr val="FFFFFF"/>
                </a:solidFill>
                <a:latin typeface="Georgia" pitchFamily="34" charset="0"/>
                <a:ea typeface="Georgia" pitchFamily="34" charset="-122"/>
                <a:cs typeface="Georgia" pitchFamily="34" charset="-120"/>
              </a:rPr>
              <a:t>El líder digital no necesita</a:t>
            </a:r>
            <a:endParaRPr lang="en-US" sz="3000" dirty="0"/>
          </a:p>
          <a:p>
            <a:pPr marL="0" indent="0">
              <a:lnSpc>
                <a:spcPct val="120000"/>
              </a:lnSpc>
              <a:buNone/>
            </a:pPr>
            <a:r>
              <a:rPr lang="en-US" sz="3000" b="1" dirty="0">
                <a:solidFill>
                  <a:srgbClr val="FFFFFF"/>
                </a:solidFill>
                <a:latin typeface="Georgia" pitchFamily="34" charset="0"/>
                <a:ea typeface="Georgia" pitchFamily="34" charset="-122"/>
                <a:cs typeface="Georgia" pitchFamily="34" charset="-120"/>
              </a:rPr>
              <a:t>analizar los datos.</a:t>
            </a:r>
            <a:endParaRPr lang="en-US" sz="3000" dirty="0"/>
          </a:p>
        </p:txBody>
      </p:sp>
      <p:sp>
        <p:nvSpPr>
          <p:cNvPr id="5" name="Text 3"/>
          <p:cNvSpPr/>
          <p:nvPr/>
        </p:nvSpPr>
        <p:spPr>
          <a:xfrm>
            <a:off x="548640" y="2057400"/>
            <a:ext cx="8046720" cy="868680"/>
          </a:xfrm>
          <a:prstGeom prst="rect">
            <a:avLst/>
          </a:prstGeom>
          <a:noFill/>
          <a:ln/>
        </p:spPr>
        <p:txBody>
          <a:bodyPr wrap="square" rtlCol="0" anchor="ctr"/>
          <a:lstStyle/>
          <a:p>
            <a:pPr marL="0" indent="0">
              <a:lnSpc>
                <a:spcPct val="120000"/>
              </a:lnSpc>
              <a:buNone/>
            </a:pPr>
            <a:r>
              <a:rPr lang="en-US" sz="2200" i="1" dirty="0">
                <a:solidFill>
                  <a:srgbClr val="AAEEDD"/>
                </a:solidFill>
                <a:latin typeface="Georgia" pitchFamily="34" charset="0"/>
                <a:ea typeface="Georgia" pitchFamily="34" charset="-122"/>
                <a:cs typeface="Georgia" pitchFamily="34" charset="-120"/>
              </a:rPr>
              <a:t>Necesita saber qué preguntarle</a:t>
            </a:r>
            <a:endParaRPr lang="en-US" sz="2200" dirty="0"/>
          </a:p>
          <a:p>
            <a:pPr marL="0" indent="0">
              <a:lnSpc>
                <a:spcPct val="120000"/>
              </a:lnSpc>
              <a:buNone/>
            </a:pPr>
            <a:r>
              <a:rPr lang="en-US" sz="2200" i="1" dirty="0">
                <a:solidFill>
                  <a:srgbClr val="AAEEDD"/>
                </a:solidFill>
                <a:latin typeface="Georgia" pitchFamily="34" charset="0"/>
                <a:ea typeface="Georgia" pitchFamily="34" charset="-122"/>
                <a:cs typeface="Georgia" pitchFamily="34" charset="-120"/>
              </a:rPr>
              <a:t>a quien los analizó.</a:t>
            </a:r>
            <a:endParaRPr lang="en-US" sz="2200" dirty="0"/>
          </a:p>
        </p:txBody>
      </p:sp>
      <p:sp>
        <p:nvSpPr>
          <p:cNvPr id="6" name="Text 4"/>
          <p:cNvSpPr/>
          <p:nvPr/>
        </p:nvSpPr>
        <p:spPr>
          <a:xfrm>
            <a:off x="548640" y="2944368"/>
            <a:ext cx="8046720" cy="347472"/>
          </a:xfrm>
          <a:prstGeom prst="rect">
            <a:avLst/>
          </a:prstGeom>
          <a:noFill/>
          <a:ln/>
        </p:spPr>
        <p:txBody>
          <a:bodyPr wrap="square" rtlCol="0" anchor="ctr"/>
          <a:lstStyle/>
          <a:p>
            <a:pPr marL="0" indent="0">
              <a:buNone/>
            </a:pPr>
            <a:r>
              <a:rPr lang="en-US" sz="1500" i="1" dirty="0">
                <a:solidFill>
                  <a:srgbClr val="88CCBB"/>
                </a:solidFill>
                <a:latin typeface="Calibri" pitchFamily="34" charset="0"/>
                <a:ea typeface="Calibri" pitchFamily="34" charset="-122"/>
                <a:cs typeface="Calibri" pitchFamily="34" charset="-120"/>
              </a:rPr>
              <a:t>Incluso si quien los analizó es una IA.</a:t>
            </a:r>
            <a:endParaRPr lang="en-US" sz="1500" dirty="0"/>
          </a:p>
        </p:txBody>
      </p:sp>
      <p:sp>
        <p:nvSpPr>
          <p:cNvPr id="7" name="Shape 5"/>
          <p:cNvSpPr/>
          <p:nvPr/>
        </p:nvSpPr>
        <p:spPr>
          <a:xfrm>
            <a:off x="548640" y="3429000"/>
            <a:ext cx="8046720" cy="1417320"/>
          </a:xfrm>
          <a:prstGeom prst="rect">
            <a:avLst/>
          </a:prstGeom>
          <a:solidFill>
            <a:srgbClr val="FFFFFF">
              <a:alpha val="12000"/>
            </a:srgbClr>
          </a:solidFill>
          <a:ln w="12700">
            <a:solidFill>
              <a:srgbClr val="FFFFFF">
                <a:alpha val="25000"/>
              </a:srgbClr>
            </a:solidFill>
            <a:prstDash val="solid"/>
          </a:ln>
        </p:spPr>
        <p:txBody>
          <a:bodyPr/>
          <a:lstStyle/>
          <a:p>
            <a:endParaRPr lang="es-CO"/>
          </a:p>
        </p:txBody>
      </p:sp>
      <p:sp>
        <p:nvSpPr>
          <p:cNvPr id="8" name="Text 6"/>
          <p:cNvSpPr/>
          <p:nvPr/>
        </p:nvSpPr>
        <p:spPr>
          <a:xfrm>
            <a:off x="731520" y="3520440"/>
            <a:ext cx="7680960" cy="1234440"/>
          </a:xfrm>
          <a:prstGeom prst="rect">
            <a:avLst/>
          </a:prstGeom>
          <a:noFill/>
          <a:ln/>
        </p:spPr>
        <p:txBody>
          <a:bodyPr wrap="square" rtlCol="0" anchor="ctr"/>
          <a:lstStyle/>
          <a:p>
            <a:pPr marL="0" indent="0">
              <a:lnSpc>
                <a:spcPct val="150000"/>
              </a:lnSpc>
              <a:buNone/>
            </a:pPr>
            <a:r>
              <a:rPr lang="en-US" sz="1300" i="1" dirty="0">
                <a:solidFill>
                  <a:srgbClr val="DDFFF5"/>
                </a:solidFill>
                <a:latin typeface="Calibri" pitchFamily="34" charset="0"/>
                <a:ea typeface="Calibri" pitchFamily="34" charset="-122"/>
                <a:cs typeface="Calibri" pitchFamily="34" charset="-120"/>
              </a:rPr>
              <a:t>¿Hay alguna decisión importante que hayan tomado recientemente donde el análisis de Copilot podría haberles ayudado a verla mejor — o haberles llevado a una conclusión equivocada? ¿Por qué?</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1817</Words>
  <Application>Microsoft Office PowerPoint</Application>
  <PresentationFormat>Presentación en pantalla (16:9)</PresentationFormat>
  <Paragraphs>128</Paragraphs>
  <Slides>12</Slides>
  <Notes>10</Notes>
  <HiddenSlides>0</HiddenSlides>
  <MMClips>0</MMClips>
  <ScaleCrop>false</ScaleCrop>
  <HeadingPairs>
    <vt:vector size="6" baseType="variant">
      <vt:variant>
        <vt:lpstr>Fuentes usadas</vt:lpstr>
      </vt:variant>
      <vt:variant>
        <vt:i4>4</vt:i4>
      </vt:variant>
      <vt:variant>
        <vt:lpstr>Tema</vt:lpstr>
      </vt:variant>
      <vt:variant>
        <vt:i4>2</vt:i4>
      </vt:variant>
      <vt:variant>
        <vt:lpstr>Títulos de diapositiva</vt:lpstr>
      </vt:variant>
      <vt:variant>
        <vt:i4>12</vt:i4>
      </vt:variant>
    </vt:vector>
  </HeadingPairs>
  <TitlesOfParts>
    <vt:vector size="18" baseType="lpstr">
      <vt:lpstr>Arial</vt:lpstr>
      <vt:lpstr>Calibri</vt:lpstr>
      <vt:lpstr>Georgia</vt:lpstr>
      <vt:lpstr>Segoe UI Emoji</vt:lpstr>
      <vt:lpstr>Office Theme</vt:lpstr>
      <vt:lpstr>1_Office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Sesión 3 — IA Analítica v2 · Taller Gobierno de TI DIMAR</dc:title>
  <dc:subject>PptxGenJS Presentation</dc:subject>
  <dc:creator>PptxGenJS</dc:creator>
  <cp:lastModifiedBy>Diana Angélica Cruz Ortega</cp:lastModifiedBy>
  <cp:revision>1</cp:revision>
  <dcterms:created xsi:type="dcterms:W3CDTF">2026-04-25T02:33:58Z</dcterms:created>
  <dcterms:modified xsi:type="dcterms:W3CDTF">2026-04-28T16:38:30Z</dcterms:modified>
</cp:coreProperties>
</file>